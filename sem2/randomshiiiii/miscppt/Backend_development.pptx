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75" r:id="rId11"/>
    <p:sldId id="265" r:id="rId12"/>
    <p:sldId id="266" r:id="rId13"/>
    <p:sldId id="267" r:id="rId14"/>
    <p:sldId id="276" r:id="rId15"/>
    <p:sldId id="269" r:id="rId16"/>
    <p:sldId id="270" r:id="rId17"/>
    <p:sldId id="271" r:id="rId18"/>
    <p:sldId id="277" r:id="rId19"/>
    <p:sldId id="273" r:id="rId20"/>
    <p:sldId id="274"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392566-7BC8-F5C6-EB84-ED98657FBE4B}" v="881" dt="2026-03-23T19:49:23.085"/>
    <p1510:client id="{87AD4197-B10C-9F76-483B-A84B5D60E9E4}" v="50" dt="2026-03-23T17:45:43.308"/>
    <p1510:client id="{99185AA0-2463-342F-7714-FA048FF66057}" v="71" dt="2026-03-23T18:29:49.036"/>
    <p1510:client id="{A59BB484-9EA0-4788-BA9C-3E2745ADE824}" v="42" dt="2026-03-22T14:42:17.548"/>
    <p1510:client id="{E5212CD7-BE7F-11EC-A3C6-1A8479AA242F}" v="1" dt="2026-03-24T03:24:39.1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2950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NULL"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11111"/>
          </a:solidFill>
          <a:ln w="12700">
            <a:solidFill>
              <a:srgbClr val="111111"/>
            </a:solidFill>
            <a:prstDash val="solid"/>
          </a:ln>
        </p:spPr>
        <p:txBody>
          <a:bodyPr/>
          <a:lstStyle/>
          <a:p>
            <a:endParaRPr lang="en-IN"/>
          </a:p>
        </p:txBody>
      </p:sp>
      <p:sp>
        <p:nvSpPr>
          <p:cNvPr id="3" name="Shape 1"/>
          <p:cNvSpPr/>
          <p:nvPr/>
        </p:nvSpPr>
        <p:spPr>
          <a:xfrm>
            <a:off x="0" y="4846320"/>
            <a:ext cx="9144000" cy="297180"/>
          </a:xfrm>
          <a:prstGeom prst="rect">
            <a:avLst/>
          </a:prstGeom>
          <a:solidFill>
            <a:srgbClr val="111111"/>
          </a:solidFill>
          <a:ln w="12700">
            <a:solidFill>
              <a:srgbClr val="111111"/>
            </a:solidFill>
            <a:prstDash val="solid"/>
          </a:ln>
        </p:spPr>
        <p:txBody>
          <a:bodyPr/>
          <a:lstStyle/>
          <a:p>
            <a:endParaRPr lang="en-IN"/>
          </a:p>
        </p:txBody>
      </p:sp>
      <p:sp>
        <p:nvSpPr>
          <p:cNvPr id="4" name="Text 2"/>
          <p:cNvSpPr/>
          <p:nvPr/>
        </p:nvSpPr>
        <p:spPr>
          <a:xfrm>
            <a:off x="173083" y="1258116"/>
            <a:ext cx="5943600" cy="1005840"/>
          </a:xfrm>
          <a:prstGeom prst="rect">
            <a:avLst/>
          </a:prstGeom>
          <a:noFill/>
          <a:ln/>
        </p:spPr>
        <p:txBody>
          <a:bodyPr wrap="square" rtlCol="0" anchor="ctr"/>
          <a:lstStyle/>
          <a:p>
            <a:pPr marL="0" indent="0">
              <a:buNone/>
            </a:pPr>
            <a:r>
              <a:rPr lang="en-US" sz="4800" b="1" kern="0" spc="100">
                <a:solidFill>
                  <a:srgbClr val="111111"/>
                </a:solidFill>
                <a:latin typeface="Calibri" pitchFamily="34" charset="0"/>
                <a:ea typeface="Calibri" pitchFamily="34" charset="-122"/>
                <a:cs typeface="Calibri" pitchFamily="34" charset="-120"/>
              </a:rPr>
              <a:t>Genesis Workshop</a:t>
            </a:r>
            <a:endParaRPr lang="en-US" sz="4800"/>
          </a:p>
        </p:txBody>
      </p:sp>
      <p:sp>
        <p:nvSpPr>
          <p:cNvPr id="5" name="Text 3"/>
          <p:cNvSpPr/>
          <p:nvPr/>
        </p:nvSpPr>
        <p:spPr>
          <a:xfrm>
            <a:off x="242479" y="3017520"/>
            <a:ext cx="6400800" cy="457200"/>
          </a:xfrm>
          <a:prstGeom prst="rect">
            <a:avLst/>
          </a:prstGeom>
          <a:noFill/>
          <a:ln/>
        </p:spPr>
        <p:txBody>
          <a:bodyPr wrap="square" rtlCol="0" anchor="ctr"/>
          <a:lstStyle/>
          <a:p>
            <a:pPr marL="0" indent="0">
              <a:buNone/>
            </a:pPr>
            <a:r>
              <a:rPr lang="en-US" sz="1800">
                <a:solidFill>
                  <a:srgbClr val="6B7280"/>
                </a:solidFill>
                <a:latin typeface="Calibri" pitchFamily="34" charset="0"/>
                <a:ea typeface="Calibri" pitchFamily="34" charset="-122"/>
                <a:cs typeface="Calibri" pitchFamily="34" charset="-120"/>
              </a:rPr>
              <a:t>Building Full-Stack Apps with AI Tools</a:t>
            </a:r>
            <a:endParaRPr lang="en-US" sz="1800"/>
          </a:p>
        </p:txBody>
      </p:sp>
      <p:sp>
        <p:nvSpPr>
          <p:cNvPr id="6" name="Shape 4"/>
          <p:cNvSpPr/>
          <p:nvPr/>
        </p:nvSpPr>
        <p:spPr>
          <a:xfrm>
            <a:off x="320040" y="2286000"/>
            <a:ext cx="3200400" cy="0"/>
          </a:xfrm>
          <a:prstGeom prst="line">
            <a:avLst/>
          </a:prstGeom>
          <a:noFill/>
          <a:ln w="6350">
            <a:solidFill>
              <a:srgbClr val="E5E7EB"/>
            </a:solidFill>
            <a:prstDash val="solid"/>
          </a:ln>
        </p:spPr>
        <p:txBody>
          <a:bodyPr/>
          <a:lstStyle/>
          <a:p>
            <a:endParaRPr lang="en-IN"/>
          </a:p>
        </p:txBody>
      </p:sp>
      <p:sp>
        <p:nvSpPr>
          <p:cNvPr id="7" name="Shape 5"/>
          <p:cNvSpPr/>
          <p:nvPr/>
        </p:nvSpPr>
        <p:spPr>
          <a:xfrm>
            <a:off x="320040" y="2468880"/>
            <a:ext cx="1828800" cy="329184"/>
          </a:xfrm>
          <a:prstGeom prst="rect">
            <a:avLst/>
          </a:prstGeom>
          <a:solidFill>
            <a:srgbClr val="F9FAFB"/>
          </a:solidFill>
          <a:ln w="6350">
            <a:solidFill>
              <a:srgbClr val="E5E7EB"/>
            </a:solidFill>
            <a:prstDash val="solid"/>
          </a:ln>
        </p:spPr>
        <p:txBody>
          <a:bodyPr/>
          <a:lstStyle/>
          <a:p>
            <a:endParaRPr lang="en-IN"/>
          </a:p>
        </p:txBody>
      </p:sp>
      <p:sp>
        <p:nvSpPr>
          <p:cNvPr id="8" name="Shape 6"/>
          <p:cNvSpPr/>
          <p:nvPr/>
        </p:nvSpPr>
        <p:spPr>
          <a:xfrm>
            <a:off x="320040" y="2468880"/>
            <a:ext cx="45720" cy="329184"/>
          </a:xfrm>
          <a:prstGeom prst="rect">
            <a:avLst/>
          </a:prstGeom>
          <a:solidFill>
            <a:srgbClr val="6D28D9"/>
          </a:solidFill>
          <a:ln w="12700">
            <a:solidFill>
              <a:srgbClr val="6D28D9"/>
            </a:solidFill>
            <a:prstDash val="solid"/>
          </a:ln>
        </p:spPr>
        <p:txBody>
          <a:bodyPr/>
          <a:lstStyle/>
          <a:p>
            <a:endParaRPr lang="en-IN"/>
          </a:p>
        </p:txBody>
      </p:sp>
      <p:sp>
        <p:nvSpPr>
          <p:cNvPr id="9" name="Text 7"/>
          <p:cNvSpPr/>
          <p:nvPr/>
        </p:nvSpPr>
        <p:spPr>
          <a:xfrm>
            <a:off x="457200" y="2468880"/>
            <a:ext cx="1691640" cy="329184"/>
          </a:xfrm>
          <a:prstGeom prst="rect">
            <a:avLst/>
          </a:prstGeom>
          <a:noFill/>
          <a:ln/>
        </p:spPr>
        <p:txBody>
          <a:bodyPr wrap="square" lIns="91440" tIns="45720" rIns="91440" bIns="45720" rtlCol="0" anchor="ctr"/>
          <a:lstStyle/>
          <a:p>
            <a:pPr marL="0" indent="0">
              <a:buNone/>
            </a:pPr>
            <a:r>
              <a:rPr lang="en-US" sz="1300" b="1">
                <a:solidFill>
                  <a:srgbClr val="6D28D9"/>
                </a:solidFill>
                <a:latin typeface="Calibri"/>
                <a:ea typeface="Calibri"/>
                <a:cs typeface="Calibri"/>
              </a:rPr>
              <a:t>Bolt.new</a:t>
            </a:r>
            <a:endParaRPr lang="en-US" sz="1300">
              <a:latin typeface="Calibri"/>
              <a:ea typeface="Calibri"/>
              <a:cs typeface="Calibri"/>
            </a:endParaRPr>
          </a:p>
        </p:txBody>
      </p:sp>
      <p:sp>
        <p:nvSpPr>
          <p:cNvPr id="10" name="Shape 8"/>
          <p:cNvSpPr/>
          <p:nvPr/>
        </p:nvSpPr>
        <p:spPr>
          <a:xfrm>
            <a:off x="2331720" y="2468880"/>
            <a:ext cx="1828800" cy="329184"/>
          </a:xfrm>
          <a:prstGeom prst="rect">
            <a:avLst/>
          </a:prstGeom>
          <a:solidFill>
            <a:srgbClr val="F9FAFB"/>
          </a:solidFill>
          <a:ln w="6350">
            <a:solidFill>
              <a:srgbClr val="E5E7EB"/>
            </a:solidFill>
            <a:prstDash val="solid"/>
          </a:ln>
        </p:spPr>
        <p:txBody>
          <a:bodyPr/>
          <a:lstStyle/>
          <a:p>
            <a:endParaRPr lang="en-IN"/>
          </a:p>
        </p:txBody>
      </p:sp>
      <p:sp>
        <p:nvSpPr>
          <p:cNvPr id="11" name="Shape 9"/>
          <p:cNvSpPr/>
          <p:nvPr/>
        </p:nvSpPr>
        <p:spPr>
          <a:xfrm>
            <a:off x="2331720" y="2468880"/>
            <a:ext cx="45720" cy="329184"/>
          </a:xfrm>
          <a:prstGeom prst="rect">
            <a:avLst/>
          </a:prstGeom>
          <a:solidFill>
            <a:srgbClr val="0D9488"/>
          </a:solidFill>
          <a:ln w="12700">
            <a:solidFill>
              <a:srgbClr val="0D9488"/>
            </a:solidFill>
            <a:prstDash val="solid"/>
          </a:ln>
        </p:spPr>
        <p:txBody>
          <a:bodyPr/>
          <a:lstStyle/>
          <a:p>
            <a:endParaRPr lang="en-IN"/>
          </a:p>
        </p:txBody>
      </p:sp>
      <p:sp>
        <p:nvSpPr>
          <p:cNvPr id="12" name="Text 10"/>
          <p:cNvSpPr/>
          <p:nvPr/>
        </p:nvSpPr>
        <p:spPr>
          <a:xfrm>
            <a:off x="2468880" y="2468880"/>
            <a:ext cx="1691640" cy="329184"/>
          </a:xfrm>
          <a:prstGeom prst="rect">
            <a:avLst/>
          </a:prstGeom>
          <a:noFill/>
          <a:ln/>
        </p:spPr>
        <p:txBody>
          <a:bodyPr wrap="square" rtlCol="0" anchor="ctr"/>
          <a:lstStyle/>
          <a:p>
            <a:pPr marL="0" indent="0">
              <a:buNone/>
            </a:pPr>
            <a:r>
              <a:rPr lang="en-US" sz="1300" b="1">
                <a:solidFill>
                  <a:srgbClr val="0D9488"/>
                </a:solidFill>
                <a:latin typeface="Calibri" pitchFamily="34" charset="0"/>
                <a:ea typeface="Calibri" pitchFamily="34" charset="-122"/>
                <a:cs typeface="Calibri" pitchFamily="34" charset="-120"/>
              </a:rPr>
              <a:t>Windsurf</a:t>
            </a:r>
            <a:endParaRPr lang="en-US" sz="1300"/>
          </a:p>
        </p:txBody>
      </p:sp>
      <p:sp>
        <p:nvSpPr>
          <p:cNvPr id="13" name="Shape 11"/>
          <p:cNvSpPr/>
          <p:nvPr/>
        </p:nvSpPr>
        <p:spPr>
          <a:xfrm>
            <a:off x="4343400" y="2468880"/>
            <a:ext cx="1828800" cy="329184"/>
          </a:xfrm>
          <a:prstGeom prst="rect">
            <a:avLst/>
          </a:prstGeom>
          <a:solidFill>
            <a:srgbClr val="F9FAFB"/>
          </a:solidFill>
          <a:ln w="6350">
            <a:solidFill>
              <a:srgbClr val="E5E7EB"/>
            </a:solidFill>
            <a:prstDash val="solid"/>
          </a:ln>
        </p:spPr>
        <p:txBody>
          <a:bodyPr/>
          <a:lstStyle/>
          <a:p>
            <a:endParaRPr lang="en-IN"/>
          </a:p>
        </p:txBody>
      </p:sp>
      <p:sp>
        <p:nvSpPr>
          <p:cNvPr id="14" name="Shape 12"/>
          <p:cNvSpPr/>
          <p:nvPr/>
        </p:nvSpPr>
        <p:spPr>
          <a:xfrm>
            <a:off x="4343400" y="2468880"/>
            <a:ext cx="45720" cy="329184"/>
          </a:xfrm>
          <a:prstGeom prst="rect">
            <a:avLst/>
          </a:prstGeom>
          <a:solidFill>
            <a:srgbClr val="B45309"/>
          </a:solidFill>
          <a:ln w="12700">
            <a:solidFill>
              <a:srgbClr val="B45309"/>
            </a:solidFill>
            <a:prstDash val="solid"/>
          </a:ln>
        </p:spPr>
        <p:txBody>
          <a:bodyPr/>
          <a:lstStyle/>
          <a:p>
            <a:endParaRPr lang="en-IN"/>
          </a:p>
        </p:txBody>
      </p:sp>
      <p:sp>
        <p:nvSpPr>
          <p:cNvPr id="15" name="Text 13"/>
          <p:cNvSpPr/>
          <p:nvPr/>
        </p:nvSpPr>
        <p:spPr>
          <a:xfrm>
            <a:off x="4480560" y="2468880"/>
            <a:ext cx="1691640" cy="329184"/>
          </a:xfrm>
          <a:prstGeom prst="rect">
            <a:avLst/>
          </a:prstGeom>
          <a:noFill/>
          <a:ln/>
        </p:spPr>
        <p:txBody>
          <a:bodyPr wrap="square" lIns="91440" tIns="45720" rIns="91440" bIns="45720" rtlCol="0" anchor="ctr"/>
          <a:lstStyle/>
          <a:p>
            <a:pPr marL="0" indent="0">
              <a:buNone/>
            </a:pPr>
            <a:r>
              <a:rPr lang="en-US" sz="1300" b="1">
                <a:solidFill>
                  <a:srgbClr val="B45309"/>
                </a:solidFill>
                <a:latin typeface="Calibri"/>
                <a:ea typeface="Calibri"/>
                <a:cs typeface="Calibri"/>
              </a:rPr>
              <a:t>Supabase</a:t>
            </a:r>
            <a:endParaRPr lang="en-US" sz="1300">
              <a:latin typeface="Calibri"/>
              <a:ea typeface="Calibri"/>
              <a:cs typeface="Calibri"/>
            </a:endParaRPr>
          </a:p>
        </p:txBody>
      </p:sp>
      <p:sp>
        <p:nvSpPr>
          <p:cNvPr id="16" name="Text 14"/>
          <p:cNvSpPr/>
          <p:nvPr/>
        </p:nvSpPr>
        <p:spPr>
          <a:xfrm>
            <a:off x="320040" y="3017520"/>
            <a:ext cx="6400800" cy="347472"/>
          </a:xfrm>
          <a:prstGeom prst="rect">
            <a:avLst/>
          </a:prstGeom>
          <a:noFill/>
          <a:ln/>
        </p:spPr>
        <p:txBody>
          <a:bodyPr wrap="square" rtlCol="0" anchor="ctr"/>
          <a:lstStyle/>
          <a:p>
            <a:pPr marL="0" indent="0">
              <a:buNone/>
            </a:pPr>
            <a:endParaRPr lang="en-US" sz="1200"/>
          </a:p>
        </p:txBody>
      </p:sp>
      <p:sp>
        <p:nvSpPr>
          <p:cNvPr id="17" name="Text 15"/>
          <p:cNvSpPr/>
          <p:nvPr/>
        </p:nvSpPr>
        <p:spPr>
          <a:xfrm>
            <a:off x="320040" y="4828032"/>
            <a:ext cx="8229600" cy="256032"/>
          </a:xfrm>
          <a:prstGeom prst="rect">
            <a:avLst/>
          </a:prstGeom>
          <a:noFill/>
          <a:ln/>
        </p:spPr>
        <p:txBody>
          <a:bodyPr wrap="square" rtlCol="0" anchor="ctr"/>
          <a:lstStyle/>
          <a:p>
            <a:pPr marL="0" indent="0">
              <a:buNone/>
            </a:pPr>
            <a:r>
              <a:rPr lang="en-US" sz="1000">
                <a:solidFill>
                  <a:srgbClr val="FFFFFF"/>
                </a:solidFill>
                <a:latin typeface="Calibri" pitchFamily="34" charset="0"/>
                <a:ea typeface="Calibri" pitchFamily="34" charset="-122"/>
                <a:cs typeface="Calibri" pitchFamily="34" charset="-120"/>
              </a:rPr>
              <a:t>Amrita School of Engineering, Bengaluru</a:t>
            </a:r>
            <a:endParaRPr lang="en-US"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11111"/>
          </a:solidFill>
          <a:ln w="12700">
            <a:solidFill>
              <a:srgbClr val="111111"/>
            </a:solidFill>
            <a:prstDash val="solid"/>
          </a:ln>
        </p:spPr>
        <p:txBody>
          <a:bodyPr/>
          <a:lstStyle/>
          <a:p>
            <a:endParaRPr lang="en-IN"/>
          </a:p>
        </p:txBody>
      </p:sp>
      <p:sp>
        <p:nvSpPr>
          <p:cNvPr id="3" name="Text 1"/>
          <p:cNvSpPr/>
          <p:nvPr/>
        </p:nvSpPr>
        <p:spPr>
          <a:xfrm>
            <a:off x="365760" y="164592"/>
            <a:ext cx="6858000" cy="457200"/>
          </a:xfrm>
          <a:prstGeom prst="rect">
            <a:avLst/>
          </a:prstGeom>
          <a:noFill/>
          <a:ln/>
        </p:spPr>
        <p:txBody>
          <a:bodyPr wrap="square" rtlCol="0" anchor="ctr"/>
          <a:lstStyle/>
          <a:p>
            <a:pPr marL="0" indent="0">
              <a:buNone/>
            </a:pPr>
            <a:r>
              <a:rPr lang="en-US" sz="1800" b="1">
                <a:solidFill>
                  <a:srgbClr val="111111"/>
                </a:solidFill>
                <a:latin typeface="Calibri" pitchFamily="34" charset="0"/>
                <a:ea typeface="Calibri" pitchFamily="34" charset="-122"/>
                <a:cs typeface="Calibri" pitchFamily="34" charset="-120"/>
              </a:rPr>
              <a:t>About This Session </a:t>
            </a:r>
            <a:endParaRPr lang="en-US" sz="1800"/>
          </a:p>
        </p:txBody>
      </p:sp>
      <p:sp>
        <p:nvSpPr>
          <p:cNvPr id="4" name="Shape 2"/>
          <p:cNvSpPr/>
          <p:nvPr/>
        </p:nvSpPr>
        <p:spPr>
          <a:xfrm>
            <a:off x="365760" y="658368"/>
            <a:ext cx="8412480" cy="0"/>
          </a:xfrm>
          <a:prstGeom prst="line">
            <a:avLst/>
          </a:prstGeom>
          <a:noFill/>
          <a:ln w="6350">
            <a:solidFill>
              <a:srgbClr val="E5E7EB"/>
            </a:solidFill>
            <a:prstDash val="solid"/>
          </a:ln>
        </p:spPr>
        <p:txBody>
          <a:bodyPr/>
          <a:lstStyle/>
          <a:p>
            <a:endParaRPr lang="en-IN"/>
          </a:p>
        </p:txBody>
      </p:sp>
      <p:sp>
        <p:nvSpPr>
          <p:cNvPr id="5" name="Shape 3"/>
          <p:cNvSpPr/>
          <p:nvPr/>
        </p:nvSpPr>
        <p:spPr>
          <a:xfrm>
            <a:off x="274320" y="822960"/>
            <a:ext cx="4023360" cy="3931920"/>
          </a:xfrm>
          <a:prstGeom prst="rect">
            <a:avLst/>
          </a:prstGeom>
          <a:solidFill>
            <a:srgbClr val="FFFFFF"/>
          </a:solidFill>
          <a:ln w="6350">
            <a:solidFill>
              <a:srgbClr val="E5E7EB"/>
            </a:solidFill>
            <a:prstDash val="solid"/>
          </a:ln>
          <a:effectLst>
            <a:outerShdw blurRad="50800" dist="25400" dir="8100000" algn="bl" rotWithShape="0">
              <a:srgbClr val="000000">
                <a:alpha val="6000"/>
              </a:srgbClr>
            </a:outerShdw>
          </a:effectLst>
        </p:spPr>
        <p:txBody>
          <a:bodyPr/>
          <a:lstStyle/>
          <a:p>
            <a:endParaRPr lang="en-IN"/>
          </a:p>
        </p:txBody>
      </p:sp>
      <p:sp>
        <p:nvSpPr>
          <p:cNvPr id="6" name="Shape 4"/>
          <p:cNvSpPr/>
          <p:nvPr/>
        </p:nvSpPr>
        <p:spPr>
          <a:xfrm>
            <a:off x="274320" y="822960"/>
            <a:ext cx="54864" cy="3931920"/>
          </a:xfrm>
          <a:prstGeom prst="rect">
            <a:avLst/>
          </a:prstGeom>
          <a:solidFill>
            <a:srgbClr val="6D28D9"/>
          </a:solidFill>
          <a:ln w="12700">
            <a:solidFill>
              <a:srgbClr val="6D28D9"/>
            </a:solidFill>
            <a:prstDash val="solid"/>
          </a:ln>
        </p:spPr>
        <p:txBody>
          <a:bodyPr/>
          <a:lstStyle/>
          <a:p>
            <a:endParaRPr lang="en-IN"/>
          </a:p>
        </p:txBody>
      </p:sp>
      <p:sp>
        <p:nvSpPr>
          <p:cNvPr id="7" name="Text 5"/>
          <p:cNvSpPr/>
          <p:nvPr/>
        </p:nvSpPr>
        <p:spPr>
          <a:xfrm>
            <a:off x="502920" y="914400"/>
            <a:ext cx="3566160" cy="384048"/>
          </a:xfrm>
          <a:prstGeom prst="rect">
            <a:avLst/>
          </a:prstGeom>
          <a:noFill/>
          <a:ln/>
        </p:spPr>
        <p:txBody>
          <a:bodyPr wrap="square" rtlCol="0" anchor="ctr"/>
          <a:lstStyle/>
          <a:p>
            <a:pPr marL="0" indent="0">
              <a:buNone/>
            </a:pPr>
            <a:r>
              <a:rPr lang="en-US" sz="1400" b="1">
                <a:solidFill>
                  <a:srgbClr val="6D28D9"/>
                </a:solidFill>
                <a:latin typeface="Calibri" pitchFamily="34" charset="0"/>
                <a:ea typeface="Calibri" pitchFamily="34" charset="-122"/>
                <a:cs typeface="Calibri" pitchFamily="34" charset="-120"/>
              </a:rPr>
              <a:t>What You Will Build</a:t>
            </a:r>
            <a:endParaRPr lang="en-US" sz="1400"/>
          </a:p>
        </p:txBody>
      </p:sp>
      <p:sp>
        <p:nvSpPr>
          <p:cNvPr id="8" name="Text 6"/>
          <p:cNvSpPr/>
          <p:nvPr/>
        </p:nvSpPr>
        <p:spPr>
          <a:xfrm>
            <a:off x="658368" y="1389888"/>
            <a:ext cx="3520440" cy="347472"/>
          </a:xfrm>
          <a:prstGeom prst="rect">
            <a:avLst/>
          </a:prstGeom>
          <a:noFill/>
          <a:ln/>
        </p:spPr>
        <p:txBody>
          <a:bodyPr wrap="square" lIns="91440" tIns="45720" rIns="91440" bIns="45720" rtlCol="0" anchor="ctr"/>
          <a:lstStyle/>
          <a:p>
            <a:r>
              <a:rPr lang="en-US" sz="1200">
                <a:solidFill>
                  <a:srgbClr val="374151"/>
                </a:solidFill>
                <a:latin typeface="Calibri"/>
                <a:ea typeface="Calibri"/>
                <a:cs typeface="Calibri"/>
              </a:rPr>
              <a:t>A complete blood bank management system (frontend + backend)</a:t>
            </a:r>
            <a:endParaRPr lang="en-US" sz="1200">
              <a:latin typeface="Calibri"/>
              <a:ea typeface="Calibri"/>
              <a:cs typeface="Calibri"/>
            </a:endParaRPr>
          </a:p>
        </p:txBody>
      </p:sp>
      <p:sp>
        <p:nvSpPr>
          <p:cNvPr id="9" name="Shape 7"/>
          <p:cNvSpPr/>
          <p:nvPr/>
        </p:nvSpPr>
        <p:spPr>
          <a:xfrm>
            <a:off x="502920" y="1499616"/>
            <a:ext cx="91440" cy="91440"/>
          </a:xfrm>
          <a:prstGeom prst="ellipse">
            <a:avLst/>
          </a:prstGeom>
          <a:solidFill>
            <a:srgbClr val="6D28D9"/>
          </a:solidFill>
          <a:ln w="12700">
            <a:solidFill>
              <a:srgbClr val="6D28D9"/>
            </a:solidFill>
            <a:prstDash val="solid"/>
          </a:ln>
        </p:spPr>
        <p:txBody>
          <a:bodyPr/>
          <a:lstStyle/>
          <a:p>
            <a:endParaRPr lang="en-IN"/>
          </a:p>
        </p:txBody>
      </p:sp>
      <p:sp>
        <p:nvSpPr>
          <p:cNvPr id="10" name="Text 8"/>
          <p:cNvSpPr/>
          <p:nvPr/>
        </p:nvSpPr>
        <p:spPr>
          <a:xfrm>
            <a:off x="658368" y="1810512"/>
            <a:ext cx="3520440" cy="347472"/>
          </a:xfrm>
          <a:prstGeom prst="rect">
            <a:avLst/>
          </a:prstGeom>
          <a:noFill/>
          <a:ln/>
        </p:spPr>
        <p:txBody>
          <a:bodyPr wrap="square" rtlCol="0" anchor="ctr"/>
          <a:lstStyle/>
          <a:p>
            <a:pPr marL="0" indent="0">
              <a:buNone/>
            </a:pPr>
            <a:r>
              <a:rPr lang="en-US" sz="1200">
                <a:solidFill>
                  <a:srgbClr val="374151"/>
                </a:solidFill>
                <a:latin typeface="Calibri" pitchFamily="34" charset="0"/>
                <a:ea typeface="Calibri" pitchFamily="34" charset="-122"/>
                <a:cs typeface="Calibri" pitchFamily="34" charset="-120"/>
              </a:rPr>
              <a:t>A real REST API endpoint</a:t>
            </a:r>
            <a:endParaRPr lang="en-US" sz="1200"/>
          </a:p>
        </p:txBody>
      </p:sp>
      <p:sp>
        <p:nvSpPr>
          <p:cNvPr id="11" name="Shape 9"/>
          <p:cNvSpPr/>
          <p:nvPr/>
        </p:nvSpPr>
        <p:spPr>
          <a:xfrm>
            <a:off x="502920" y="1920240"/>
            <a:ext cx="91440" cy="91440"/>
          </a:xfrm>
          <a:prstGeom prst="ellipse">
            <a:avLst/>
          </a:prstGeom>
          <a:solidFill>
            <a:srgbClr val="6D28D9"/>
          </a:solidFill>
          <a:ln w="12700">
            <a:solidFill>
              <a:srgbClr val="6D28D9"/>
            </a:solidFill>
            <a:prstDash val="solid"/>
          </a:ln>
        </p:spPr>
        <p:txBody>
          <a:bodyPr/>
          <a:lstStyle/>
          <a:p>
            <a:endParaRPr lang="en-IN"/>
          </a:p>
        </p:txBody>
      </p:sp>
      <p:sp>
        <p:nvSpPr>
          <p:cNvPr id="12" name="Text 10"/>
          <p:cNvSpPr/>
          <p:nvPr/>
        </p:nvSpPr>
        <p:spPr>
          <a:xfrm>
            <a:off x="658368" y="2231136"/>
            <a:ext cx="3520440" cy="347472"/>
          </a:xfrm>
          <a:prstGeom prst="rect">
            <a:avLst/>
          </a:prstGeom>
          <a:noFill/>
          <a:ln/>
        </p:spPr>
        <p:txBody>
          <a:bodyPr wrap="square" lIns="91440" tIns="45720" rIns="91440" bIns="45720" rtlCol="0" anchor="ctr"/>
          <a:lstStyle/>
          <a:p>
            <a:pPr marL="0" indent="0">
              <a:buNone/>
            </a:pPr>
            <a:r>
              <a:rPr lang="en-US" sz="1200">
                <a:solidFill>
                  <a:srgbClr val="374151"/>
                </a:solidFill>
                <a:latin typeface="Calibri"/>
                <a:ea typeface="Calibri"/>
                <a:cs typeface="Calibri"/>
              </a:rPr>
              <a:t>A live PostgreSQL database on Supabase</a:t>
            </a:r>
            <a:endParaRPr lang="en-US" sz="1200">
              <a:latin typeface="Calibri"/>
              <a:ea typeface="Calibri"/>
              <a:cs typeface="Calibri"/>
            </a:endParaRPr>
          </a:p>
        </p:txBody>
      </p:sp>
      <p:sp>
        <p:nvSpPr>
          <p:cNvPr id="13" name="Shape 11"/>
          <p:cNvSpPr/>
          <p:nvPr/>
        </p:nvSpPr>
        <p:spPr>
          <a:xfrm>
            <a:off x="502920" y="2340864"/>
            <a:ext cx="91440" cy="91440"/>
          </a:xfrm>
          <a:prstGeom prst="ellipse">
            <a:avLst/>
          </a:prstGeom>
          <a:solidFill>
            <a:srgbClr val="6D28D9"/>
          </a:solidFill>
          <a:ln w="12700">
            <a:solidFill>
              <a:srgbClr val="6D28D9"/>
            </a:solidFill>
            <a:prstDash val="solid"/>
          </a:ln>
        </p:spPr>
        <p:txBody>
          <a:bodyPr/>
          <a:lstStyle/>
          <a:p>
            <a:endParaRPr lang="en-IN"/>
          </a:p>
        </p:txBody>
      </p:sp>
      <p:sp>
        <p:nvSpPr>
          <p:cNvPr id="14" name="Text 12"/>
          <p:cNvSpPr/>
          <p:nvPr/>
        </p:nvSpPr>
        <p:spPr>
          <a:xfrm>
            <a:off x="658368" y="2651760"/>
            <a:ext cx="3520440" cy="347472"/>
          </a:xfrm>
          <a:prstGeom prst="rect">
            <a:avLst/>
          </a:prstGeom>
          <a:noFill/>
          <a:ln/>
        </p:spPr>
        <p:txBody>
          <a:bodyPr wrap="square" rtlCol="0" anchor="ctr"/>
          <a:lstStyle/>
          <a:p>
            <a:pPr marL="0" indent="0">
              <a:buNone/>
            </a:pPr>
            <a:r>
              <a:rPr lang="en-US" sz="1200">
                <a:solidFill>
                  <a:srgbClr val="374151"/>
                </a:solidFill>
                <a:latin typeface="Calibri" pitchFamily="34" charset="0"/>
                <a:ea typeface="Calibri" pitchFamily="34" charset="-122"/>
                <a:cs typeface="Calibri" pitchFamily="34" charset="-120"/>
              </a:rPr>
              <a:t>User authentication with RLS policies</a:t>
            </a:r>
            <a:endParaRPr lang="en-US" sz="1200"/>
          </a:p>
        </p:txBody>
      </p:sp>
      <p:sp>
        <p:nvSpPr>
          <p:cNvPr id="15" name="Shape 13"/>
          <p:cNvSpPr/>
          <p:nvPr/>
        </p:nvSpPr>
        <p:spPr>
          <a:xfrm>
            <a:off x="502920" y="2761488"/>
            <a:ext cx="91440" cy="91440"/>
          </a:xfrm>
          <a:prstGeom prst="ellipse">
            <a:avLst/>
          </a:prstGeom>
          <a:solidFill>
            <a:srgbClr val="6D28D9"/>
          </a:solidFill>
          <a:ln w="12700">
            <a:solidFill>
              <a:srgbClr val="6D28D9"/>
            </a:solidFill>
            <a:prstDash val="solid"/>
          </a:ln>
        </p:spPr>
        <p:txBody>
          <a:bodyPr/>
          <a:lstStyle/>
          <a:p>
            <a:endParaRPr lang="en-IN"/>
          </a:p>
        </p:txBody>
      </p:sp>
      <p:sp>
        <p:nvSpPr>
          <p:cNvPr id="16" name="Text 14"/>
          <p:cNvSpPr/>
          <p:nvPr/>
        </p:nvSpPr>
        <p:spPr>
          <a:xfrm>
            <a:off x="658368" y="3072384"/>
            <a:ext cx="3520440" cy="347472"/>
          </a:xfrm>
          <a:prstGeom prst="rect">
            <a:avLst/>
          </a:prstGeom>
          <a:noFill/>
          <a:ln/>
        </p:spPr>
        <p:txBody>
          <a:bodyPr wrap="square" rtlCol="0" anchor="ctr"/>
          <a:lstStyle/>
          <a:p>
            <a:pPr marL="0" indent="0">
              <a:buNone/>
            </a:pPr>
            <a:r>
              <a:rPr lang="en-US" sz="1200">
                <a:solidFill>
                  <a:srgbClr val="374151"/>
                </a:solidFill>
                <a:latin typeface="Calibri" pitchFamily="34" charset="0"/>
                <a:ea typeface="Calibri" pitchFamily="34" charset="-122"/>
                <a:cs typeface="Calibri" pitchFamily="34" charset="-120"/>
              </a:rPr>
              <a:t>Real-time updates across two browser tabs</a:t>
            </a:r>
            <a:endParaRPr lang="en-US" sz="1200"/>
          </a:p>
        </p:txBody>
      </p:sp>
      <p:sp>
        <p:nvSpPr>
          <p:cNvPr id="17" name="Shape 15"/>
          <p:cNvSpPr/>
          <p:nvPr/>
        </p:nvSpPr>
        <p:spPr>
          <a:xfrm>
            <a:off x="502920" y="3182112"/>
            <a:ext cx="91440" cy="91440"/>
          </a:xfrm>
          <a:prstGeom prst="ellipse">
            <a:avLst/>
          </a:prstGeom>
          <a:solidFill>
            <a:srgbClr val="6D28D9"/>
          </a:solidFill>
          <a:ln w="12700">
            <a:solidFill>
              <a:srgbClr val="6D28D9"/>
            </a:solidFill>
            <a:prstDash val="solid"/>
          </a:ln>
        </p:spPr>
        <p:txBody>
          <a:bodyPr/>
          <a:lstStyle/>
          <a:p>
            <a:endParaRPr lang="en-IN"/>
          </a:p>
        </p:txBody>
      </p:sp>
      <p:sp>
        <p:nvSpPr>
          <p:cNvPr id="18" name="Text 16"/>
          <p:cNvSpPr/>
          <p:nvPr/>
        </p:nvSpPr>
        <p:spPr>
          <a:xfrm>
            <a:off x="658368" y="3493008"/>
            <a:ext cx="3520440" cy="347472"/>
          </a:xfrm>
          <a:prstGeom prst="rect">
            <a:avLst/>
          </a:prstGeom>
          <a:noFill/>
          <a:ln/>
        </p:spPr>
        <p:txBody>
          <a:bodyPr wrap="square" lIns="91440" tIns="45720" rIns="91440" bIns="45720" rtlCol="0" anchor="ctr"/>
          <a:lstStyle/>
          <a:p>
            <a:pPr marL="0" indent="0">
              <a:buNone/>
            </a:pPr>
            <a:r>
              <a:rPr lang="en-US" sz="1200">
                <a:solidFill>
                  <a:srgbClr val="374151"/>
                </a:solidFill>
                <a:latin typeface="Calibri"/>
                <a:ea typeface="Calibri"/>
                <a:cs typeface="Calibri"/>
              </a:rPr>
              <a:t>All built using AI — no memorising code</a:t>
            </a:r>
            <a:endParaRPr lang="en-US" sz="1200">
              <a:latin typeface="Calibri"/>
              <a:ea typeface="Calibri"/>
              <a:cs typeface="Calibri"/>
            </a:endParaRPr>
          </a:p>
        </p:txBody>
      </p:sp>
      <p:sp>
        <p:nvSpPr>
          <p:cNvPr id="19" name="Shape 17"/>
          <p:cNvSpPr/>
          <p:nvPr/>
        </p:nvSpPr>
        <p:spPr>
          <a:xfrm>
            <a:off x="502920" y="3602736"/>
            <a:ext cx="91440" cy="91440"/>
          </a:xfrm>
          <a:prstGeom prst="ellipse">
            <a:avLst/>
          </a:prstGeom>
          <a:solidFill>
            <a:srgbClr val="6D28D9"/>
          </a:solidFill>
          <a:ln w="12700">
            <a:solidFill>
              <a:srgbClr val="6D28D9"/>
            </a:solidFill>
            <a:prstDash val="solid"/>
          </a:ln>
        </p:spPr>
        <p:txBody>
          <a:bodyPr/>
          <a:lstStyle/>
          <a:p>
            <a:endParaRPr lang="en-IN"/>
          </a:p>
        </p:txBody>
      </p:sp>
      <p:sp>
        <p:nvSpPr>
          <p:cNvPr id="20" name="Shape 18"/>
          <p:cNvSpPr/>
          <p:nvPr/>
        </p:nvSpPr>
        <p:spPr>
          <a:xfrm>
            <a:off x="4471416" y="859536"/>
            <a:ext cx="4297680" cy="3931920"/>
          </a:xfrm>
          <a:prstGeom prst="rect">
            <a:avLst/>
          </a:prstGeom>
          <a:solidFill>
            <a:srgbClr val="FFFFFF"/>
          </a:solidFill>
          <a:ln w="6350">
            <a:solidFill>
              <a:srgbClr val="E5E7EB"/>
            </a:solidFill>
            <a:prstDash val="solid"/>
          </a:ln>
          <a:effectLst>
            <a:outerShdw blurRad="50800" dist="25400" dir="8100000" algn="bl" rotWithShape="0">
              <a:srgbClr val="000000">
                <a:alpha val="6000"/>
              </a:srgbClr>
            </a:outerShdw>
          </a:effectLst>
        </p:spPr>
        <p:txBody>
          <a:bodyPr/>
          <a:lstStyle/>
          <a:p>
            <a:endParaRPr lang="en-IN"/>
          </a:p>
        </p:txBody>
      </p:sp>
      <p:sp>
        <p:nvSpPr>
          <p:cNvPr id="21" name="Shape 19"/>
          <p:cNvSpPr/>
          <p:nvPr/>
        </p:nvSpPr>
        <p:spPr>
          <a:xfrm>
            <a:off x="4572000" y="822960"/>
            <a:ext cx="54864" cy="3931920"/>
          </a:xfrm>
          <a:prstGeom prst="rect">
            <a:avLst/>
          </a:prstGeom>
          <a:solidFill>
            <a:srgbClr val="0D9488"/>
          </a:solidFill>
          <a:ln w="12700">
            <a:solidFill>
              <a:srgbClr val="0D9488"/>
            </a:solidFill>
            <a:prstDash val="solid"/>
          </a:ln>
        </p:spPr>
        <p:txBody>
          <a:bodyPr/>
          <a:lstStyle/>
          <a:p>
            <a:endParaRPr lang="en-IN"/>
          </a:p>
        </p:txBody>
      </p:sp>
      <p:sp>
        <p:nvSpPr>
          <p:cNvPr id="22" name="Text 20"/>
          <p:cNvSpPr/>
          <p:nvPr/>
        </p:nvSpPr>
        <p:spPr>
          <a:xfrm>
            <a:off x="4800600" y="914400"/>
            <a:ext cx="3840480" cy="384048"/>
          </a:xfrm>
          <a:prstGeom prst="rect">
            <a:avLst/>
          </a:prstGeom>
          <a:noFill/>
          <a:ln/>
        </p:spPr>
        <p:txBody>
          <a:bodyPr wrap="square" rtlCol="0" anchor="ctr"/>
          <a:lstStyle/>
          <a:p>
            <a:pPr marL="0" indent="0">
              <a:buNone/>
            </a:pPr>
            <a:r>
              <a:rPr lang="en-US" sz="1400" b="1">
                <a:solidFill>
                  <a:srgbClr val="0D9488"/>
                </a:solidFill>
                <a:latin typeface="Calibri" pitchFamily="34" charset="0"/>
                <a:ea typeface="Calibri" pitchFamily="34" charset="-122"/>
                <a:cs typeface="Calibri" pitchFamily="34" charset="-120"/>
              </a:rPr>
              <a:t>How This Session Works</a:t>
            </a:r>
            <a:endParaRPr lang="en-US" sz="1400"/>
          </a:p>
        </p:txBody>
      </p:sp>
      <p:sp>
        <p:nvSpPr>
          <p:cNvPr id="23" name="Text 21"/>
          <p:cNvSpPr/>
          <p:nvPr/>
        </p:nvSpPr>
        <p:spPr>
          <a:xfrm>
            <a:off x="4956048" y="1389888"/>
            <a:ext cx="3749040" cy="347472"/>
          </a:xfrm>
          <a:prstGeom prst="rect">
            <a:avLst/>
          </a:prstGeom>
          <a:noFill/>
          <a:ln/>
        </p:spPr>
        <p:txBody>
          <a:bodyPr wrap="square" rtlCol="0" anchor="ctr"/>
          <a:lstStyle/>
          <a:p>
            <a:pPr marL="0" indent="0">
              <a:buNone/>
            </a:pPr>
            <a:r>
              <a:rPr lang="en-US" sz="1200">
                <a:solidFill>
                  <a:srgbClr val="374151"/>
                </a:solidFill>
                <a:latin typeface="Calibri" pitchFamily="34" charset="0"/>
                <a:ea typeface="Calibri" pitchFamily="34" charset="-122"/>
                <a:cs typeface="Calibri" pitchFamily="34" charset="-120"/>
              </a:rPr>
              <a:t>3 topics, each with a live demo</a:t>
            </a:r>
            <a:endParaRPr lang="en-US" sz="1200"/>
          </a:p>
        </p:txBody>
      </p:sp>
      <p:sp>
        <p:nvSpPr>
          <p:cNvPr id="24" name="Shape 22"/>
          <p:cNvSpPr/>
          <p:nvPr/>
        </p:nvSpPr>
        <p:spPr>
          <a:xfrm>
            <a:off x="4800600" y="1499616"/>
            <a:ext cx="91440" cy="91440"/>
          </a:xfrm>
          <a:prstGeom prst="ellipse">
            <a:avLst/>
          </a:prstGeom>
          <a:solidFill>
            <a:srgbClr val="0D9488"/>
          </a:solidFill>
          <a:ln w="12700">
            <a:solidFill>
              <a:srgbClr val="0D9488"/>
            </a:solidFill>
            <a:prstDash val="solid"/>
          </a:ln>
        </p:spPr>
        <p:txBody>
          <a:bodyPr/>
          <a:lstStyle/>
          <a:p>
            <a:endParaRPr lang="en-IN"/>
          </a:p>
        </p:txBody>
      </p:sp>
      <p:sp>
        <p:nvSpPr>
          <p:cNvPr id="25" name="Text 23"/>
          <p:cNvSpPr/>
          <p:nvPr/>
        </p:nvSpPr>
        <p:spPr>
          <a:xfrm>
            <a:off x="4956048" y="1810512"/>
            <a:ext cx="3749040" cy="347472"/>
          </a:xfrm>
          <a:prstGeom prst="rect">
            <a:avLst/>
          </a:prstGeom>
          <a:noFill/>
          <a:ln/>
        </p:spPr>
        <p:txBody>
          <a:bodyPr wrap="square" rtlCol="0" anchor="ctr"/>
          <a:lstStyle/>
          <a:p>
            <a:pPr marL="0" indent="0">
              <a:buNone/>
            </a:pPr>
            <a:r>
              <a:rPr lang="en-US" sz="1200">
                <a:solidFill>
                  <a:srgbClr val="374151"/>
                </a:solidFill>
                <a:latin typeface="Calibri" pitchFamily="34" charset="0"/>
                <a:ea typeface="Calibri" pitchFamily="34" charset="-122"/>
                <a:cs typeface="Calibri" pitchFamily="34" charset="-120"/>
              </a:rPr>
              <a:t>Follow along on your own laptop</a:t>
            </a:r>
            <a:endParaRPr lang="en-US" sz="1200"/>
          </a:p>
        </p:txBody>
      </p:sp>
      <p:sp>
        <p:nvSpPr>
          <p:cNvPr id="26" name="Shape 24"/>
          <p:cNvSpPr/>
          <p:nvPr/>
        </p:nvSpPr>
        <p:spPr>
          <a:xfrm>
            <a:off x="4800600" y="1920240"/>
            <a:ext cx="91440" cy="91440"/>
          </a:xfrm>
          <a:prstGeom prst="ellipse">
            <a:avLst/>
          </a:prstGeom>
          <a:solidFill>
            <a:srgbClr val="0D9488"/>
          </a:solidFill>
          <a:ln w="12700">
            <a:solidFill>
              <a:srgbClr val="0D9488"/>
            </a:solidFill>
            <a:prstDash val="solid"/>
          </a:ln>
        </p:spPr>
        <p:txBody>
          <a:bodyPr/>
          <a:lstStyle/>
          <a:p>
            <a:endParaRPr lang="en-IN"/>
          </a:p>
        </p:txBody>
      </p:sp>
      <p:sp>
        <p:nvSpPr>
          <p:cNvPr id="27" name="Text 25"/>
          <p:cNvSpPr/>
          <p:nvPr/>
        </p:nvSpPr>
        <p:spPr>
          <a:xfrm>
            <a:off x="4956048" y="2231136"/>
            <a:ext cx="3749040" cy="347472"/>
          </a:xfrm>
          <a:prstGeom prst="rect">
            <a:avLst/>
          </a:prstGeom>
          <a:noFill/>
          <a:ln/>
        </p:spPr>
        <p:txBody>
          <a:bodyPr wrap="square" rtlCol="0" anchor="ctr"/>
          <a:lstStyle/>
          <a:p>
            <a:pPr marL="0" indent="0">
              <a:buNone/>
            </a:pPr>
            <a:r>
              <a:rPr lang="en-US" sz="1200">
                <a:solidFill>
                  <a:srgbClr val="374151"/>
                </a:solidFill>
                <a:latin typeface="Calibri" pitchFamily="34" charset="0"/>
                <a:ea typeface="Calibri" pitchFamily="34" charset="-122"/>
                <a:cs typeface="Calibri" pitchFamily="34" charset="-120"/>
              </a:rPr>
              <a:t>Ask questions at any time</a:t>
            </a:r>
            <a:endParaRPr lang="en-US" sz="1200"/>
          </a:p>
        </p:txBody>
      </p:sp>
      <p:sp>
        <p:nvSpPr>
          <p:cNvPr id="28" name="Shape 26"/>
          <p:cNvSpPr/>
          <p:nvPr/>
        </p:nvSpPr>
        <p:spPr>
          <a:xfrm>
            <a:off x="4800600" y="2340864"/>
            <a:ext cx="91440" cy="91440"/>
          </a:xfrm>
          <a:prstGeom prst="ellipse">
            <a:avLst/>
          </a:prstGeom>
          <a:solidFill>
            <a:srgbClr val="0D9488"/>
          </a:solidFill>
          <a:ln w="12700">
            <a:solidFill>
              <a:srgbClr val="0D9488"/>
            </a:solidFill>
            <a:prstDash val="solid"/>
          </a:ln>
        </p:spPr>
        <p:txBody>
          <a:bodyPr/>
          <a:lstStyle/>
          <a:p>
            <a:endParaRPr lang="en-IN"/>
          </a:p>
        </p:txBody>
      </p:sp>
      <p:sp>
        <p:nvSpPr>
          <p:cNvPr id="29" name="Text 27"/>
          <p:cNvSpPr/>
          <p:nvPr/>
        </p:nvSpPr>
        <p:spPr>
          <a:xfrm>
            <a:off x="4956048" y="2651760"/>
            <a:ext cx="3749040" cy="347472"/>
          </a:xfrm>
          <a:prstGeom prst="rect">
            <a:avLst/>
          </a:prstGeom>
          <a:noFill/>
          <a:ln/>
        </p:spPr>
        <p:txBody>
          <a:bodyPr wrap="square" rtlCol="0" anchor="ctr"/>
          <a:lstStyle/>
          <a:p>
            <a:pPr marL="0" indent="0">
              <a:buNone/>
            </a:pPr>
            <a:r>
              <a:rPr lang="en-US" sz="1200">
                <a:solidFill>
                  <a:srgbClr val="374151"/>
                </a:solidFill>
                <a:latin typeface="Calibri" pitchFamily="34" charset="0"/>
                <a:ea typeface="Calibri" pitchFamily="34" charset="-122"/>
                <a:cs typeface="Calibri" pitchFamily="34" charset="-120"/>
              </a:rPr>
              <a:t>Errors are normal — AI handles them</a:t>
            </a:r>
            <a:endParaRPr lang="en-US" sz="1200"/>
          </a:p>
        </p:txBody>
      </p:sp>
      <p:sp>
        <p:nvSpPr>
          <p:cNvPr id="30" name="Shape 28"/>
          <p:cNvSpPr/>
          <p:nvPr/>
        </p:nvSpPr>
        <p:spPr>
          <a:xfrm>
            <a:off x="4800600" y="2761488"/>
            <a:ext cx="91440" cy="91440"/>
          </a:xfrm>
          <a:prstGeom prst="ellipse">
            <a:avLst/>
          </a:prstGeom>
          <a:solidFill>
            <a:srgbClr val="0D9488"/>
          </a:solidFill>
          <a:ln w="12700">
            <a:solidFill>
              <a:srgbClr val="0D9488"/>
            </a:solidFill>
            <a:prstDash val="solid"/>
          </a:ln>
        </p:spPr>
        <p:txBody>
          <a:bodyPr/>
          <a:lstStyle/>
          <a:p>
            <a:endParaRPr lang="en-IN"/>
          </a:p>
        </p:txBody>
      </p:sp>
      <p:sp>
        <p:nvSpPr>
          <p:cNvPr id="31" name="Text 29"/>
          <p:cNvSpPr/>
          <p:nvPr/>
        </p:nvSpPr>
        <p:spPr>
          <a:xfrm>
            <a:off x="4956048" y="3072384"/>
            <a:ext cx="3749040" cy="347472"/>
          </a:xfrm>
          <a:prstGeom prst="rect">
            <a:avLst/>
          </a:prstGeom>
          <a:noFill/>
          <a:ln/>
        </p:spPr>
        <p:txBody>
          <a:bodyPr wrap="square" rtlCol="0" anchor="ctr"/>
          <a:lstStyle/>
          <a:p>
            <a:pPr marL="0" indent="0">
              <a:buNone/>
            </a:pPr>
            <a:endParaRPr lang="en-US" sz="1200"/>
          </a:p>
        </p:txBody>
      </p:sp>
      <p:sp>
        <p:nvSpPr>
          <p:cNvPr id="33" name="Text 31"/>
          <p:cNvSpPr/>
          <p:nvPr/>
        </p:nvSpPr>
        <p:spPr>
          <a:xfrm>
            <a:off x="4956048" y="3493008"/>
            <a:ext cx="3749040" cy="347472"/>
          </a:xfrm>
          <a:prstGeom prst="rect">
            <a:avLst/>
          </a:prstGeom>
          <a:noFill/>
          <a:ln/>
        </p:spPr>
        <p:txBody>
          <a:bodyPr wrap="square" rtlCol="0" anchor="ctr"/>
          <a:lstStyle/>
          <a:p>
            <a:pPr marL="0" indent="0">
              <a:buNone/>
            </a:pPr>
            <a:endParaRPr 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11111"/>
          </a:solidFill>
          <a:ln w="12700">
            <a:solidFill>
              <a:srgbClr val="111111"/>
            </a:solidFill>
            <a:prstDash val="solid"/>
          </a:ln>
        </p:spPr>
        <p:txBody>
          <a:bodyPr/>
          <a:lstStyle/>
          <a:p>
            <a:endParaRPr lang="en-IN"/>
          </a:p>
        </p:txBody>
      </p:sp>
      <p:sp>
        <p:nvSpPr>
          <p:cNvPr id="3" name="Text 1"/>
          <p:cNvSpPr/>
          <p:nvPr/>
        </p:nvSpPr>
        <p:spPr>
          <a:xfrm>
            <a:off x="365760" y="164592"/>
            <a:ext cx="6858000" cy="457200"/>
          </a:xfrm>
          <a:prstGeom prst="rect">
            <a:avLst/>
          </a:prstGeom>
          <a:noFill/>
          <a:ln/>
        </p:spPr>
        <p:txBody>
          <a:bodyPr wrap="square" rtlCol="0" anchor="ctr"/>
          <a:lstStyle/>
          <a:p>
            <a:pPr marL="0" indent="0">
              <a:buNone/>
            </a:pPr>
            <a:r>
              <a:rPr lang="en-US" sz="1800" b="1">
                <a:solidFill>
                  <a:srgbClr val="111111"/>
                </a:solidFill>
                <a:latin typeface="Calibri" pitchFamily="34" charset="0"/>
                <a:ea typeface="Calibri" pitchFamily="34" charset="-122"/>
                <a:cs typeface="Calibri" pitchFamily="34" charset="-120"/>
              </a:rPr>
              <a:t>Session Timeline</a:t>
            </a:r>
            <a:endParaRPr lang="en-US" sz="1800"/>
          </a:p>
        </p:txBody>
      </p:sp>
      <p:sp>
        <p:nvSpPr>
          <p:cNvPr id="4" name="Text 2"/>
          <p:cNvSpPr/>
          <p:nvPr/>
        </p:nvSpPr>
        <p:spPr>
          <a:xfrm>
            <a:off x="7223760" y="164592"/>
            <a:ext cx="1645920" cy="457200"/>
          </a:xfrm>
          <a:prstGeom prst="rect">
            <a:avLst/>
          </a:prstGeom>
          <a:noFill/>
          <a:ln/>
        </p:spPr>
        <p:txBody>
          <a:bodyPr wrap="square" rtlCol="0" anchor="ctr"/>
          <a:lstStyle/>
          <a:p>
            <a:pPr marL="0" indent="0" algn="r">
              <a:buNone/>
            </a:pPr>
            <a:endParaRPr lang="en-US" sz="1100"/>
          </a:p>
        </p:txBody>
      </p:sp>
      <p:sp>
        <p:nvSpPr>
          <p:cNvPr id="5" name="Shape 3"/>
          <p:cNvSpPr/>
          <p:nvPr/>
        </p:nvSpPr>
        <p:spPr>
          <a:xfrm>
            <a:off x="365760" y="658368"/>
            <a:ext cx="8412480" cy="0"/>
          </a:xfrm>
          <a:prstGeom prst="line">
            <a:avLst/>
          </a:prstGeom>
          <a:noFill/>
          <a:ln w="6350">
            <a:solidFill>
              <a:srgbClr val="E5E7EB"/>
            </a:solidFill>
            <a:prstDash val="solid"/>
          </a:ln>
        </p:spPr>
        <p:txBody>
          <a:bodyPr/>
          <a:lstStyle/>
          <a:p>
            <a:endParaRPr lang="en-IN"/>
          </a:p>
        </p:txBody>
      </p:sp>
      <p:sp>
        <p:nvSpPr>
          <p:cNvPr id="6" name="Shape 4"/>
          <p:cNvSpPr/>
          <p:nvPr/>
        </p:nvSpPr>
        <p:spPr>
          <a:xfrm>
            <a:off x="274320" y="822960"/>
            <a:ext cx="8595360" cy="566928"/>
          </a:xfrm>
          <a:prstGeom prst="rect">
            <a:avLst/>
          </a:prstGeom>
          <a:solidFill>
            <a:srgbClr val="FFFFFF"/>
          </a:solidFill>
          <a:ln w="6350">
            <a:solidFill>
              <a:srgbClr val="E5E7EB"/>
            </a:solidFill>
            <a:prstDash val="solid"/>
          </a:ln>
        </p:spPr>
        <p:txBody>
          <a:bodyPr/>
          <a:lstStyle/>
          <a:p>
            <a:endParaRPr lang="en-IN"/>
          </a:p>
        </p:txBody>
      </p:sp>
      <p:sp>
        <p:nvSpPr>
          <p:cNvPr id="7" name="Shape 5"/>
          <p:cNvSpPr/>
          <p:nvPr/>
        </p:nvSpPr>
        <p:spPr>
          <a:xfrm>
            <a:off x="274320" y="822960"/>
            <a:ext cx="54864" cy="566928"/>
          </a:xfrm>
          <a:prstGeom prst="rect">
            <a:avLst/>
          </a:prstGeom>
          <a:solidFill>
            <a:srgbClr val="6B7280"/>
          </a:solidFill>
          <a:ln w="12700">
            <a:solidFill>
              <a:srgbClr val="6B7280"/>
            </a:solidFill>
            <a:prstDash val="solid"/>
          </a:ln>
        </p:spPr>
        <p:txBody>
          <a:bodyPr/>
          <a:lstStyle/>
          <a:p>
            <a:endParaRPr lang="en-IN"/>
          </a:p>
        </p:txBody>
      </p:sp>
      <p:sp>
        <p:nvSpPr>
          <p:cNvPr id="8" name="Text 6"/>
          <p:cNvSpPr/>
          <p:nvPr/>
        </p:nvSpPr>
        <p:spPr>
          <a:xfrm>
            <a:off x="457200" y="822960"/>
            <a:ext cx="1691640" cy="566928"/>
          </a:xfrm>
          <a:prstGeom prst="rect">
            <a:avLst/>
          </a:prstGeom>
          <a:noFill/>
          <a:ln/>
        </p:spPr>
        <p:txBody>
          <a:bodyPr wrap="square" rtlCol="0" anchor="ctr"/>
          <a:lstStyle/>
          <a:p>
            <a:pPr marL="0" indent="0">
              <a:buNone/>
            </a:pPr>
            <a:r>
              <a:rPr lang="en-US" sz="1100" b="1">
                <a:solidFill>
                  <a:srgbClr val="6B7280"/>
                </a:solidFill>
                <a:latin typeface="Calibri" pitchFamily="34" charset="0"/>
                <a:ea typeface="Calibri" pitchFamily="34" charset="-122"/>
                <a:cs typeface="Calibri" pitchFamily="34" charset="-120"/>
              </a:rPr>
              <a:t>11:00 – 11:05</a:t>
            </a:r>
            <a:endParaRPr lang="en-US" sz="1100"/>
          </a:p>
        </p:txBody>
      </p:sp>
      <p:sp>
        <p:nvSpPr>
          <p:cNvPr id="9" name="Text 7"/>
          <p:cNvSpPr/>
          <p:nvPr/>
        </p:nvSpPr>
        <p:spPr>
          <a:xfrm>
            <a:off x="2194560" y="822960"/>
            <a:ext cx="5486400" cy="566928"/>
          </a:xfrm>
          <a:prstGeom prst="rect">
            <a:avLst/>
          </a:prstGeom>
          <a:noFill/>
          <a:ln/>
        </p:spPr>
        <p:txBody>
          <a:bodyPr wrap="square" rtlCol="0" anchor="ctr"/>
          <a:lstStyle/>
          <a:p>
            <a:pPr marL="0" indent="0">
              <a:buNone/>
            </a:pPr>
            <a:r>
              <a:rPr lang="en-US" sz="1300">
                <a:solidFill>
                  <a:srgbClr val="111111"/>
                </a:solidFill>
                <a:latin typeface="Calibri" pitchFamily="34" charset="0"/>
                <a:ea typeface="Calibri" pitchFamily="34" charset="-122"/>
                <a:cs typeface="Calibri" pitchFamily="34" charset="-120"/>
              </a:rPr>
              <a:t>Intro &amp; Big Picture</a:t>
            </a:r>
            <a:endParaRPr lang="en-US" sz="1300"/>
          </a:p>
        </p:txBody>
      </p:sp>
      <p:sp>
        <p:nvSpPr>
          <p:cNvPr id="11" name="Text 9"/>
          <p:cNvSpPr/>
          <p:nvPr/>
        </p:nvSpPr>
        <p:spPr>
          <a:xfrm>
            <a:off x="7863840" y="932688"/>
            <a:ext cx="914400" cy="347472"/>
          </a:xfrm>
          <a:prstGeom prst="rect">
            <a:avLst/>
          </a:prstGeom>
          <a:noFill/>
          <a:ln/>
        </p:spPr>
        <p:txBody>
          <a:bodyPr wrap="square" rtlCol="0" anchor="ctr"/>
          <a:lstStyle/>
          <a:p>
            <a:pPr marL="0" indent="0" algn="ctr">
              <a:buNone/>
            </a:pPr>
            <a:endParaRPr lang="en-US" sz="1000"/>
          </a:p>
        </p:txBody>
      </p:sp>
      <p:sp>
        <p:nvSpPr>
          <p:cNvPr id="12" name="Shape 10"/>
          <p:cNvSpPr/>
          <p:nvPr/>
        </p:nvSpPr>
        <p:spPr>
          <a:xfrm>
            <a:off x="274320" y="1508760"/>
            <a:ext cx="8595360" cy="566928"/>
          </a:xfrm>
          <a:prstGeom prst="rect">
            <a:avLst/>
          </a:prstGeom>
          <a:solidFill>
            <a:srgbClr val="F9FAFB"/>
          </a:solidFill>
          <a:ln w="6350">
            <a:solidFill>
              <a:srgbClr val="E5E7EB"/>
            </a:solidFill>
            <a:prstDash val="solid"/>
          </a:ln>
        </p:spPr>
        <p:txBody>
          <a:bodyPr/>
          <a:lstStyle/>
          <a:p>
            <a:endParaRPr lang="en-IN"/>
          </a:p>
        </p:txBody>
      </p:sp>
      <p:sp>
        <p:nvSpPr>
          <p:cNvPr id="13" name="Shape 11"/>
          <p:cNvSpPr/>
          <p:nvPr/>
        </p:nvSpPr>
        <p:spPr>
          <a:xfrm>
            <a:off x="274320" y="1508760"/>
            <a:ext cx="54864" cy="566928"/>
          </a:xfrm>
          <a:prstGeom prst="rect">
            <a:avLst/>
          </a:prstGeom>
          <a:solidFill>
            <a:srgbClr val="6D28D9"/>
          </a:solidFill>
          <a:ln w="12700">
            <a:solidFill>
              <a:srgbClr val="6D28D9"/>
            </a:solidFill>
            <a:prstDash val="solid"/>
          </a:ln>
        </p:spPr>
        <p:txBody>
          <a:bodyPr/>
          <a:lstStyle/>
          <a:p>
            <a:endParaRPr lang="en-IN"/>
          </a:p>
        </p:txBody>
      </p:sp>
      <p:sp>
        <p:nvSpPr>
          <p:cNvPr id="14" name="Text 12"/>
          <p:cNvSpPr/>
          <p:nvPr/>
        </p:nvSpPr>
        <p:spPr>
          <a:xfrm>
            <a:off x="457200" y="1508760"/>
            <a:ext cx="1691640" cy="566928"/>
          </a:xfrm>
          <a:prstGeom prst="rect">
            <a:avLst/>
          </a:prstGeom>
          <a:noFill/>
          <a:ln/>
        </p:spPr>
        <p:txBody>
          <a:bodyPr wrap="square" rtlCol="0" anchor="ctr"/>
          <a:lstStyle/>
          <a:p>
            <a:pPr marL="0" indent="0">
              <a:buNone/>
            </a:pPr>
            <a:r>
              <a:rPr lang="en-US" sz="1100" b="1">
                <a:solidFill>
                  <a:srgbClr val="6D28D9"/>
                </a:solidFill>
                <a:latin typeface="Calibri" pitchFamily="34" charset="0"/>
                <a:ea typeface="Calibri" pitchFamily="34" charset="-122"/>
                <a:cs typeface="Calibri" pitchFamily="34" charset="-120"/>
              </a:rPr>
              <a:t>11:05 – 11:25</a:t>
            </a:r>
            <a:endParaRPr lang="en-US" sz="1100"/>
          </a:p>
        </p:txBody>
      </p:sp>
      <p:sp>
        <p:nvSpPr>
          <p:cNvPr id="15" name="Text 13"/>
          <p:cNvSpPr/>
          <p:nvPr/>
        </p:nvSpPr>
        <p:spPr>
          <a:xfrm>
            <a:off x="2194560" y="1508760"/>
            <a:ext cx="5486400" cy="566928"/>
          </a:xfrm>
          <a:prstGeom prst="rect">
            <a:avLst/>
          </a:prstGeom>
          <a:noFill/>
          <a:ln/>
        </p:spPr>
        <p:txBody>
          <a:bodyPr wrap="square" rtlCol="0" anchor="ctr"/>
          <a:lstStyle/>
          <a:p>
            <a:pPr marL="0" indent="0">
              <a:buNone/>
            </a:pPr>
            <a:r>
              <a:rPr lang="en-US" sz="1300">
                <a:solidFill>
                  <a:srgbClr val="111111"/>
                </a:solidFill>
                <a:latin typeface="Calibri" pitchFamily="34" charset="0"/>
                <a:ea typeface="Calibri" pitchFamily="34" charset="-122"/>
                <a:cs typeface="Calibri" pitchFamily="34" charset="-120"/>
              </a:rPr>
              <a:t>Topic 1 — Rapid Prototyping with Bolt.new</a:t>
            </a:r>
            <a:endParaRPr lang="en-US" sz="1300"/>
          </a:p>
        </p:txBody>
      </p:sp>
      <p:sp>
        <p:nvSpPr>
          <p:cNvPr id="17" name="Text 15"/>
          <p:cNvSpPr/>
          <p:nvPr/>
        </p:nvSpPr>
        <p:spPr>
          <a:xfrm>
            <a:off x="7863840" y="1618488"/>
            <a:ext cx="914400" cy="347472"/>
          </a:xfrm>
          <a:prstGeom prst="rect">
            <a:avLst/>
          </a:prstGeom>
          <a:noFill/>
          <a:ln/>
        </p:spPr>
        <p:txBody>
          <a:bodyPr wrap="square" rtlCol="0" anchor="ctr"/>
          <a:lstStyle/>
          <a:p>
            <a:pPr marL="0" indent="0" algn="ctr">
              <a:buNone/>
            </a:pPr>
            <a:endParaRPr lang="en-US" sz="1000"/>
          </a:p>
        </p:txBody>
      </p:sp>
      <p:sp>
        <p:nvSpPr>
          <p:cNvPr id="18" name="Shape 16"/>
          <p:cNvSpPr/>
          <p:nvPr/>
        </p:nvSpPr>
        <p:spPr>
          <a:xfrm>
            <a:off x="274320" y="2194560"/>
            <a:ext cx="8595360" cy="566928"/>
          </a:xfrm>
          <a:prstGeom prst="rect">
            <a:avLst/>
          </a:prstGeom>
          <a:solidFill>
            <a:srgbClr val="FFFFFF"/>
          </a:solidFill>
          <a:ln w="6350">
            <a:solidFill>
              <a:srgbClr val="E5E7EB"/>
            </a:solidFill>
            <a:prstDash val="solid"/>
          </a:ln>
        </p:spPr>
        <p:txBody>
          <a:bodyPr/>
          <a:lstStyle/>
          <a:p>
            <a:endParaRPr lang="en-IN"/>
          </a:p>
        </p:txBody>
      </p:sp>
      <p:sp>
        <p:nvSpPr>
          <p:cNvPr id="19" name="Shape 17"/>
          <p:cNvSpPr/>
          <p:nvPr/>
        </p:nvSpPr>
        <p:spPr>
          <a:xfrm>
            <a:off x="274320" y="2194560"/>
            <a:ext cx="54864" cy="566928"/>
          </a:xfrm>
          <a:prstGeom prst="rect">
            <a:avLst/>
          </a:prstGeom>
          <a:solidFill>
            <a:srgbClr val="0D9488"/>
          </a:solidFill>
          <a:ln w="12700">
            <a:solidFill>
              <a:srgbClr val="0D9488"/>
            </a:solidFill>
            <a:prstDash val="solid"/>
          </a:ln>
        </p:spPr>
        <p:txBody>
          <a:bodyPr/>
          <a:lstStyle/>
          <a:p>
            <a:endParaRPr lang="en-IN"/>
          </a:p>
        </p:txBody>
      </p:sp>
      <p:sp>
        <p:nvSpPr>
          <p:cNvPr id="20" name="Text 18"/>
          <p:cNvSpPr/>
          <p:nvPr/>
        </p:nvSpPr>
        <p:spPr>
          <a:xfrm>
            <a:off x="457200" y="2194560"/>
            <a:ext cx="1691640" cy="566928"/>
          </a:xfrm>
          <a:prstGeom prst="rect">
            <a:avLst/>
          </a:prstGeom>
          <a:noFill/>
          <a:ln/>
        </p:spPr>
        <p:txBody>
          <a:bodyPr wrap="square" rtlCol="0" anchor="ctr"/>
          <a:lstStyle/>
          <a:p>
            <a:pPr marL="0" indent="0">
              <a:buNone/>
            </a:pPr>
            <a:r>
              <a:rPr lang="en-US" sz="1100" b="1">
                <a:solidFill>
                  <a:srgbClr val="0D9488"/>
                </a:solidFill>
                <a:latin typeface="Calibri" pitchFamily="34" charset="0"/>
                <a:ea typeface="Calibri" pitchFamily="34" charset="-122"/>
                <a:cs typeface="Calibri" pitchFamily="34" charset="-120"/>
              </a:rPr>
              <a:t>11:25 – 11:50</a:t>
            </a:r>
            <a:endParaRPr lang="en-US" sz="1100"/>
          </a:p>
        </p:txBody>
      </p:sp>
      <p:sp>
        <p:nvSpPr>
          <p:cNvPr id="21" name="Text 19"/>
          <p:cNvSpPr/>
          <p:nvPr/>
        </p:nvSpPr>
        <p:spPr>
          <a:xfrm>
            <a:off x="2194560" y="2194560"/>
            <a:ext cx="5486400" cy="566928"/>
          </a:xfrm>
          <a:prstGeom prst="rect">
            <a:avLst/>
          </a:prstGeom>
          <a:noFill/>
          <a:ln/>
        </p:spPr>
        <p:txBody>
          <a:bodyPr wrap="square" rtlCol="0" anchor="ctr"/>
          <a:lstStyle/>
          <a:p>
            <a:pPr marL="0" indent="0">
              <a:buNone/>
            </a:pPr>
            <a:r>
              <a:rPr lang="en-US" sz="1300">
                <a:solidFill>
                  <a:srgbClr val="111111"/>
                </a:solidFill>
                <a:latin typeface="Calibri" pitchFamily="34" charset="0"/>
                <a:ea typeface="Calibri" pitchFamily="34" charset="-122"/>
                <a:cs typeface="Calibri" pitchFamily="34" charset="-120"/>
              </a:rPr>
              <a:t>Topic 2 — Backend Development with Windsurf</a:t>
            </a:r>
            <a:endParaRPr lang="en-US" sz="1300"/>
          </a:p>
        </p:txBody>
      </p:sp>
      <p:sp>
        <p:nvSpPr>
          <p:cNvPr id="23" name="Text 21"/>
          <p:cNvSpPr/>
          <p:nvPr/>
        </p:nvSpPr>
        <p:spPr>
          <a:xfrm>
            <a:off x="7863840" y="2304288"/>
            <a:ext cx="914400" cy="347472"/>
          </a:xfrm>
          <a:prstGeom prst="rect">
            <a:avLst/>
          </a:prstGeom>
          <a:noFill/>
          <a:ln/>
        </p:spPr>
        <p:txBody>
          <a:bodyPr wrap="square" rtlCol="0" anchor="ctr"/>
          <a:lstStyle/>
          <a:p>
            <a:pPr marL="0" indent="0" algn="ctr">
              <a:buNone/>
            </a:pPr>
            <a:endParaRPr lang="en-US" sz="1000"/>
          </a:p>
        </p:txBody>
      </p:sp>
      <p:sp>
        <p:nvSpPr>
          <p:cNvPr id="24" name="Shape 22"/>
          <p:cNvSpPr/>
          <p:nvPr/>
        </p:nvSpPr>
        <p:spPr>
          <a:xfrm>
            <a:off x="274320" y="2880360"/>
            <a:ext cx="8595360" cy="566928"/>
          </a:xfrm>
          <a:prstGeom prst="rect">
            <a:avLst/>
          </a:prstGeom>
          <a:solidFill>
            <a:srgbClr val="F9FAFB"/>
          </a:solidFill>
          <a:ln w="6350">
            <a:solidFill>
              <a:srgbClr val="E5E7EB"/>
            </a:solidFill>
            <a:prstDash val="solid"/>
          </a:ln>
        </p:spPr>
        <p:txBody>
          <a:bodyPr/>
          <a:lstStyle/>
          <a:p>
            <a:endParaRPr lang="en-IN"/>
          </a:p>
        </p:txBody>
      </p:sp>
      <p:sp>
        <p:nvSpPr>
          <p:cNvPr id="25" name="Shape 23"/>
          <p:cNvSpPr/>
          <p:nvPr/>
        </p:nvSpPr>
        <p:spPr>
          <a:xfrm>
            <a:off x="274320" y="2880360"/>
            <a:ext cx="54864" cy="566928"/>
          </a:xfrm>
          <a:prstGeom prst="rect">
            <a:avLst/>
          </a:prstGeom>
          <a:solidFill>
            <a:srgbClr val="6B7280"/>
          </a:solidFill>
          <a:ln w="12700">
            <a:solidFill>
              <a:srgbClr val="6B7280"/>
            </a:solidFill>
            <a:prstDash val="solid"/>
          </a:ln>
        </p:spPr>
        <p:txBody>
          <a:bodyPr/>
          <a:lstStyle/>
          <a:p>
            <a:endParaRPr lang="en-IN"/>
          </a:p>
        </p:txBody>
      </p:sp>
      <p:sp>
        <p:nvSpPr>
          <p:cNvPr id="26" name="Text 24"/>
          <p:cNvSpPr/>
          <p:nvPr/>
        </p:nvSpPr>
        <p:spPr>
          <a:xfrm>
            <a:off x="457200" y="2880360"/>
            <a:ext cx="1691640" cy="566928"/>
          </a:xfrm>
          <a:prstGeom prst="rect">
            <a:avLst/>
          </a:prstGeom>
          <a:noFill/>
          <a:ln/>
        </p:spPr>
        <p:txBody>
          <a:bodyPr wrap="square" rtlCol="0" anchor="ctr"/>
          <a:lstStyle/>
          <a:p>
            <a:pPr marL="0" indent="0">
              <a:buNone/>
            </a:pPr>
            <a:r>
              <a:rPr lang="en-US" sz="1100" b="1">
                <a:solidFill>
                  <a:srgbClr val="6B7280"/>
                </a:solidFill>
                <a:latin typeface="Calibri" pitchFamily="34" charset="0"/>
                <a:ea typeface="Calibri" pitchFamily="34" charset="-122"/>
                <a:cs typeface="Calibri" pitchFamily="34" charset="-120"/>
              </a:rPr>
              <a:t>11:50 – 11:55</a:t>
            </a:r>
            <a:endParaRPr lang="en-US" sz="1100"/>
          </a:p>
        </p:txBody>
      </p:sp>
      <p:sp>
        <p:nvSpPr>
          <p:cNvPr id="27" name="Text 25"/>
          <p:cNvSpPr/>
          <p:nvPr/>
        </p:nvSpPr>
        <p:spPr>
          <a:xfrm>
            <a:off x="2194560" y="2880360"/>
            <a:ext cx="5486400" cy="566928"/>
          </a:xfrm>
          <a:prstGeom prst="rect">
            <a:avLst/>
          </a:prstGeom>
          <a:noFill/>
          <a:ln/>
        </p:spPr>
        <p:txBody>
          <a:bodyPr wrap="square" rtlCol="0" anchor="ctr"/>
          <a:lstStyle/>
          <a:p>
            <a:pPr marL="0" indent="0">
              <a:buNone/>
            </a:pPr>
            <a:r>
              <a:rPr lang="en-US" sz="1300">
                <a:solidFill>
                  <a:srgbClr val="111111"/>
                </a:solidFill>
                <a:latin typeface="Calibri" pitchFamily="34" charset="0"/>
                <a:ea typeface="Calibri" pitchFamily="34" charset="-122"/>
                <a:cs typeface="Calibri" pitchFamily="34" charset="-120"/>
              </a:rPr>
              <a:t>Break</a:t>
            </a:r>
            <a:endParaRPr lang="en-US" sz="1300"/>
          </a:p>
        </p:txBody>
      </p:sp>
      <p:sp>
        <p:nvSpPr>
          <p:cNvPr id="29" name="Text 27"/>
          <p:cNvSpPr/>
          <p:nvPr/>
        </p:nvSpPr>
        <p:spPr>
          <a:xfrm>
            <a:off x="7863840" y="2990088"/>
            <a:ext cx="914400" cy="347472"/>
          </a:xfrm>
          <a:prstGeom prst="rect">
            <a:avLst/>
          </a:prstGeom>
          <a:noFill/>
          <a:ln/>
        </p:spPr>
        <p:txBody>
          <a:bodyPr wrap="square" rtlCol="0" anchor="ctr"/>
          <a:lstStyle/>
          <a:p>
            <a:pPr marL="0" indent="0" algn="ctr">
              <a:buNone/>
            </a:pPr>
            <a:endParaRPr lang="en-US" sz="1000"/>
          </a:p>
        </p:txBody>
      </p:sp>
      <p:sp>
        <p:nvSpPr>
          <p:cNvPr id="30" name="Shape 28"/>
          <p:cNvSpPr/>
          <p:nvPr/>
        </p:nvSpPr>
        <p:spPr>
          <a:xfrm>
            <a:off x="274320" y="3566160"/>
            <a:ext cx="8595360" cy="566928"/>
          </a:xfrm>
          <a:prstGeom prst="rect">
            <a:avLst/>
          </a:prstGeom>
          <a:solidFill>
            <a:srgbClr val="FFFFFF"/>
          </a:solidFill>
          <a:ln w="6350">
            <a:solidFill>
              <a:srgbClr val="E5E7EB"/>
            </a:solidFill>
            <a:prstDash val="solid"/>
          </a:ln>
        </p:spPr>
        <p:txBody>
          <a:bodyPr/>
          <a:lstStyle/>
          <a:p>
            <a:endParaRPr lang="en-IN"/>
          </a:p>
        </p:txBody>
      </p:sp>
      <p:sp>
        <p:nvSpPr>
          <p:cNvPr id="31" name="Shape 29"/>
          <p:cNvSpPr/>
          <p:nvPr/>
        </p:nvSpPr>
        <p:spPr>
          <a:xfrm>
            <a:off x="274320" y="3566160"/>
            <a:ext cx="54864" cy="566928"/>
          </a:xfrm>
          <a:prstGeom prst="rect">
            <a:avLst/>
          </a:prstGeom>
          <a:solidFill>
            <a:srgbClr val="B45309"/>
          </a:solidFill>
          <a:ln w="12700">
            <a:solidFill>
              <a:srgbClr val="B45309"/>
            </a:solidFill>
            <a:prstDash val="solid"/>
          </a:ln>
        </p:spPr>
        <p:txBody>
          <a:bodyPr/>
          <a:lstStyle/>
          <a:p>
            <a:endParaRPr lang="en-IN"/>
          </a:p>
        </p:txBody>
      </p:sp>
      <p:sp>
        <p:nvSpPr>
          <p:cNvPr id="32" name="Text 30"/>
          <p:cNvSpPr/>
          <p:nvPr/>
        </p:nvSpPr>
        <p:spPr>
          <a:xfrm>
            <a:off x="457200" y="3566160"/>
            <a:ext cx="1691640" cy="566928"/>
          </a:xfrm>
          <a:prstGeom prst="rect">
            <a:avLst/>
          </a:prstGeom>
          <a:noFill/>
          <a:ln/>
        </p:spPr>
        <p:txBody>
          <a:bodyPr wrap="square" rtlCol="0" anchor="ctr"/>
          <a:lstStyle/>
          <a:p>
            <a:pPr marL="0" indent="0">
              <a:buNone/>
            </a:pPr>
            <a:r>
              <a:rPr lang="en-US" sz="1100" b="1">
                <a:solidFill>
                  <a:srgbClr val="B45309"/>
                </a:solidFill>
                <a:latin typeface="Calibri" pitchFamily="34" charset="0"/>
                <a:ea typeface="Calibri" pitchFamily="34" charset="-122"/>
                <a:cs typeface="Calibri" pitchFamily="34" charset="-120"/>
              </a:rPr>
              <a:t>11:55 – 12:30</a:t>
            </a:r>
            <a:endParaRPr lang="en-US" sz="1100"/>
          </a:p>
        </p:txBody>
      </p:sp>
      <p:sp>
        <p:nvSpPr>
          <p:cNvPr id="33" name="Text 31"/>
          <p:cNvSpPr/>
          <p:nvPr/>
        </p:nvSpPr>
        <p:spPr>
          <a:xfrm>
            <a:off x="2194560" y="3566160"/>
            <a:ext cx="5486400" cy="566928"/>
          </a:xfrm>
          <a:prstGeom prst="rect">
            <a:avLst/>
          </a:prstGeom>
          <a:noFill/>
          <a:ln/>
        </p:spPr>
        <p:txBody>
          <a:bodyPr wrap="square" rtlCol="0" anchor="ctr"/>
          <a:lstStyle/>
          <a:p>
            <a:pPr marL="0" indent="0">
              <a:buNone/>
            </a:pPr>
            <a:r>
              <a:rPr lang="en-US" sz="1300">
                <a:solidFill>
                  <a:srgbClr val="111111"/>
                </a:solidFill>
                <a:latin typeface="Calibri" pitchFamily="34" charset="0"/>
                <a:ea typeface="Calibri" pitchFamily="34" charset="-122"/>
                <a:cs typeface="Calibri" pitchFamily="34" charset="-120"/>
              </a:rPr>
              <a:t>Topic 3 — Database &amp; BaaS with Supabase</a:t>
            </a:r>
            <a:endParaRPr lang="en-US" sz="1300"/>
          </a:p>
        </p:txBody>
      </p:sp>
      <p:sp>
        <p:nvSpPr>
          <p:cNvPr id="35" name="Text 33"/>
          <p:cNvSpPr/>
          <p:nvPr/>
        </p:nvSpPr>
        <p:spPr>
          <a:xfrm>
            <a:off x="7863840" y="3675888"/>
            <a:ext cx="914400" cy="347472"/>
          </a:xfrm>
          <a:prstGeom prst="rect">
            <a:avLst/>
          </a:prstGeom>
          <a:noFill/>
          <a:ln/>
        </p:spPr>
        <p:txBody>
          <a:bodyPr wrap="square" rtlCol="0" anchor="ctr"/>
          <a:lstStyle/>
          <a:p>
            <a:pPr marL="0" indent="0" algn="ctr">
              <a:buNone/>
            </a:pPr>
            <a:endParaRPr lang="en-US" sz="1000"/>
          </a:p>
        </p:txBody>
      </p:sp>
      <p:sp>
        <p:nvSpPr>
          <p:cNvPr id="36" name="Shape 34"/>
          <p:cNvSpPr/>
          <p:nvPr/>
        </p:nvSpPr>
        <p:spPr>
          <a:xfrm>
            <a:off x="274320" y="4251960"/>
            <a:ext cx="8595360" cy="566928"/>
          </a:xfrm>
          <a:prstGeom prst="rect">
            <a:avLst/>
          </a:prstGeom>
          <a:solidFill>
            <a:srgbClr val="F9FAFB"/>
          </a:solidFill>
          <a:ln w="6350">
            <a:solidFill>
              <a:srgbClr val="E5E7EB"/>
            </a:solidFill>
            <a:prstDash val="solid"/>
          </a:ln>
        </p:spPr>
        <p:txBody>
          <a:bodyPr/>
          <a:lstStyle/>
          <a:p>
            <a:endParaRPr lang="en-IN"/>
          </a:p>
        </p:txBody>
      </p:sp>
      <p:sp>
        <p:nvSpPr>
          <p:cNvPr id="37" name="Shape 35"/>
          <p:cNvSpPr/>
          <p:nvPr/>
        </p:nvSpPr>
        <p:spPr>
          <a:xfrm>
            <a:off x="274320" y="4251960"/>
            <a:ext cx="54864" cy="566928"/>
          </a:xfrm>
          <a:prstGeom prst="rect">
            <a:avLst/>
          </a:prstGeom>
          <a:solidFill>
            <a:srgbClr val="065F46"/>
          </a:solidFill>
          <a:ln w="12700">
            <a:solidFill>
              <a:srgbClr val="065F46"/>
            </a:solidFill>
            <a:prstDash val="solid"/>
          </a:ln>
        </p:spPr>
        <p:txBody>
          <a:bodyPr/>
          <a:lstStyle/>
          <a:p>
            <a:endParaRPr lang="en-IN"/>
          </a:p>
        </p:txBody>
      </p:sp>
      <p:sp>
        <p:nvSpPr>
          <p:cNvPr id="38" name="Text 36"/>
          <p:cNvSpPr/>
          <p:nvPr/>
        </p:nvSpPr>
        <p:spPr>
          <a:xfrm>
            <a:off x="457200" y="4251960"/>
            <a:ext cx="1691640" cy="566928"/>
          </a:xfrm>
          <a:prstGeom prst="rect">
            <a:avLst/>
          </a:prstGeom>
          <a:noFill/>
          <a:ln/>
        </p:spPr>
        <p:txBody>
          <a:bodyPr wrap="square" rtlCol="0" anchor="ctr"/>
          <a:lstStyle/>
          <a:p>
            <a:pPr marL="0" indent="0">
              <a:buNone/>
            </a:pPr>
            <a:r>
              <a:rPr lang="en-US" sz="1100" b="1">
                <a:solidFill>
                  <a:srgbClr val="065F46"/>
                </a:solidFill>
                <a:latin typeface="Calibri" pitchFamily="34" charset="0"/>
                <a:ea typeface="Calibri" pitchFamily="34" charset="-122"/>
                <a:cs typeface="Calibri" pitchFamily="34" charset="-120"/>
              </a:rPr>
              <a:t>12:30 – 12:40</a:t>
            </a:r>
            <a:endParaRPr lang="en-US" sz="1100"/>
          </a:p>
        </p:txBody>
      </p:sp>
      <p:sp>
        <p:nvSpPr>
          <p:cNvPr id="39" name="Text 37"/>
          <p:cNvSpPr/>
          <p:nvPr/>
        </p:nvSpPr>
        <p:spPr>
          <a:xfrm>
            <a:off x="2194560" y="4251960"/>
            <a:ext cx="5486400" cy="566928"/>
          </a:xfrm>
          <a:prstGeom prst="rect">
            <a:avLst/>
          </a:prstGeom>
          <a:noFill/>
          <a:ln/>
        </p:spPr>
        <p:txBody>
          <a:bodyPr wrap="square" rtlCol="0" anchor="ctr"/>
          <a:lstStyle/>
          <a:p>
            <a:pPr marL="0" indent="0">
              <a:buNone/>
            </a:pPr>
            <a:r>
              <a:rPr lang="en-US" sz="1300">
                <a:solidFill>
                  <a:srgbClr val="111111"/>
                </a:solidFill>
                <a:latin typeface="Calibri" pitchFamily="34" charset="0"/>
                <a:ea typeface="Calibri" pitchFamily="34" charset="-122"/>
                <a:cs typeface="Calibri" pitchFamily="34" charset="-120"/>
              </a:rPr>
              <a:t>Recap &amp; Q&amp;A</a:t>
            </a:r>
            <a:endParaRPr lang="en-US" sz="1300"/>
          </a:p>
        </p:txBody>
      </p:sp>
      <p:sp>
        <p:nvSpPr>
          <p:cNvPr id="41" name="Text 39"/>
          <p:cNvSpPr/>
          <p:nvPr/>
        </p:nvSpPr>
        <p:spPr>
          <a:xfrm>
            <a:off x="7863840" y="4361688"/>
            <a:ext cx="914400" cy="347472"/>
          </a:xfrm>
          <a:prstGeom prst="rect">
            <a:avLst/>
          </a:prstGeom>
          <a:noFill/>
          <a:ln/>
        </p:spPr>
        <p:txBody>
          <a:bodyPr wrap="square" rtlCol="0" anchor="ctr"/>
          <a:lstStyle/>
          <a:p>
            <a:pPr marL="0" indent="0" algn="ctr">
              <a:buNone/>
            </a:pPr>
            <a:endParaRPr lang="en-US"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6D28D9"/>
          </a:solidFill>
          <a:ln w="12700">
            <a:solidFill>
              <a:srgbClr val="6D28D9"/>
            </a:solidFill>
            <a:prstDash val="solid"/>
          </a:ln>
        </p:spPr>
        <p:txBody>
          <a:bodyPr/>
          <a:lstStyle/>
          <a:p>
            <a:endParaRPr lang="en-IN"/>
          </a:p>
        </p:txBody>
      </p:sp>
      <p:sp>
        <p:nvSpPr>
          <p:cNvPr id="3" name="Text 1"/>
          <p:cNvSpPr/>
          <p:nvPr/>
        </p:nvSpPr>
        <p:spPr>
          <a:xfrm>
            <a:off x="731520" y="731520"/>
            <a:ext cx="8229600" cy="457200"/>
          </a:xfrm>
          <a:prstGeom prst="rect">
            <a:avLst/>
          </a:prstGeom>
          <a:noFill/>
          <a:ln/>
        </p:spPr>
        <p:txBody>
          <a:bodyPr wrap="square" rtlCol="0" anchor="ctr"/>
          <a:lstStyle/>
          <a:p>
            <a:pPr marL="0" indent="0">
              <a:buNone/>
            </a:pPr>
            <a:r>
              <a:rPr lang="en-US" sz="1300" b="1" kern="0" spc="400">
                <a:solidFill>
                  <a:srgbClr val="6D28D9"/>
                </a:solidFill>
                <a:latin typeface="Calibri" pitchFamily="34" charset="0"/>
                <a:ea typeface="Calibri" pitchFamily="34" charset="-122"/>
                <a:cs typeface="Calibri" pitchFamily="34" charset="-120"/>
              </a:rPr>
              <a:t>TOPIC 1</a:t>
            </a:r>
            <a:endParaRPr lang="en-US" sz="1300"/>
          </a:p>
        </p:txBody>
      </p:sp>
      <p:sp>
        <p:nvSpPr>
          <p:cNvPr id="4" name="Text 2"/>
          <p:cNvSpPr/>
          <p:nvPr/>
        </p:nvSpPr>
        <p:spPr>
          <a:xfrm>
            <a:off x="731520" y="1188720"/>
            <a:ext cx="8229600" cy="1005840"/>
          </a:xfrm>
          <a:prstGeom prst="rect">
            <a:avLst/>
          </a:prstGeom>
          <a:noFill/>
          <a:ln/>
        </p:spPr>
        <p:txBody>
          <a:bodyPr wrap="square" rtlCol="0" anchor="ctr"/>
          <a:lstStyle/>
          <a:p>
            <a:pPr marL="0" indent="0">
              <a:buNone/>
            </a:pPr>
            <a:r>
              <a:rPr lang="en-US" sz="5200" b="1">
                <a:solidFill>
                  <a:srgbClr val="111111"/>
                </a:solidFill>
                <a:latin typeface="Calibri" pitchFamily="34" charset="0"/>
                <a:ea typeface="Calibri" pitchFamily="34" charset="-122"/>
                <a:cs typeface="Calibri" pitchFamily="34" charset="-120"/>
              </a:rPr>
              <a:t>Rapid Prototyping</a:t>
            </a:r>
            <a:endParaRPr lang="en-US" sz="5200"/>
          </a:p>
        </p:txBody>
      </p:sp>
      <p:sp>
        <p:nvSpPr>
          <p:cNvPr id="5" name="Text 3"/>
          <p:cNvSpPr/>
          <p:nvPr/>
        </p:nvSpPr>
        <p:spPr>
          <a:xfrm>
            <a:off x="731520" y="2148840"/>
            <a:ext cx="8229600" cy="640080"/>
          </a:xfrm>
          <a:prstGeom prst="rect">
            <a:avLst/>
          </a:prstGeom>
          <a:noFill/>
          <a:ln/>
        </p:spPr>
        <p:txBody>
          <a:bodyPr wrap="square" rtlCol="0" anchor="ctr"/>
          <a:lstStyle/>
          <a:p>
            <a:pPr marL="0" indent="0">
              <a:buNone/>
            </a:pPr>
            <a:r>
              <a:rPr lang="en-US" sz="2800">
                <a:solidFill>
                  <a:srgbClr val="6B7280"/>
                </a:solidFill>
                <a:latin typeface="Calibri" pitchFamily="34" charset="0"/>
                <a:ea typeface="Calibri" pitchFamily="34" charset="-122"/>
                <a:cs typeface="Calibri" pitchFamily="34" charset="-120"/>
              </a:rPr>
              <a:t>with Bolt.new</a:t>
            </a:r>
            <a:endParaRPr lang="en-US" sz="2800"/>
          </a:p>
        </p:txBody>
      </p:sp>
      <p:sp>
        <p:nvSpPr>
          <p:cNvPr id="6" name="Shape 4"/>
          <p:cNvSpPr/>
          <p:nvPr/>
        </p:nvSpPr>
        <p:spPr>
          <a:xfrm>
            <a:off x="731520" y="2926080"/>
            <a:ext cx="3657600" cy="0"/>
          </a:xfrm>
          <a:prstGeom prst="line">
            <a:avLst/>
          </a:prstGeom>
          <a:noFill/>
          <a:ln w="6350">
            <a:solidFill>
              <a:srgbClr val="E5E7EB"/>
            </a:solidFill>
            <a:prstDash val="solid"/>
          </a:ln>
        </p:spPr>
        <p:txBody>
          <a:bodyPr/>
          <a:lstStyle/>
          <a:p>
            <a:endParaRPr lang="en-IN"/>
          </a:p>
        </p:txBody>
      </p:sp>
      <p:sp>
        <p:nvSpPr>
          <p:cNvPr id="7" name="Text 5"/>
          <p:cNvSpPr/>
          <p:nvPr/>
        </p:nvSpPr>
        <p:spPr>
          <a:xfrm>
            <a:off x="731520" y="3090672"/>
            <a:ext cx="4572000" cy="365760"/>
          </a:xfrm>
          <a:prstGeom prst="rect">
            <a:avLst/>
          </a:prstGeom>
          <a:noFill/>
          <a:ln/>
        </p:spPr>
        <p:txBody>
          <a:bodyPr wrap="square" rtlCol="0" anchor="ctr"/>
          <a:lstStyle/>
          <a:p>
            <a:pPr marL="0" indent="0">
              <a:buNone/>
            </a:pPr>
            <a:r>
              <a:rPr lang="en-US" sz="1200">
                <a:solidFill>
                  <a:srgbClr val="6B7280"/>
                </a:solidFill>
                <a:latin typeface="Calibri" pitchFamily="34" charset="0"/>
                <a:ea typeface="Calibri" pitchFamily="34" charset="-122"/>
                <a:cs typeface="Calibri" pitchFamily="34" charset="-120"/>
              </a:rPr>
              <a:t>11:05 – 11:25   |   20 minutes</a:t>
            </a:r>
            <a:endParaRPr lang="en-US" sz="1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D28D9"/>
          </a:solidFill>
          <a:ln w="12700">
            <a:solidFill>
              <a:srgbClr val="6D28D9"/>
            </a:solidFill>
            <a:prstDash val="solid"/>
          </a:ln>
        </p:spPr>
        <p:txBody>
          <a:bodyPr/>
          <a:lstStyle/>
          <a:p>
            <a:endParaRPr lang="en-IN"/>
          </a:p>
        </p:txBody>
      </p:sp>
      <p:sp>
        <p:nvSpPr>
          <p:cNvPr id="3" name="Text 1"/>
          <p:cNvSpPr/>
          <p:nvPr/>
        </p:nvSpPr>
        <p:spPr>
          <a:xfrm>
            <a:off x="365760" y="164592"/>
            <a:ext cx="6858000" cy="457200"/>
          </a:xfrm>
          <a:prstGeom prst="rect">
            <a:avLst/>
          </a:prstGeom>
          <a:noFill/>
          <a:ln/>
        </p:spPr>
        <p:txBody>
          <a:bodyPr wrap="square" lIns="91440" tIns="45720" rIns="91440" bIns="45720" rtlCol="0" anchor="ctr"/>
          <a:lstStyle/>
          <a:p>
            <a:pPr marL="0" indent="0">
              <a:buNone/>
            </a:pPr>
            <a:r>
              <a:rPr lang="en-US" sz="1800" b="1">
                <a:solidFill>
                  <a:srgbClr val="111111"/>
                </a:solidFill>
                <a:latin typeface="Calibri"/>
                <a:ea typeface="Calibri"/>
                <a:cs typeface="Calibri"/>
              </a:rPr>
              <a:t>What is Bolt.new?</a:t>
            </a:r>
            <a:endParaRPr lang="en-US" sz="1800">
              <a:latin typeface="Calibri"/>
              <a:ea typeface="Calibri"/>
              <a:cs typeface="Calibri"/>
            </a:endParaRPr>
          </a:p>
        </p:txBody>
      </p:sp>
      <p:sp>
        <p:nvSpPr>
          <p:cNvPr id="4" name="Text 2"/>
          <p:cNvSpPr/>
          <p:nvPr/>
        </p:nvSpPr>
        <p:spPr>
          <a:xfrm>
            <a:off x="7223760" y="164592"/>
            <a:ext cx="1645920" cy="457200"/>
          </a:xfrm>
          <a:prstGeom prst="rect">
            <a:avLst/>
          </a:prstGeom>
          <a:noFill/>
          <a:ln/>
        </p:spPr>
        <p:txBody>
          <a:bodyPr wrap="square" rtlCol="0" anchor="ctr"/>
          <a:lstStyle/>
          <a:p>
            <a:pPr marL="0" indent="0" algn="r">
              <a:buNone/>
            </a:pPr>
            <a:endParaRPr lang="en-US" sz="1100"/>
          </a:p>
        </p:txBody>
      </p:sp>
      <p:sp>
        <p:nvSpPr>
          <p:cNvPr id="5" name="Shape 3"/>
          <p:cNvSpPr/>
          <p:nvPr/>
        </p:nvSpPr>
        <p:spPr>
          <a:xfrm>
            <a:off x="365760" y="658368"/>
            <a:ext cx="8412480" cy="0"/>
          </a:xfrm>
          <a:prstGeom prst="line">
            <a:avLst/>
          </a:prstGeom>
          <a:noFill/>
          <a:ln w="6350">
            <a:solidFill>
              <a:srgbClr val="E5E7EB"/>
            </a:solidFill>
            <a:prstDash val="solid"/>
          </a:ln>
        </p:spPr>
        <p:txBody>
          <a:bodyPr/>
          <a:lstStyle/>
          <a:p>
            <a:endParaRPr lang="en-IN"/>
          </a:p>
        </p:txBody>
      </p:sp>
      <p:sp>
        <p:nvSpPr>
          <p:cNvPr id="6" name="Shape 4"/>
          <p:cNvSpPr/>
          <p:nvPr/>
        </p:nvSpPr>
        <p:spPr>
          <a:xfrm>
            <a:off x="274320" y="804672"/>
            <a:ext cx="3931920" cy="4023360"/>
          </a:xfrm>
          <a:prstGeom prst="rect">
            <a:avLst/>
          </a:prstGeom>
          <a:solidFill>
            <a:srgbClr val="FFFFFF"/>
          </a:solidFill>
          <a:ln w="6350">
            <a:solidFill>
              <a:srgbClr val="E5E7EB"/>
            </a:solidFill>
            <a:prstDash val="solid"/>
          </a:ln>
          <a:effectLst>
            <a:outerShdw blurRad="50800" dist="25400" dir="8100000" algn="bl" rotWithShape="0">
              <a:srgbClr val="000000">
                <a:alpha val="6000"/>
              </a:srgbClr>
            </a:outerShdw>
          </a:effectLst>
        </p:spPr>
        <p:txBody>
          <a:bodyPr/>
          <a:lstStyle/>
          <a:p>
            <a:endParaRPr lang="en-IN"/>
          </a:p>
        </p:txBody>
      </p:sp>
      <p:sp>
        <p:nvSpPr>
          <p:cNvPr id="7" name="Shape 5"/>
          <p:cNvSpPr/>
          <p:nvPr/>
        </p:nvSpPr>
        <p:spPr>
          <a:xfrm>
            <a:off x="274320" y="804672"/>
            <a:ext cx="54864" cy="4023360"/>
          </a:xfrm>
          <a:prstGeom prst="rect">
            <a:avLst/>
          </a:prstGeom>
          <a:solidFill>
            <a:srgbClr val="6D28D9"/>
          </a:solidFill>
          <a:ln w="12700">
            <a:solidFill>
              <a:srgbClr val="6D28D9"/>
            </a:solidFill>
            <a:prstDash val="solid"/>
          </a:ln>
        </p:spPr>
        <p:txBody>
          <a:bodyPr/>
          <a:lstStyle/>
          <a:p>
            <a:endParaRPr lang="en-IN"/>
          </a:p>
        </p:txBody>
      </p:sp>
      <p:sp>
        <p:nvSpPr>
          <p:cNvPr id="8" name="Text 6"/>
          <p:cNvSpPr/>
          <p:nvPr/>
        </p:nvSpPr>
        <p:spPr>
          <a:xfrm>
            <a:off x="502920" y="896112"/>
            <a:ext cx="3474720" cy="365760"/>
          </a:xfrm>
          <a:prstGeom prst="rect">
            <a:avLst/>
          </a:prstGeom>
          <a:noFill/>
          <a:ln/>
        </p:spPr>
        <p:txBody>
          <a:bodyPr wrap="square" rtlCol="0" anchor="ctr"/>
          <a:lstStyle/>
          <a:p>
            <a:pPr marL="0" indent="0">
              <a:buNone/>
            </a:pPr>
            <a:r>
              <a:rPr lang="en-US" sz="1300" b="1">
                <a:solidFill>
                  <a:srgbClr val="6D28D9"/>
                </a:solidFill>
                <a:latin typeface="Calibri" pitchFamily="34" charset="0"/>
                <a:ea typeface="Calibri" pitchFamily="34" charset="-122"/>
                <a:cs typeface="Calibri" pitchFamily="34" charset="-120"/>
              </a:rPr>
              <a:t>The Concept</a:t>
            </a:r>
            <a:endParaRPr lang="en-US" sz="1300"/>
          </a:p>
        </p:txBody>
      </p:sp>
      <p:sp>
        <p:nvSpPr>
          <p:cNvPr id="9" name="Text 7"/>
          <p:cNvSpPr/>
          <p:nvPr/>
        </p:nvSpPr>
        <p:spPr>
          <a:xfrm>
            <a:off x="502920" y="1325880"/>
            <a:ext cx="3520440" cy="822960"/>
          </a:xfrm>
          <a:prstGeom prst="rect">
            <a:avLst/>
          </a:prstGeom>
          <a:noFill/>
          <a:ln/>
        </p:spPr>
        <p:txBody>
          <a:bodyPr wrap="square" rtlCol="0" anchor="ctr"/>
          <a:lstStyle/>
          <a:p>
            <a:pPr marL="0" indent="0">
              <a:buNone/>
            </a:pPr>
            <a:r>
              <a:rPr lang="en-US" sz="1200">
                <a:solidFill>
                  <a:srgbClr val="374151"/>
                </a:solidFill>
                <a:latin typeface="Calibri" pitchFamily="34" charset="0"/>
                <a:ea typeface="Calibri" pitchFamily="34" charset="-122"/>
                <a:cs typeface="Calibri" pitchFamily="34" charset="-120"/>
              </a:rPr>
              <a:t>AI that generates an entire application — frontend, backend, and database — from a single text description. No manual setup. No boilerplate.</a:t>
            </a:r>
            <a:endParaRPr lang="en-US" sz="1200"/>
          </a:p>
        </p:txBody>
      </p:sp>
      <p:sp>
        <p:nvSpPr>
          <p:cNvPr id="10" name="Shape 8"/>
          <p:cNvSpPr/>
          <p:nvPr/>
        </p:nvSpPr>
        <p:spPr>
          <a:xfrm>
            <a:off x="502920" y="2212848"/>
            <a:ext cx="3383280" cy="0"/>
          </a:xfrm>
          <a:prstGeom prst="line">
            <a:avLst/>
          </a:prstGeom>
          <a:noFill/>
          <a:ln w="6350">
            <a:solidFill>
              <a:srgbClr val="E5E7EB"/>
            </a:solidFill>
            <a:prstDash val="solid"/>
          </a:ln>
        </p:spPr>
        <p:txBody>
          <a:bodyPr/>
          <a:lstStyle/>
          <a:p>
            <a:endParaRPr lang="en-IN"/>
          </a:p>
        </p:txBody>
      </p:sp>
      <p:sp>
        <p:nvSpPr>
          <p:cNvPr id="11" name="Text 9"/>
          <p:cNvSpPr/>
          <p:nvPr/>
        </p:nvSpPr>
        <p:spPr>
          <a:xfrm>
            <a:off x="502920" y="2304288"/>
            <a:ext cx="3474720" cy="320040"/>
          </a:xfrm>
          <a:prstGeom prst="rect">
            <a:avLst/>
          </a:prstGeom>
          <a:noFill/>
          <a:ln/>
        </p:spPr>
        <p:txBody>
          <a:bodyPr wrap="square" rtlCol="0" anchor="ctr"/>
          <a:lstStyle/>
          <a:p>
            <a:pPr marL="0" indent="0">
              <a:buNone/>
            </a:pPr>
            <a:r>
              <a:rPr lang="en-US" sz="1200" b="1">
                <a:solidFill>
                  <a:srgbClr val="111111"/>
                </a:solidFill>
                <a:latin typeface="Calibri" pitchFamily="34" charset="0"/>
                <a:ea typeface="Calibri" pitchFamily="34" charset="-122"/>
                <a:cs typeface="Calibri" pitchFamily="34" charset="-120"/>
              </a:rPr>
              <a:t>Best used for</a:t>
            </a:r>
            <a:endParaRPr lang="en-US" sz="1200"/>
          </a:p>
        </p:txBody>
      </p:sp>
      <p:sp>
        <p:nvSpPr>
          <p:cNvPr id="12" name="Shape 10"/>
          <p:cNvSpPr/>
          <p:nvPr/>
        </p:nvSpPr>
        <p:spPr>
          <a:xfrm>
            <a:off x="502920" y="2734056"/>
            <a:ext cx="91440" cy="91440"/>
          </a:xfrm>
          <a:prstGeom prst="ellipse">
            <a:avLst/>
          </a:prstGeom>
          <a:solidFill>
            <a:srgbClr val="6D28D9"/>
          </a:solidFill>
          <a:ln w="12700">
            <a:solidFill>
              <a:srgbClr val="6D28D9"/>
            </a:solidFill>
            <a:prstDash val="solid"/>
          </a:ln>
        </p:spPr>
        <p:txBody>
          <a:bodyPr/>
          <a:lstStyle/>
          <a:p>
            <a:endParaRPr lang="en-IN"/>
          </a:p>
        </p:txBody>
      </p:sp>
      <p:sp>
        <p:nvSpPr>
          <p:cNvPr id="13" name="Text 11"/>
          <p:cNvSpPr/>
          <p:nvPr/>
        </p:nvSpPr>
        <p:spPr>
          <a:xfrm>
            <a:off x="658368" y="2670048"/>
            <a:ext cx="3383280" cy="329184"/>
          </a:xfrm>
          <a:prstGeom prst="rect">
            <a:avLst/>
          </a:prstGeom>
          <a:noFill/>
          <a:ln/>
        </p:spPr>
        <p:txBody>
          <a:bodyPr wrap="square" rtlCol="0" anchor="ctr"/>
          <a:lstStyle/>
          <a:p>
            <a:pPr marL="0" indent="0">
              <a:buNone/>
            </a:pPr>
            <a:r>
              <a:rPr lang="en-US" sz="1200">
                <a:solidFill>
                  <a:srgbClr val="374151"/>
                </a:solidFill>
                <a:latin typeface="Calibri" pitchFamily="34" charset="0"/>
                <a:ea typeface="Calibri" pitchFamily="34" charset="-122"/>
                <a:cs typeface="Calibri" pitchFamily="34" charset="-120"/>
              </a:rPr>
              <a:t>MVPs and hackathon projects</a:t>
            </a:r>
            <a:endParaRPr lang="en-US" sz="1200"/>
          </a:p>
        </p:txBody>
      </p:sp>
      <p:sp>
        <p:nvSpPr>
          <p:cNvPr id="14" name="Shape 12"/>
          <p:cNvSpPr/>
          <p:nvPr/>
        </p:nvSpPr>
        <p:spPr>
          <a:xfrm>
            <a:off x="502920" y="3145536"/>
            <a:ext cx="91440" cy="91440"/>
          </a:xfrm>
          <a:prstGeom prst="ellipse">
            <a:avLst/>
          </a:prstGeom>
          <a:solidFill>
            <a:srgbClr val="6D28D9"/>
          </a:solidFill>
          <a:ln w="12700">
            <a:solidFill>
              <a:srgbClr val="6D28D9"/>
            </a:solidFill>
            <a:prstDash val="solid"/>
          </a:ln>
        </p:spPr>
        <p:txBody>
          <a:bodyPr/>
          <a:lstStyle/>
          <a:p>
            <a:endParaRPr lang="en-IN"/>
          </a:p>
        </p:txBody>
      </p:sp>
      <p:sp>
        <p:nvSpPr>
          <p:cNvPr id="15" name="Text 13"/>
          <p:cNvSpPr/>
          <p:nvPr/>
        </p:nvSpPr>
        <p:spPr>
          <a:xfrm>
            <a:off x="658368" y="3081528"/>
            <a:ext cx="3383280" cy="329184"/>
          </a:xfrm>
          <a:prstGeom prst="rect">
            <a:avLst/>
          </a:prstGeom>
          <a:noFill/>
          <a:ln/>
        </p:spPr>
        <p:txBody>
          <a:bodyPr wrap="square" rtlCol="0" anchor="ctr"/>
          <a:lstStyle/>
          <a:p>
            <a:pPr marL="0" indent="0">
              <a:buNone/>
            </a:pPr>
            <a:r>
              <a:rPr lang="en-US" sz="1200">
                <a:solidFill>
                  <a:srgbClr val="374151"/>
                </a:solidFill>
                <a:latin typeface="Calibri" pitchFamily="34" charset="0"/>
                <a:ea typeface="Calibri" pitchFamily="34" charset="-122"/>
                <a:cs typeface="Calibri" pitchFamily="34" charset="-120"/>
              </a:rPr>
              <a:t>Quick prototypes when time is short</a:t>
            </a:r>
            <a:endParaRPr lang="en-US" sz="1200"/>
          </a:p>
        </p:txBody>
      </p:sp>
      <p:sp>
        <p:nvSpPr>
          <p:cNvPr id="16" name="Shape 14"/>
          <p:cNvSpPr/>
          <p:nvPr/>
        </p:nvSpPr>
        <p:spPr>
          <a:xfrm>
            <a:off x="502920" y="3557016"/>
            <a:ext cx="91440" cy="91440"/>
          </a:xfrm>
          <a:prstGeom prst="ellipse">
            <a:avLst/>
          </a:prstGeom>
          <a:solidFill>
            <a:srgbClr val="6D28D9"/>
          </a:solidFill>
          <a:ln w="12700">
            <a:solidFill>
              <a:srgbClr val="6D28D9"/>
            </a:solidFill>
            <a:prstDash val="solid"/>
          </a:ln>
        </p:spPr>
        <p:txBody>
          <a:bodyPr/>
          <a:lstStyle/>
          <a:p>
            <a:endParaRPr lang="en-IN"/>
          </a:p>
        </p:txBody>
      </p:sp>
      <p:sp>
        <p:nvSpPr>
          <p:cNvPr id="17" name="Text 15"/>
          <p:cNvSpPr/>
          <p:nvPr/>
        </p:nvSpPr>
        <p:spPr>
          <a:xfrm>
            <a:off x="658368" y="3493008"/>
            <a:ext cx="3383280" cy="329184"/>
          </a:xfrm>
          <a:prstGeom prst="rect">
            <a:avLst/>
          </a:prstGeom>
          <a:noFill/>
          <a:ln/>
        </p:spPr>
        <p:txBody>
          <a:bodyPr wrap="square" rtlCol="0" anchor="ctr"/>
          <a:lstStyle/>
          <a:p>
            <a:pPr marL="0" indent="0">
              <a:buNone/>
            </a:pPr>
            <a:r>
              <a:rPr lang="en-US" sz="1200">
                <a:solidFill>
                  <a:srgbClr val="374151"/>
                </a:solidFill>
                <a:latin typeface="Calibri" pitchFamily="34" charset="0"/>
                <a:ea typeface="Calibri" pitchFamily="34" charset="-122"/>
                <a:cs typeface="Calibri" pitchFamily="34" charset="-120"/>
              </a:rPr>
              <a:t>Vibe coding — describe and ship</a:t>
            </a:r>
            <a:endParaRPr lang="en-US" sz="1200"/>
          </a:p>
        </p:txBody>
      </p:sp>
      <p:sp>
        <p:nvSpPr>
          <p:cNvPr id="18" name="Shape 16"/>
          <p:cNvSpPr/>
          <p:nvPr/>
        </p:nvSpPr>
        <p:spPr>
          <a:xfrm>
            <a:off x="502920" y="4005072"/>
            <a:ext cx="3383280" cy="0"/>
          </a:xfrm>
          <a:prstGeom prst="line">
            <a:avLst/>
          </a:prstGeom>
          <a:noFill/>
          <a:ln w="6350">
            <a:solidFill>
              <a:srgbClr val="E5E7EB"/>
            </a:solidFill>
            <a:prstDash val="solid"/>
          </a:ln>
        </p:spPr>
        <p:txBody>
          <a:bodyPr/>
          <a:lstStyle/>
          <a:p>
            <a:endParaRPr lang="en-IN"/>
          </a:p>
        </p:txBody>
      </p:sp>
      <p:sp>
        <p:nvSpPr>
          <p:cNvPr id="19" name="Text 17"/>
          <p:cNvSpPr/>
          <p:nvPr/>
        </p:nvSpPr>
        <p:spPr>
          <a:xfrm>
            <a:off x="502920" y="4069080"/>
            <a:ext cx="3520440" cy="594360"/>
          </a:xfrm>
          <a:prstGeom prst="rect">
            <a:avLst/>
          </a:prstGeom>
          <a:noFill/>
          <a:ln/>
        </p:spPr>
        <p:txBody>
          <a:bodyPr wrap="square" rtlCol="0" anchor="ctr"/>
          <a:lstStyle/>
          <a:p>
            <a:pPr marL="0" indent="0">
              <a:buNone/>
            </a:pPr>
            <a:r>
              <a:rPr lang="en-US" sz="1100" i="1">
                <a:solidFill>
                  <a:srgbClr val="6D28D9"/>
                </a:solidFill>
                <a:latin typeface="Calibri" pitchFamily="34" charset="0"/>
                <a:ea typeface="Calibri" pitchFamily="34" charset="-122"/>
                <a:cs typeface="Calibri" pitchFamily="34" charset="-120"/>
              </a:rPr>
              <a:t>Key rule: specificity = better output</a:t>
            </a:r>
            <a:endParaRPr lang="en-US" sz="1100"/>
          </a:p>
        </p:txBody>
      </p:sp>
      <p:sp>
        <p:nvSpPr>
          <p:cNvPr id="20" name="Text 18"/>
          <p:cNvSpPr/>
          <p:nvPr/>
        </p:nvSpPr>
        <p:spPr>
          <a:xfrm>
            <a:off x="4389120" y="804672"/>
            <a:ext cx="4480560" cy="274320"/>
          </a:xfrm>
          <a:prstGeom prst="rect">
            <a:avLst/>
          </a:prstGeom>
          <a:noFill/>
          <a:ln/>
        </p:spPr>
        <p:txBody>
          <a:bodyPr wrap="square" lIns="91440" tIns="45720" rIns="91440" bIns="45720" rtlCol="0" anchor="ctr"/>
          <a:lstStyle/>
          <a:p>
            <a:pPr marL="0" indent="0">
              <a:buNone/>
            </a:pPr>
            <a:r>
              <a:rPr lang="en-US" sz="1000" i="1">
                <a:solidFill>
                  <a:srgbClr val="6B7280"/>
                </a:solidFill>
                <a:latin typeface="Calibri"/>
                <a:ea typeface="Calibri"/>
                <a:cs typeface="Calibri"/>
              </a:rPr>
              <a:t>Live — bolt.new</a:t>
            </a:r>
            <a:endParaRPr lang="en-US" sz="1000">
              <a:latin typeface="Calibri"/>
              <a:ea typeface="Calibri"/>
              <a:cs typeface="Calibri"/>
            </a:endParaRPr>
          </a:p>
        </p:txBody>
      </p:sp>
      <p:pic>
        <p:nvPicPr>
          <p:cNvPr id="23" name="Picture 22" descr="A screenshot of a computer&#10;&#10;AI-generated content may be incorrect.">
            <a:extLst>
              <a:ext uri="{FF2B5EF4-FFF2-40B4-BE49-F238E27FC236}">
                <a16:creationId xmlns:a16="http://schemas.microsoft.com/office/drawing/2014/main" id="{6D7BF492-59BA-1185-E5E3-A8F074D04736}"/>
              </a:ext>
            </a:extLst>
          </p:cNvPr>
          <p:cNvPicPr>
            <a:picLocks noChangeAspect="1"/>
          </p:cNvPicPr>
          <p:nvPr/>
        </p:nvPicPr>
        <p:blipFill>
          <a:blip r:embed="rId3"/>
          <a:stretch>
            <a:fillRect/>
          </a:stretch>
        </p:blipFill>
        <p:spPr>
          <a:xfrm>
            <a:off x="4375404" y="1258481"/>
            <a:ext cx="4690872" cy="309745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D28D9"/>
          </a:solidFill>
          <a:ln w="12700">
            <a:solidFill>
              <a:srgbClr val="6D28D9"/>
            </a:solidFill>
            <a:prstDash val="solid"/>
          </a:ln>
        </p:spPr>
        <p:txBody>
          <a:bodyPr/>
          <a:lstStyle/>
          <a:p>
            <a:endParaRPr lang="en-IN"/>
          </a:p>
        </p:txBody>
      </p:sp>
      <p:sp>
        <p:nvSpPr>
          <p:cNvPr id="3" name="Text 1"/>
          <p:cNvSpPr/>
          <p:nvPr/>
        </p:nvSpPr>
        <p:spPr>
          <a:xfrm>
            <a:off x="365760" y="164592"/>
            <a:ext cx="6858000" cy="457200"/>
          </a:xfrm>
          <a:prstGeom prst="rect">
            <a:avLst/>
          </a:prstGeom>
          <a:noFill/>
          <a:ln/>
        </p:spPr>
        <p:txBody>
          <a:bodyPr wrap="square" rtlCol="0" anchor="ctr"/>
          <a:lstStyle/>
          <a:p>
            <a:pPr marL="0" indent="0">
              <a:buNone/>
            </a:pPr>
            <a:r>
              <a:rPr lang="en-US" sz="1800" b="1">
                <a:solidFill>
                  <a:srgbClr val="111111"/>
                </a:solidFill>
                <a:latin typeface="Calibri" pitchFamily="34" charset="0"/>
                <a:ea typeface="Calibri" pitchFamily="34" charset="-122"/>
                <a:cs typeface="Calibri" pitchFamily="34" charset="-120"/>
              </a:rPr>
              <a:t>Live Demo — Type This Prompt</a:t>
            </a:r>
            <a:endParaRPr lang="en-US" sz="1800"/>
          </a:p>
        </p:txBody>
      </p:sp>
      <p:sp>
        <p:nvSpPr>
          <p:cNvPr id="4" name="Text 2"/>
          <p:cNvSpPr/>
          <p:nvPr/>
        </p:nvSpPr>
        <p:spPr>
          <a:xfrm>
            <a:off x="7223760" y="164592"/>
            <a:ext cx="1645920" cy="457200"/>
          </a:xfrm>
          <a:prstGeom prst="rect">
            <a:avLst/>
          </a:prstGeom>
          <a:noFill/>
          <a:ln/>
        </p:spPr>
        <p:txBody>
          <a:bodyPr wrap="square" lIns="91440" tIns="45720" rIns="91440" bIns="45720" rtlCol="0" anchor="ctr"/>
          <a:lstStyle/>
          <a:p>
            <a:pPr marL="0" indent="0" algn="r">
              <a:buNone/>
            </a:pPr>
            <a:endParaRPr lang="en-US" sz="1100">
              <a:solidFill>
                <a:srgbClr val="6B7280"/>
              </a:solidFill>
              <a:ea typeface="Calibri"/>
              <a:cs typeface="Calibri"/>
            </a:endParaRPr>
          </a:p>
        </p:txBody>
      </p:sp>
      <p:sp>
        <p:nvSpPr>
          <p:cNvPr id="5" name="Shape 3"/>
          <p:cNvSpPr/>
          <p:nvPr/>
        </p:nvSpPr>
        <p:spPr>
          <a:xfrm>
            <a:off x="365760" y="658368"/>
            <a:ext cx="8412480" cy="0"/>
          </a:xfrm>
          <a:prstGeom prst="line">
            <a:avLst/>
          </a:prstGeom>
          <a:noFill/>
          <a:ln w="6350">
            <a:solidFill>
              <a:srgbClr val="E5E7EB"/>
            </a:solidFill>
            <a:prstDash val="solid"/>
          </a:ln>
        </p:spPr>
        <p:txBody>
          <a:bodyPr/>
          <a:lstStyle/>
          <a:p>
            <a:endParaRPr lang="en-IN"/>
          </a:p>
        </p:txBody>
      </p:sp>
      <p:sp>
        <p:nvSpPr>
          <p:cNvPr id="6" name="Shape 4"/>
          <p:cNvSpPr/>
          <p:nvPr/>
        </p:nvSpPr>
        <p:spPr>
          <a:xfrm>
            <a:off x="251460" y="704088"/>
            <a:ext cx="8581644" cy="2619756"/>
          </a:xfrm>
          <a:prstGeom prst="rect">
            <a:avLst/>
          </a:prstGeom>
          <a:solidFill>
            <a:srgbClr val="161622"/>
          </a:solidFill>
          <a:ln w="6350">
            <a:solidFill>
              <a:srgbClr val="2D2D44"/>
            </a:solidFill>
            <a:prstDash val="solid"/>
          </a:ln>
        </p:spPr>
        <p:txBody>
          <a:bodyPr lIns="91440" tIns="45720" rIns="91440" bIns="45720" anchor="t"/>
          <a:lstStyle/>
          <a:p>
            <a:endParaRPr lang="en-US">
              <a:ea typeface="Calibri"/>
              <a:cs typeface="Calibri"/>
            </a:endParaRPr>
          </a:p>
        </p:txBody>
      </p:sp>
      <p:sp>
        <p:nvSpPr>
          <p:cNvPr id="7" name="Shape 5"/>
          <p:cNvSpPr/>
          <p:nvPr/>
        </p:nvSpPr>
        <p:spPr>
          <a:xfrm>
            <a:off x="434340" y="841248"/>
            <a:ext cx="137160" cy="137160"/>
          </a:xfrm>
          <a:prstGeom prst="ellipse">
            <a:avLst/>
          </a:prstGeom>
          <a:solidFill>
            <a:srgbClr val="FF5F57"/>
          </a:solidFill>
          <a:ln w="12700">
            <a:solidFill>
              <a:srgbClr val="FF5F57"/>
            </a:solidFill>
            <a:prstDash val="solid"/>
          </a:ln>
        </p:spPr>
        <p:txBody>
          <a:bodyPr/>
          <a:lstStyle/>
          <a:p>
            <a:endParaRPr lang="en-IN"/>
          </a:p>
        </p:txBody>
      </p:sp>
      <p:sp>
        <p:nvSpPr>
          <p:cNvPr id="8" name="Shape 6"/>
          <p:cNvSpPr/>
          <p:nvPr/>
        </p:nvSpPr>
        <p:spPr>
          <a:xfrm>
            <a:off x="658368" y="832104"/>
            <a:ext cx="137160" cy="137160"/>
          </a:xfrm>
          <a:prstGeom prst="ellipse">
            <a:avLst/>
          </a:prstGeom>
          <a:solidFill>
            <a:srgbClr val="FFBD2E"/>
          </a:solidFill>
          <a:ln w="12700">
            <a:solidFill>
              <a:srgbClr val="FFBD2E"/>
            </a:solidFill>
            <a:prstDash val="solid"/>
          </a:ln>
        </p:spPr>
        <p:txBody>
          <a:bodyPr/>
          <a:lstStyle/>
          <a:p>
            <a:endParaRPr lang="en-IN"/>
          </a:p>
        </p:txBody>
      </p:sp>
      <p:sp>
        <p:nvSpPr>
          <p:cNvPr id="9" name="Shape 7"/>
          <p:cNvSpPr/>
          <p:nvPr/>
        </p:nvSpPr>
        <p:spPr>
          <a:xfrm>
            <a:off x="873252" y="827532"/>
            <a:ext cx="137160" cy="137160"/>
          </a:xfrm>
          <a:prstGeom prst="ellipse">
            <a:avLst/>
          </a:prstGeom>
          <a:solidFill>
            <a:srgbClr val="28C840"/>
          </a:solidFill>
          <a:ln w="12700">
            <a:solidFill>
              <a:srgbClr val="28C840"/>
            </a:solidFill>
            <a:prstDash val="solid"/>
          </a:ln>
        </p:spPr>
        <p:txBody>
          <a:bodyPr/>
          <a:lstStyle/>
          <a:p>
            <a:endParaRPr lang="en-IN"/>
          </a:p>
        </p:txBody>
      </p:sp>
      <p:sp>
        <p:nvSpPr>
          <p:cNvPr id="10" name="Text 8"/>
          <p:cNvSpPr/>
          <p:nvPr/>
        </p:nvSpPr>
        <p:spPr>
          <a:xfrm>
            <a:off x="3200400" y="841248"/>
            <a:ext cx="2743200" cy="256032"/>
          </a:xfrm>
          <a:prstGeom prst="rect">
            <a:avLst/>
          </a:prstGeom>
          <a:noFill/>
          <a:ln/>
        </p:spPr>
        <p:txBody>
          <a:bodyPr wrap="square" lIns="91440" tIns="45720" rIns="91440" bIns="45720" rtlCol="0" anchor="ctr"/>
          <a:lstStyle/>
          <a:p>
            <a:pPr marL="0" indent="0" algn="ctr">
              <a:buNone/>
            </a:pPr>
            <a:endParaRPr lang="en-US" sz="1000">
              <a:solidFill>
                <a:srgbClr val="555577"/>
              </a:solidFill>
              <a:ea typeface="Calibri"/>
              <a:cs typeface="Calibri"/>
            </a:endParaRPr>
          </a:p>
        </p:txBody>
      </p:sp>
      <p:sp>
        <p:nvSpPr>
          <p:cNvPr id="11" name="Text 9"/>
          <p:cNvSpPr/>
          <p:nvPr/>
        </p:nvSpPr>
        <p:spPr>
          <a:xfrm>
            <a:off x="315468" y="1188720"/>
            <a:ext cx="8449056" cy="1901952"/>
          </a:xfrm>
          <a:prstGeom prst="rect">
            <a:avLst/>
          </a:prstGeom>
          <a:noFill/>
          <a:ln/>
        </p:spPr>
        <p:txBody>
          <a:bodyPr wrap="square" lIns="91440" tIns="45720" rIns="91440" bIns="45720" rtlCol="0" anchor="ctr"/>
          <a:lstStyle/>
          <a:p>
            <a:r>
              <a:rPr lang="en-US" sz="1300" b="1">
                <a:solidFill>
                  <a:srgbClr val="0070C0"/>
                </a:solidFill>
                <a:ea typeface="+mn-lt"/>
                <a:cs typeface="+mn-lt"/>
              </a:rPr>
              <a:t>Build a Blood Bank Management System using React, TypeScript, Tailwind CSS, Lucide React, and Recharts. Use React Context for global state, no backend needed. Clean medical theme with red and blue accents, sidebar navigation, modals for forms, and toast notifications.</a:t>
            </a:r>
            <a:endParaRPr lang="en-US" sz="1300" b="1">
              <a:ea typeface="Calibri"/>
              <a:cs typeface="Calibri"/>
            </a:endParaRPr>
          </a:p>
          <a:p>
            <a:r>
              <a:rPr lang="en-US" sz="1300" b="1">
                <a:solidFill>
                  <a:srgbClr val="00B0F0"/>
                </a:solidFill>
                <a:ea typeface="+mn-lt"/>
                <a:cs typeface="+mn-lt"/>
              </a:rPr>
              <a:t>Auth</a:t>
            </a:r>
            <a:r>
              <a:rPr lang="en-US" sz="1300" b="1">
                <a:solidFill>
                  <a:srgbClr val="0070C0"/>
                </a:solidFill>
                <a:ea typeface="+mn-lt"/>
                <a:cs typeface="+mn-lt"/>
              </a:rPr>
              <a:t>: Login and Signup pages with email, password, name and role selector (Admin or Staff). After login redirect to Dashboard. Admin can add, edit, delete. Staff can only view and submit requests. Add logout in sidebar.</a:t>
            </a:r>
            <a:endParaRPr lang="en-US" sz="1300" b="1">
              <a:ea typeface="Calibri"/>
              <a:cs typeface="Calibri"/>
            </a:endParaRPr>
          </a:p>
          <a:p>
            <a:r>
              <a:rPr lang="en-US" sz="1300" b="1">
                <a:solidFill>
                  <a:srgbClr val="00B0F0"/>
                </a:solidFill>
                <a:ea typeface="+mn-lt"/>
                <a:cs typeface="+mn-lt"/>
              </a:rPr>
              <a:t>Pages</a:t>
            </a:r>
            <a:r>
              <a:rPr lang="en-US" sz="1300" b="1">
                <a:solidFill>
                  <a:srgbClr val="0070C0"/>
                </a:solidFill>
                <a:ea typeface="+mn-lt"/>
                <a:cs typeface="+mn-lt"/>
              </a:rPr>
              <a:t>: Dashboard, Inventory, Donors, Requests, Alerts, Reports.</a:t>
            </a:r>
            <a:endParaRPr lang="en-US" sz="1300" b="1">
              <a:ea typeface="Calibri"/>
              <a:cs typeface="Calibri"/>
            </a:endParaRPr>
          </a:p>
          <a:p>
            <a:r>
              <a:rPr lang="en-US" sz="1300" b="1">
                <a:solidFill>
                  <a:srgbClr val="00B0F0"/>
                </a:solidFill>
                <a:ea typeface="+mn-lt"/>
                <a:cs typeface="+mn-lt"/>
              </a:rPr>
              <a:t>Features</a:t>
            </a:r>
            <a:r>
              <a:rPr lang="en-US" sz="1300" b="1">
                <a:solidFill>
                  <a:srgbClr val="0070C0"/>
                </a:solidFill>
                <a:ea typeface="+mn-lt"/>
                <a:cs typeface="+mn-lt"/>
              </a:rPr>
              <a:t>: Track 8 blood types with color-coded stock (green &gt;20, yellow 5–20, red &lt;5). Donor registry with 90-day eligibility check. Request form with Normal, Urgent, Emergency urgency. Auto-deduct inventory on fulfillment. Emergency full-screen banner, low stock warnings, bell icon with alert badge. Bar and pie charts in reports.</a:t>
            </a:r>
            <a:endParaRPr lang="en-US" sz="1300" b="1">
              <a:ea typeface="Calibri"/>
              <a:cs typeface="Calibri"/>
            </a:endParaRPr>
          </a:p>
          <a:p>
            <a:r>
              <a:rPr lang="en-US" sz="1300" b="1">
                <a:solidFill>
                  <a:srgbClr val="0070C0"/>
                </a:solidFill>
                <a:ea typeface="+mn-lt"/>
                <a:cs typeface="+mn-lt"/>
              </a:rPr>
              <a:t>Seed data: 8 blood types with 3 critically low, 10 donors, 5 requests, 2 active emergency alerts.</a:t>
            </a:r>
            <a:endParaRPr lang="en-US" sz="1300" b="1">
              <a:ea typeface="Calibri"/>
              <a:cs typeface="Calibri"/>
            </a:endParaRPr>
          </a:p>
          <a:p>
            <a:endParaRPr lang="en-US" sz="1300" b="1">
              <a:solidFill>
                <a:srgbClr val="0070C0"/>
              </a:solidFill>
              <a:ea typeface="Calibri"/>
              <a:cs typeface="Calibri"/>
            </a:endParaRPr>
          </a:p>
        </p:txBody>
      </p:sp>
      <p:sp>
        <p:nvSpPr>
          <p:cNvPr id="12" name="Shape 10"/>
          <p:cNvSpPr/>
          <p:nvPr/>
        </p:nvSpPr>
        <p:spPr>
          <a:xfrm>
            <a:off x="274320" y="3497580"/>
            <a:ext cx="4114800" cy="1508760"/>
          </a:xfrm>
          <a:prstGeom prst="rect">
            <a:avLst/>
          </a:prstGeom>
          <a:solidFill>
            <a:srgbClr val="FFFFFF"/>
          </a:solidFill>
          <a:ln w="6350">
            <a:solidFill>
              <a:srgbClr val="E5E7EB"/>
            </a:solidFill>
            <a:prstDash val="solid"/>
          </a:ln>
          <a:effectLst>
            <a:outerShdw blurRad="50800" dist="25400" dir="8100000" algn="bl" rotWithShape="0">
              <a:srgbClr val="000000">
                <a:alpha val="6000"/>
              </a:srgbClr>
            </a:outerShdw>
          </a:effectLst>
        </p:spPr>
        <p:txBody>
          <a:bodyPr/>
          <a:lstStyle/>
          <a:p>
            <a:endParaRPr lang="en-IN"/>
          </a:p>
        </p:txBody>
      </p:sp>
      <p:sp>
        <p:nvSpPr>
          <p:cNvPr id="13" name="Shape 11"/>
          <p:cNvSpPr/>
          <p:nvPr/>
        </p:nvSpPr>
        <p:spPr>
          <a:xfrm>
            <a:off x="274320" y="3497580"/>
            <a:ext cx="54864" cy="1508760"/>
          </a:xfrm>
          <a:prstGeom prst="rect">
            <a:avLst/>
          </a:prstGeom>
          <a:solidFill>
            <a:srgbClr val="065F46"/>
          </a:solidFill>
          <a:ln w="12700">
            <a:solidFill>
              <a:srgbClr val="065F46"/>
            </a:solidFill>
            <a:prstDash val="solid"/>
          </a:ln>
        </p:spPr>
        <p:txBody>
          <a:bodyPr/>
          <a:lstStyle/>
          <a:p>
            <a:endParaRPr lang="en-IN"/>
          </a:p>
        </p:txBody>
      </p:sp>
      <p:sp>
        <p:nvSpPr>
          <p:cNvPr id="14" name="Text 12"/>
          <p:cNvSpPr/>
          <p:nvPr/>
        </p:nvSpPr>
        <p:spPr>
          <a:xfrm>
            <a:off x="502920" y="3456432"/>
            <a:ext cx="3657600" cy="347472"/>
          </a:xfrm>
          <a:prstGeom prst="rect">
            <a:avLst/>
          </a:prstGeom>
          <a:noFill/>
          <a:ln/>
        </p:spPr>
        <p:txBody>
          <a:bodyPr wrap="square" rtlCol="0" anchor="ctr"/>
          <a:lstStyle/>
          <a:p>
            <a:pPr marL="0" indent="0">
              <a:buNone/>
            </a:pPr>
            <a:r>
              <a:rPr lang="en-US" sz="1200" b="1">
                <a:solidFill>
                  <a:srgbClr val="065F46"/>
                </a:solidFill>
                <a:latin typeface="Calibri" pitchFamily="34" charset="0"/>
                <a:ea typeface="Calibri" pitchFamily="34" charset="-122"/>
                <a:cs typeface="Calibri" pitchFamily="34" charset="-120"/>
              </a:rPr>
              <a:t>What Bolt generates</a:t>
            </a:r>
            <a:endParaRPr lang="en-US" sz="1200"/>
          </a:p>
        </p:txBody>
      </p:sp>
      <p:sp>
        <p:nvSpPr>
          <p:cNvPr id="15" name="Shape 13"/>
          <p:cNvSpPr/>
          <p:nvPr/>
        </p:nvSpPr>
        <p:spPr>
          <a:xfrm>
            <a:off x="502920" y="3886200"/>
            <a:ext cx="91440" cy="91440"/>
          </a:xfrm>
          <a:prstGeom prst="ellipse">
            <a:avLst/>
          </a:prstGeom>
          <a:solidFill>
            <a:srgbClr val="065F46"/>
          </a:solidFill>
          <a:ln w="12700">
            <a:solidFill>
              <a:srgbClr val="065F46"/>
            </a:solidFill>
            <a:prstDash val="solid"/>
          </a:ln>
        </p:spPr>
        <p:txBody>
          <a:bodyPr/>
          <a:lstStyle/>
          <a:p>
            <a:endParaRPr lang="en-IN"/>
          </a:p>
        </p:txBody>
      </p:sp>
      <p:sp>
        <p:nvSpPr>
          <p:cNvPr id="16" name="Text 14"/>
          <p:cNvSpPr/>
          <p:nvPr/>
        </p:nvSpPr>
        <p:spPr>
          <a:xfrm>
            <a:off x="658368" y="3822192"/>
            <a:ext cx="3566160" cy="292608"/>
          </a:xfrm>
          <a:prstGeom prst="rect">
            <a:avLst/>
          </a:prstGeom>
          <a:noFill/>
          <a:ln/>
        </p:spPr>
        <p:txBody>
          <a:bodyPr wrap="square" rtlCol="0" anchor="ctr"/>
          <a:lstStyle/>
          <a:p>
            <a:pPr marL="0" indent="0">
              <a:buNone/>
            </a:pPr>
            <a:r>
              <a:rPr lang="en-US" sz="1100">
                <a:solidFill>
                  <a:srgbClr val="374151"/>
                </a:solidFill>
                <a:latin typeface="Calibri" pitchFamily="34" charset="0"/>
                <a:ea typeface="Calibri" pitchFamily="34" charset="-122"/>
                <a:cs typeface="Calibri" pitchFamily="34" charset="-120"/>
              </a:rPr>
              <a:t>React frontend with components and routing</a:t>
            </a:r>
            <a:endParaRPr lang="en-US" sz="1100"/>
          </a:p>
        </p:txBody>
      </p:sp>
      <p:sp>
        <p:nvSpPr>
          <p:cNvPr id="17" name="Shape 15"/>
          <p:cNvSpPr/>
          <p:nvPr/>
        </p:nvSpPr>
        <p:spPr>
          <a:xfrm>
            <a:off x="502920" y="4206240"/>
            <a:ext cx="91440" cy="91440"/>
          </a:xfrm>
          <a:prstGeom prst="ellipse">
            <a:avLst/>
          </a:prstGeom>
          <a:solidFill>
            <a:srgbClr val="065F46"/>
          </a:solidFill>
          <a:ln w="12700">
            <a:solidFill>
              <a:srgbClr val="065F46"/>
            </a:solidFill>
            <a:prstDash val="solid"/>
          </a:ln>
        </p:spPr>
        <p:txBody>
          <a:bodyPr/>
          <a:lstStyle/>
          <a:p>
            <a:endParaRPr lang="en-IN"/>
          </a:p>
        </p:txBody>
      </p:sp>
      <p:sp>
        <p:nvSpPr>
          <p:cNvPr id="18" name="Text 16"/>
          <p:cNvSpPr/>
          <p:nvPr/>
        </p:nvSpPr>
        <p:spPr>
          <a:xfrm>
            <a:off x="658368" y="4142232"/>
            <a:ext cx="3566160" cy="292608"/>
          </a:xfrm>
          <a:prstGeom prst="rect">
            <a:avLst/>
          </a:prstGeom>
          <a:noFill/>
          <a:ln/>
        </p:spPr>
        <p:txBody>
          <a:bodyPr wrap="square" rtlCol="0" anchor="ctr"/>
          <a:lstStyle/>
          <a:p>
            <a:pPr marL="0" indent="0">
              <a:buNone/>
            </a:pPr>
            <a:r>
              <a:rPr lang="en-US" sz="1100">
                <a:solidFill>
                  <a:srgbClr val="374151"/>
                </a:solidFill>
                <a:latin typeface="Calibri" pitchFamily="34" charset="0"/>
                <a:ea typeface="Calibri" pitchFamily="34" charset="-122"/>
                <a:cs typeface="Calibri" pitchFamily="34" charset="-120"/>
              </a:rPr>
              <a:t>Express.js backend with API endpoints</a:t>
            </a:r>
            <a:endParaRPr lang="en-US" sz="1100"/>
          </a:p>
        </p:txBody>
      </p:sp>
      <p:sp>
        <p:nvSpPr>
          <p:cNvPr id="19" name="Shape 17"/>
          <p:cNvSpPr/>
          <p:nvPr/>
        </p:nvSpPr>
        <p:spPr>
          <a:xfrm>
            <a:off x="502920" y="4526280"/>
            <a:ext cx="91440" cy="91440"/>
          </a:xfrm>
          <a:prstGeom prst="ellipse">
            <a:avLst/>
          </a:prstGeom>
          <a:solidFill>
            <a:srgbClr val="065F46"/>
          </a:solidFill>
          <a:ln w="12700">
            <a:solidFill>
              <a:srgbClr val="065F46"/>
            </a:solidFill>
            <a:prstDash val="solid"/>
          </a:ln>
        </p:spPr>
        <p:txBody>
          <a:bodyPr/>
          <a:lstStyle/>
          <a:p>
            <a:endParaRPr lang="en-IN"/>
          </a:p>
        </p:txBody>
      </p:sp>
      <p:sp>
        <p:nvSpPr>
          <p:cNvPr id="20" name="Text 18"/>
          <p:cNvSpPr/>
          <p:nvPr/>
        </p:nvSpPr>
        <p:spPr>
          <a:xfrm>
            <a:off x="658368" y="4462272"/>
            <a:ext cx="3566160" cy="292608"/>
          </a:xfrm>
          <a:prstGeom prst="rect">
            <a:avLst/>
          </a:prstGeom>
          <a:noFill/>
          <a:ln/>
        </p:spPr>
        <p:txBody>
          <a:bodyPr wrap="square" rtlCol="0" anchor="ctr"/>
          <a:lstStyle/>
          <a:p>
            <a:pPr marL="0" indent="0">
              <a:buNone/>
            </a:pPr>
            <a:r>
              <a:rPr lang="en-US" sz="1100">
                <a:solidFill>
                  <a:srgbClr val="374151"/>
                </a:solidFill>
                <a:latin typeface="Calibri" pitchFamily="34" charset="0"/>
                <a:ea typeface="Calibri" pitchFamily="34" charset="-122"/>
                <a:cs typeface="Calibri" pitchFamily="34" charset="-120"/>
              </a:rPr>
              <a:t>Database schema and authentication</a:t>
            </a:r>
            <a:endParaRPr lang="en-US" sz="1100"/>
          </a:p>
        </p:txBody>
      </p:sp>
      <p:sp>
        <p:nvSpPr>
          <p:cNvPr id="21" name="Shape 19"/>
          <p:cNvSpPr/>
          <p:nvPr/>
        </p:nvSpPr>
        <p:spPr>
          <a:xfrm>
            <a:off x="4663440" y="3470148"/>
            <a:ext cx="4206240" cy="1508760"/>
          </a:xfrm>
          <a:prstGeom prst="rect">
            <a:avLst/>
          </a:prstGeom>
          <a:solidFill>
            <a:srgbClr val="FFFFFF"/>
          </a:solidFill>
          <a:ln w="6350">
            <a:solidFill>
              <a:srgbClr val="E5E7EB"/>
            </a:solidFill>
            <a:prstDash val="solid"/>
          </a:ln>
          <a:effectLst>
            <a:outerShdw blurRad="50800" dist="25400" dir="8100000" algn="bl" rotWithShape="0">
              <a:srgbClr val="000000">
                <a:alpha val="6000"/>
              </a:srgbClr>
            </a:outerShdw>
          </a:effectLst>
        </p:spPr>
        <p:txBody>
          <a:bodyPr/>
          <a:lstStyle/>
          <a:p>
            <a:endParaRPr lang="en-IN"/>
          </a:p>
        </p:txBody>
      </p:sp>
      <p:sp>
        <p:nvSpPr>
          <p:cNvPr id="22" name="Shape 20"/>
          <p:cNvSpPr/>
          <p:nvPr/>
        </p:nvSpPr>
        <p:spPr>
          <a:xfrm>
            <a:off x="4663440" y="3470148"/>
            <a:ext cx="54864" cy="1508760"/>
          </a:xfrm>
          <a:prstGeom prst="rect">
            <a:avLst/>
          </a:prstGeom>
          <a:solidFill>
            <a:srgbClr val="6D28D9"/>
          </a:solidFill>
          <a:ln w="12700">
            <a:solidFill>
              <a:srgbClr val="6D28D9"/>
            </a:solidFill>
            <a:prstDash val="solid"/>
          </a:ln>
        </p:spPr>
        <p:txBody>
          <a:bodyPr/>
          <a:lstStyle/>
          <a:p>
            <a:endParaRPr lang="en-IN"/>
          </a:p>
        </p:txBody>
      </p:sp>
      <p:sp>
        <p:nvSpPr>
          <p:cNvPr id="23" name="Text 21"/>
          <p:cNvSpPr/>
          <p:nvPr/>
        </p:nvSpPr>
        <p:spPr>
          <a:xfrm>
            <a:off x="4892040" y="3534156"/>
            <a:ext cx="3749040" cy="347472"/>
          </a:xfrm>
          <a:prstGeom prst="rect">
            <a:avLst/>
          </a:prstGeom>
          <a:noFill/>
          <a:ln/>
        </p:spPr>
        <p:txBody>
          <a:bodyPr wrap="square" lIns="91440" tIns="45720" rIns="91440" bIns="45720" rtlCol="0" anchor="ctr"/>
          <a:lstStyle/>
          <a:p>
            <a:pPr marL="0" indent="0">
              <a:buNone/>
            </a:pPr>
            <a:r>
              <a:rPr lang="en-US" sz="1200" b="1">
                <a:solidFill>
                  <a:srgbClr val="6D28D9"/>
                </a:solidFill>
                <a:latin typeface="Calibri" pitchFamily="34" charset="0"/>
                <a:ea typeface="Calibri" pitchFamily="34" charset="-122"/>
                <a:cs typeface="Calibri" pitchFamily="34" charset="-120"/>
              </a:rPr>
              <a:t>Then iterate with a follow-up prompt</a:t>
            </a:r>
          </a:p>
          <a:p>
            <a:endParaRPr lang="en-US" sz="1200" b="1">
              <a:solidFill>
                <a:srgbClr val="6D28D9"/>
              </a:solidFill>
              <a:ea typeface="Calibri"/>
              <a:cs typeface="Calibri"/>
            </a:endParaRPr>
          </a:p>
        </p:txBody>
      </p:sp>
      <p:sp>
        <p:nvSpPr>
          <p:cNvPr id="24" name="Text 22"/>
          <p:cNvSpPr/>
          <p:nvPr/>
        </p:nvSpPr>
        <p:spPr>
          <a:xfrm>
            <a:off x="5070348" y="3707892"/>
            <a:ext cx="3570732" cy="1179576"/>
          </a:xfrm>
          <a:prstGeom prst="rect">
            <a:avLst/>
          </a:prstGeom>
          <a:noFill/>
          <a:ln/>
        </p:spPr>
        <p:txBody>
          <a:bodyPr wrap="square" lIns="91440" tIns="45720" rIns="91440" bIns="45720" rtlCol="0" anchor="ctr"/>
          <a:lstStyle/>
          <a:p>
            <a:r>
              <a:rPr lang="en-US" sz="1100" i="1">
                <a:solidFill>
                  <a:srgbClr val="6D28D9"/>
                </a:solidFill>
                <a:latin typeface="Calibri"/>
                <a:ea typeface="Calibri"/>
                <a:cs typeface="Calibri"/>
              </a:rPr>
              <a:t>"</a:t>
            </a:r>
            <a:r>
              <a:rPr lang="en-US" sz="1100">
                <a:solidFill>
                  <a:srgbClr val="6D28D9"/>
                </a:solidFill>
                <a:ea typeface="+mn-lt"/>
                <a:cs typeface="+mn-lt"/>
              </a:rPr>
              <a:t>When blood stock hits zero, automatically reject incoming requests for that type</a:t>
            </a:r>
            <a:r>
              <a:rPr lang="en-US" sz="1100" i="1">
                <a:solidFill>
                  <a:srgbClr val="6D28D9"/>
                </a:solidFill>
                <a:latin typeface="Calibri"/>
                <a:ea typeface="Calibri"/>
                <a:cs typeface="Calibri"/>
              </a:rPr>
              <a:t>"</a:t>
            </a:r>
            <a:endParaRPr lang="en-US" sz="1100">
              <a:ea typeface="Calibri"/>
              <a:cs typeface="Calibri"/>
            </a:endParaRPr>
          </a:p>
          <a:p>
            <a:r>
              <a:rPr lang="en-US" sz="1100" i="1">
                <a:solidFill>
                  <a:srgbClr val="6D28D9"/>
                </a:solidFill>
                <a:ea typeface="+mn-lt"/>
                <a:cs typeface="+mn-lt"/>
              </a:rPr>
              <a:t>                                  OR</a:t>
            </a:r>
          </a:p>
          <a:p>
            <a:r>
              <a:rPr lang="en-US" sz="1100">
                <a:solidFill>
                  <a:srgbClr val="6D28D9"/>
                </a:solidFill>
                <a:ea typeface="+mn-lt"/>
                <a:cs typeface="+mn-lt"/>
              </a:rPr>
              <a:t>"When a request is fulfilled, automatically deduct the units from inventory" </a:t>
            </a:r>
            <a:endParaRPr lang="en-US" sz="1100">
              <a:solidFill>
                <a:srgbClr val="000000"/>
              </a:solidFill>
              <a:ea typeface="+mn-lt"/>
              <a:cs typeface="+mn-lt"/>
            </a:endParaRPr>
          </a:p>
          <a:p>
            <a:r>
              <a:rPr lang="en-US" sz="1100">
                <a:solidFill>
                  <a:srgbClr val="6D28D9"/>
                </a:solidFill>
                <a:ea typeface="+mn-lt"/>
                <a:cs typeface="+mn-lt"/>
              </a:rPr>
              <a:t>                                  </a:t>
            </a:r>
            <a:r>
              <a:rPr lang="en-US" sz="1100" i="1">
                <a:solidFill>
                  <a:srgbClr val="6D28D9"/>
                </a:solidFill>
                <a:ea typeface="+mn-lt"/>
                <a:cs typeface="+mn-lt"/>
              </a:rPr>
              <a:t>OR</a:t>
            </a:r>
          </a:p>
          <a:p>
            <a:r>
              <a:rPr lang="en-US" sz="1100">
                <a:solidFill>
                  <a:srgbClr val="6D28D9"/>
                </a:solidFill>
                <a:ea typeface="+mn-lt"/>
                <a:cs typeface="+mn-lt"/>
              </a:rPr>
              <a:t>"Add a print button to the reports page"</a:t>
            </a:r>
          </a:p>
        </p:txBody>
      </p:sp>
      <p:sp>
        <p:nvSpPr>
          <p:cNvPr id="27" name="TextBox 26">
            <a:extLst>
              <a:ext uri="{FF2B5EF4-FFF2-40B4-BE49-F238E27FC236}">
                <a16:creationId xmlns:a16="http://schemas.microsoft.com/office/drawing/2014/main" id="{694A36C8-C08F-2DFA-ECC7-65C947E1298B}"/>
              </a:ext>
            </a:extLst>
          </p:cNvPr>
          <p:cNvSpPr txBox="1"/>
          <p:nvPr/>
        </p:nvSpPr>
        <p:spPr>
          <a:xfrm>
            <a:off x="631902" y="1375317"/>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0D9488"/>
          </a:solidFill>
          <a:ln w="12700">
            <a:solidFill>
              <a:srgbClr val="0D9488"/>
            </a:solidFill>
            <a:prstDash val="solid"/>
          </a:ln>
        </p:spPr>
        <p:txBody>
          <a:bodyPr/>
          <a:lstStyle/>
          <a:p>
            <a:endParaRPr lang="en-IN"/>
          </a:p>
        </p:txBody>
      </p:sp>
      <p:sp>
        <p:nvSpPr>
          <p:cNvPr id="3" name="Text 1"/>
          <p:cNvSpPr/>
          <p:nvPr/>
        </p:nvSpPr>
        <p:spPr>
          <a:xfrm>
            <a:off x="731520" y="731520"/>
            <a:ext cx="8229600" cy="457200"/>
          </a:xfrm>
          <a:prstGeom prst="rect">
            <a:avLst/>
          </a:prstGeom>
          <a:noFill/>
          <a:ln/>
        </p:spPr>
        <p:txBody>
          <a:bodyPr wrap="square" rtlCol="0" anchor="ctr"/>
          <a:lstStyle/>
          <a:p>
            <a:pPr marL="0" indent="0">
              <a:buNone/>
            </a:pPr>
            <a:r>
              <a:rPr lang="en-US" sz="1300" b="1" kern="0" spc="400">
                <a:solidFill>
                  <a:srgbClr val="0D9488"/>
                </a:solidFill>
                <a:latin typeface="Calibri" pitchFamily="34" charset="0"/>
                <a:ea typeface="Calibri" pitchFamily="34" charset="-122"/>
                <a:cs typeface="Calibri" pitchFamily="34" charset="-120"/>
              </a:rPr>
              <a:t>TOPIC 2</a:t>
            </a:r>
            <a:endParaRPr lang="en-US" sz="1300"/>
          </a:p>
        </p:txBody>
      </p:sp>
      <p:sp>
        <p:nvSpPr>
          <p:cNvPr id="4" name="Text 2"/>
          <p:cNvSpPr/>
          <p:nvPr/>
        </p:nvSpPr>
        <p:spPr>
          <a:xfrm>
            <a:off x="731520" y="1188720"/>
            <a:ext cx="8229600" cy="1005840"/>
          </a:xfrm>
          <a:prstGeom prst="rect">
            <a:avLst/>
          </a:prstGeom>
          <a:noFill/>
          <a:ln/>
        </p:spPr>
        <p:txBody>
          <a:bodyPr wrap="square" rtlCol="0" anchor="ctr"/>
          <a:lstStyle/>
          <a:p>
            <a:pPr marL="0" indent="0">
              <a:buNone/>
            </a:pPr>
            <a:r>
              <a:rPr lang="en-US" sz="4800" b="1">
                <a:solidFill>
                  <a:srgbClr val="111111"/>
                </a:solidFill>
                <a:latin typeface="Calibri" pitchFamily="34" charset="0"/>
                <a:ea typeface="Calibri" pitchFamily="34" charset="-122"/>
                <a:cs typeface="Calibri" pitchFamily="34" charset="-120"/>
              </a:rPr>
              <a:t>Backend Development</a:t>
            </a:r>
            <a:endParaRPr lang="en-US" sz="4800"/>
          </a:p>
        </p:txBody>
      </p:sp>
      <p:sp>
        <p:nvSpPr>
          <p:cNvPr id="5" name="Text 3"/>
          <p:cNvSpPr/>
          <p:nvPr/>
        </p:nvSpPr>
        <p:spPr>
          <a:xfrm>
            <a:off x="731520" y="2148840"/>
            <a:ext cx="8229600" cy="640080"/>
          </a:xfrm>
          <a:prstGeom prst="rect">
            <a:avLst/>
          </a:prstGeom>
          <a:noFill/>
          <a:ln/>
        </p:spPr>
        <p:txBody>
          <a:bodyPr wrap="square" rtlCol="0" anchor="ctr"/>
          <a:lstStyle/>
          <a:p>
            <a:pPr marL="0" indent="0">
              <a:buNone/>
            </a:pPr>
            <a:r>
              <a:rPr lang="en-US" sz="2800">
                <a:solidFill>
                  <a:srgbClr val="6B7280"/>
                </a:solidFill>
                <a:latin typeface="Calibri" pitchFamily="34" charset="0"/>
                <a:ea typeface="Calibri" pitchFamily="34" charset="-122"/>
                <a:cs typeface="Calibri" pitchFamily="34" charset="-120"/>
              </a:rPr>
              <a:t>with Windsurf IDE</a:t>
            </a:r>
            <a:endParaRPr lang="en-US" sz="2800"/>
          </a:p>
        </p:txBody>
      </p:sp>
      <p:sp>
        <p:nvSpPr>
          <p:cNvPr id="6" name="Shape 4"/>
          <p:cNvSpPr/>
          <p:nvPr/>
        </p:nvSpPr>
        <p:spPr>
          <a:xfrm>
            <a:off x="731520" y="2926080"/>
            <a:ext cx="3657600" cy="0"/>
          </a:xfrm>
          <a:prstGeom prst="line">
            <a:avLst/>
          </a:prstGeom>
          <a:noFill/>
          <a:ln w="6350">
            <a:solidFill>
              <a:srgbClr val="E5E7EB"/>
            </a:solidFill>
            <a:prstDash val="solid"/>
          </a:ln>
        </p:spPr>
        <p:txBody>
          <a:bodyPr/>
          <a:lstStyle/>
          <a:p>
            <a:endParaRPr lang="en-IN"/>
          </a:p>
        </p:txBody>
      </p:sp>
      <p:sp>
        <p:nvSpPr>
          <p:cNvPr id="7" name="Text 5"/>
          <p:cNvSpPr/>
          <p:nvPr/>
        </p:nvSpPr>
        <p:spPr>
          <a:xfrm>
            <a:off x="731520" y="3090672"/>
            <a:ext cx="4572000" cy="365760"/>
          </a:xfrm>
          <a:prstGeom prst="rect">
            <a:avLst/>
          </a:prstGeom>
          <a:noFill/>
          <a:ln/>
        </p:spPr>
        <p:txBody>
          <a:bodyPr wrap="square" rtlCol="0" anchor="ctr"/>
          <a:lstStyle/>
          <a:p>
            <a:pPr marL="0" indent="0">
              <a:buNone/>
            </a:pPr>
            <a:r>
              <a:rPr lang="en-US" sz="1200">
                <a:solidFill>
                  <a:srgbClr val="6B7280"/>
                </a:solidFill>
                <a:latin typeface="Calibri" pitchFamily="34" charset="0"/>
                <a:ea typeface="Calibri" pitchFamily="34" charset="-122"/>
                <a:cs typeface="Calibri" pitchFamily="34" charset="-120"/>
              </a:rPr>
              <a:t>11:25 – 11:50  |   25 minutes</a:t>
            </a:r>
            <a:endParaRPr lang="en-US" sz="1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w="12700">
            <a:solidFill>
              <a:srgbClr val="0D9488"/>
            </a:solidFill>
            <a:prstDash val="solid"/>
          </a:ln>
        </p:spPr>
        <p:txBody>
          <a:bodyPr/>
          <a:lstStyle/>
          <a:p>
            <a:endParaRPr lang="en-IN"/>
          </a:p>
        </p:txBody>
      </p:sp>
      <p:sp>
        <p:nvSpPr>
          <p:cNvPr id="3" name="Text 1"/>
          <p:cNvSpPr/>
          <p:nvPr/>
        </p:nvSpPr>
        <p:spPr>
          <a:xfrm>
            <a:off x="365760" y="164592"/>
            <a:ext cx="6858000" cy="457200"/>
          </a:xfrm>
          <a:prstGeom prst="rect">
            <a:avLst/>
          </a:prstGeom>
          <a:noFill/>
          <a:ln/>
        </p:spPr>
        <p:txBody>
          <a:bodyPr wrap="square" rtlCol="0" anchor="ctr"/>
          <a:lstStyle/>
          <a:p>
            <a:pPr marL="0" indent="0">
              <a:buNone/>
            </a:pPr>
            <a:r>
              <a:rPr lang="en-US" sz="1800" b="1">
                <a:solidFill>
                  <a:srgbClr val="111111"/>
                </a:solidFill>
                <a:latin typeface="Calibri" pitchFamily="34" charset="0"/>
                <a:ea typeface="Calibri" pitchFamily="34" charset="-122"/>
                <a:cs typeface="Calibri" pitchFamily="34" charset="-120"/>
              </a:rPr>
              <a:t>Windsurf — AI-Powered IDE</a:t>
            </a:r>
            <a:endParaRPr lang="en-US" sz="1800"/>
          </a:p>
        </p:txBody>
      </p:sp>
      <p:sp>
        <p:nvSpPr>
          <p:cNvPr id="4" name="Text 2"/>
          <p:cNvSpPr/>
          <p:nvPr/>
        </p:nvSpPr>
        <p:spPr>
          <a:xfrm>
            <a:off x="7223760" y="164592"/>
            <a:ext cx="1645920" cy="457200"/>
          </a:xfrm>
          <a:prstGeom prst="rect">
            <a:avLst/>
          </a:prstGeom>
          <a:noFill/>
          <a:ln/>
        </p:spPr>
        <p:txBody>
          <a:bodyPr wrap="square" lIns="91440" tIns="45720" rIns="91440" bIns="45720" rtlCol="0" anchor="ctr"/>
          <a:lstStyle/>
          <a:p>
            <a:pPr marL="0" indent="0" algn="r">
              <a:buNone/>
            </a:pPr>
            <a:endParaRPr lang="en-US" sz="1100">
              <a:solidFill>
                <a:srgbClr val="6B7280"/>
              </a:solidFill>
              <a:ea typeface="Calibri"/>
              <a:cs typeface="Calibri"/>
            </a:endParaRPr>
          </a:p>
        </p:txBody>
      </p:sp>
      <p:sp>
        <p:nvSpPr>
          <p:cNvPr id="5" name="Shape 3"/>
          <p:cNvSpPr/>
          <p:nvPr/>
        </p:nvSpPr>
        <p:spPr>
          <a:xfrm>
            <a:off x="365760" y="658368"/>
            <a:ext cx="8412480" cy="0"/>
          </a:xfrm>
          <a:prstGeom prst="line">
            <a:avLst/>
          </a:prstGeom>
          <a:noFill/>
          <a:ln w="6350">
            <a:solidFill>
              <a:srgbClr val="E5E7EB"/>
            </a:solidFill>
            <a:prstDash val="solid"/>
          </a:ln>
        </p:spPr>
        <p:txBody>
          <a:bodyPr/>
          <a:lstStyle/>
          <a:p>
            <a:endParaRPr lang="en-IN"/>
          </a:p>
        </p:txBody>
      </p:sp>
      <p:sp>
        <p:nvSpPr>
          <p:cNvPr id="6" name="Text 4"/>
          <p:cNvSpPr/>
          <p:nvPr/>
        </p:nvSpPr>
        <p:spPr>
          <a:xfrm>
            <a:off x="4572000" y="804672"/>
            <a:ext cx="4297680" cy="274320"/>
          </a:xfrm>
          <a:prstGeom prst="rect">
            <a:avLst/>
          </a:prstGeom>
          <a:noFill/>
          <a:ln/>
        </p:spPr>
        <p:txBody>
          <a:bodyPr wrap="square" lIns="91440" tIns="45720" rIns="91440" bIns="45720" rtlCol="0" anchor="ctr"/>
          <a:lstStyle/>
          <a:p>
            <a:r>
              <a:rPr lang="en-US" sz="1000" i="1">
                <a:solidFill>
                  <a:srgbClr val="6B7280"/>
                </a:solidFill>
                <a:latin typeface="Calibri"/>
                <a:ea typeface="Calibri"/>
                <a:cs typeface="Calibri"/>
              </a:rPr>
              <a:t>Windsurf in action — adding the </a:t>
            </a:r>
            <a:r>
              <a:rPr lang="en-US" sz="1000" i="1" err="1">
                <a:solidFill>
                  <a:srgbClr val="6B7280"/>
                </a:solidFill>
                <a:latin typeface="Calibri"/>
                <a:ea typeface="Calibri"/>
                <a:cs typeface="Calibri"/>
              </a:rPr>
              <a:t>supabase</a:t>
            </a:r>
            <a:r>
              <a:rPr lang="en-US" sz="1000" i="1">
                <a:solidFill>
                  <a:srgbClr val="6B7280"/>
                </a:solidFill>
                <a:latin typeface="Calibri"/>
                <a:ea typeface="Calibri"/>
                <a:cs typeface="Calibri"/>
              </a:rPr>
              <a:t> connection</a:t>
            </a:r>
          </a:p>
        </p:txBody>
      </p:sp>
      <p:pic>
        <p:nvPicPr>
          <p:cNvPr id="7" name="Image 0" descr="preencoded.png"/>
          <p:cNvPicPr>
            <a:picLocks noChangeAspect="1"/>
          </p:cNvPicPr>
          <p:nvPr/>
        </p:nvPicPr>
        <p:blipFill>
          <a:blip r:embed="rId3"/>
          <a:stretch>
            <a:fillRect/>
          </a:stretch>
        </p:blipFill>
        <p:spPr>
          <a:xfrm>
            <a:off x="4572000" y="1097280"/>
            <a:ext cx="4297680" cy="3730752"/>
          </a:xfrm>
          <a:prstGeom prst="rect">
            <a:avLst/>
          </a:prstGeom>
          <a:effectLst>
            <a:outerShdw blurRad="76200" dist="25400" dir="8100000" algn="bl" rotWithShape="0">
              <a:srgbClr val="000000">
                <a:alpha val="10000"/>
              </a:srgbClr>
            </a:outerShdw>
          </a:effectLst>
        </p:spPr>
      </p:pic>
      <p:sp>
        <p:nvSpPr>
          <p:cNvPr id="8" name="Shape 5"/>
          <p:cNvSpPr/>
          <p:nvPr/>
        </p:nvSpPr>
        <p:spPr>
          <a:xfrm>
            <a:off x="4572000" y="1097280"/>
            <a:ext cx="4297680" cy="3730752"/>
          </a:xfrm>
          <a:prstGeom prst="rect">
            <a:avLst/>
          </a:prstGeom>
          <a:solidFill>
            <a:srgbClr val="FFFFFF">
              <a:alpha val="0"/>
            </a:srgbClr>
          </a:solidFill>
          <a:ln w="6350">
            <a:solidFill>
              <a:srgbClr val="E5E7EB"/>
            </a:solidFill>
            <a:prstDash val="solid"/>
          </a:ln>
        </p:spPr>
        <p:txBody>
          <a:bodyPr/>
          <a:lstStyle/>
          <a:p>
            <a:endParaRPr lang="en-IN"/>
          </a:p>
        </p:txBody>
      </p:sp>
      <p:sp>
        <p:nvSpPr>
          <p:cNvPr id="9" name="Shape 6"/>
          <p:cNvSpPr/>
          <p:nvPr/>
        </p:nvSpPr>
        <p:spPr>
          <a:xfrm>
            <a:off x="274320" y="804672"/>
            <a:ext cx="4114800" cy="1188720"/>
          </a:xfrm>
          <a:prstGeom prst="rect">
            <a:avLst/>
          </a:prstGeom>
          <a:solidFill>
            <a:srgbClr val="FFFFFF"/>
          </a:solidFill>
          <a:ln w="6350">
            <a:solidFill>
              <a:srgbClr val="E5E7EB"/>
            </a:solidFill>
            <a:prstDash val="solid"/>
          </a:ln>
          <a:effectLst>
            <a:outerShdw blurRad="50800" dist="25400" dir="8100000" algn="bl" rotWithShape="0">
              <a:srgbClr val="000000">
                <a:alpha val="6000"/>
              </a:srgbClr>
            </a:outerShdw>
          </a:effectLst>
        </p:spPr>
        <p:txBody>
          <a:bodyPr/>
          <a:lstStyle/>
          <a:p>
            <a:endParaRPr lang="en-IN"/>
          </a:p>
        </p:txBody>
      </p:sp>
      <p:sp>
        <p:nvSpPr>
          <p:cNvPr id="10" name="Shape 7"/>
          <p:cNvSpPr/>
          <p:nvPr/>
        </p:nvSpPr>
        <p:spPr>
          <a:xfrm>
            <a:off x="274320" y="804672"/>
            <a:ext cx="54864" cy="1188720"/>
          </a:xfrm>
          <a:prstGeom prst="rect">
            <a:avLst/>
          </a:prstGeom>
          <a:solidFill>
            <a:srgbClr val="0D9488"/>
          </a:solidFill>
          <a:ln w="12700">
            <a:solidFill>
              <a:srgbClr val="0D9488"/>
            </a:solidFill>
            <a:prstDash val="solid"/>
          </a:ln>
        </p:spPr>
        <p:txBody>
          <a:bodyPr/>
          <a:lstStyle/>
          <a:p>
            <a:endParaRPr lang="en-IN"/>
          </a:p>
        </p:txBody>
      </p:sp>
      <p:sp>
        <p:nvSpPr>
          <p:cNvPr id="11" name="Text 8"/>
          <p:cNvSpPr/>
          <p:nvPr/>
        </p:nvSpPr>
        <p:spPr>
          <a:xfrm>
            <a:off x="502920" y="896112"/>
            <a:ext cx="3657600" cy="347472"/>
          </a:xfrm>
          <a:prstGeom prst="rect">
            <a:avLst/>
          </a:prstGeom>
          <a:noFill/>
          <a:ln/>
        </p:spPr>
        <p:txBody>
          <a:bodyPr wrap="square" rtlCol="0" anchor="ctr"/>
          <a:lstStyle/>
          <a:p>
            <a:pPr marL="0" indent="0">
              <a:buNone/>
            </a:pPr>
            <a:r>
              <a:rPr lang="en-US" sz="1200" b="1">
                <a:solidFill>
                  <a:srgbClr val="0D9488"/>
                </a:solidFill>
                <a:latin typeface="Calibri" pitchFamily="34" charset="0"/>
                <a:ea typeface="Calibri" pitchFamily="34" charset="-122"/>
                <a:cs typeface="Calibri" pitchFamily="34" charset="-120"/>
              </a:rPr>
              <a:t>Cascade — AI Chat Panel</a:t>
            </a:r>
            <a:endParaRPr lang="en-US" sz="1200"/>
          </a:p>
        </p:txBody>
      </p:sp>
      <p:sp>
        <p:nvSpPr>
          <p:cNvPr id="12" name="Text 9"/>
          <p:cNvSpPr/>
          <p:nvPr/>
        </p:nvSpPr>
        <p:spPr>
          <a:xfrm>
            <a:off x="502920" y="1280160"/>
            <a:ext cx="3657600" cy="640080"/>
          </a:xfrm>
          <a:prstGeom prst="rect">
            <a:avLst/>
          </a:prstGeom>
          <a:noFill/>
          <a:ln/>
        </p:spPr>
        <p:txBody>
          <a:bodyPr wrap="square" rtlCol="0" anchor="ctr"/>
          <a:lstStyle/>
          <a:p>
            <a:pPr marL="0" indent="0">
              <a:buNone/>
            </a:pPr>
            <a:r>
              <a:rPr lang="en-US" sz="1100">
                <a:solidFill>
                  <a:srgbClr val="374151"/>
                </a:solidFill>
                <a:latin typeface="Calibri" pitchFamily="34" charset="0"/>
                <a:ea typeface="Calibri" pitchFamily="34" charset="-122"/>
                <a:cs typeface="Calibri" pitchFamily="34" charset="-120"/>
              </a:rPr>
              <a:t>Describe what you want in plain English. Windsurf reads your entire codebase first, then writes the code. </a:t>
            </a:r>
          </a:p>
          <a:p>
            <a:pPr marL="0" indent="0">
              <a:buNone/>
            </a:pPr>
            <a:r>
              <a:rPr lang="en-US" sz="1100" b="1">
                <a:solidFill>
                  <a:srgbClr val="374151"/>
                </a:solidFill>
                <a:latin typeface="Calibri" pitchFamily="34" charset="0"/>
                <a:ea typeface="Calibri" pitchFamily="34" charset="-122"/>
                <a:cs typeface="Calibri" pitchFamily="34" charset="-120"/>
              </a:rPr>
              <a:t>TIP🎯</a:t>
            </a:r>
            <a:r>
              <a:rPr lang="en-US" sz="1100">
                <a:solidFill>
                  <a:srgbClr val="374151"/>
                </a:solidFill>
                <a:latin typeface="Calibri" pitchFamily="34" charset="0"/>
                <a:ea typeface="Calibri" pitchFamily="34" charset="-122"/>
                <a:cs typeface="Calibri" pitchFamily="34" charset="-120"/>
              </a:rPr>
              <a:t> :  Always start with "</a:t>
            </a:r>
            <a:r>
              <a:rPr lang="en-US" sz="1100" b="1">
                <a:solidFill>
                  <a:srgbClr val="374151"/>
                </a:solidFill>
                <a:latin typeface="Calibri" pitchFamily="34" charset="0"/>
                <a:ea typeface="Calibri" pitchFamily="34" charset="-122"/>
                <a:cs typeface="Calibri" pitchFamily="34" charset="-120"/>
              </a:rPr>
              <a:t>Look at the existing project structure...</a:t>
            </a:r>
            <a:r>
              <a:rPr lang="en-US" sz="1100">
                <a:solidFill>
                  <a:srgbClr val="374151"/>
                </a:solidFill>
                <a:latin typeface="Calibri" pitchFamily="34" charset="0"/>
                <a:ea typeface="Calibri" pitchFamily="34" charset="-122"/>
                <a:cs typeface="Calibri" pitchFamily="34" charset="-120"/>
              </a:rPr>
              <a:t>"</a:t>
            </a:r>
            <a:endParaRPr lang="en-US" sz="1100"/>
          </a:p>
        </p:txBody>
      </p:sp>
      <p:sp>
        <p:nvSpPr>
          <p:cNvPr id="13" name="Shape 10"/>
          <p:cNvSpPr/>
          <p:nvPr/>
        </p:nvSpPr>
        <p:spPr>
          <a:xfrm>
            <a:off x="274320" y="2130552"/>
            <a:ext cx="4114800" cy="1188720"/>
          </a:xfrm>
          <a:prstGeom prst="rect">
            <a:avLst/>
          </a:prstGeom>
          <a:solidFill>
            <a:srgbClr val="FFFFFF"/>
          </a:solidFill>
          <a:ln w="6350">
            <a:solidFill>
              <a:srgbClr val="E5E7EB"/>
            </a:solidFill>
            <a:prstDash val="solid"/>
          </a:ln>
          <a:effectLst>
            <a:outerShdw blurRad="50800" dist="25400" dir="8100000" algn="bl" rotWithShape="0">
              <a:srgbClr val="000000">
                <a:alpha val="6000"/>
              </a:srgbClr>
            </a:outerShdw>
          </a:effectLst>
        </p:spPr>
        <p:txBody>
          <a:bodyPr/>
          <a:lstStyle/>
          <a:p>
            <a:endParaRPr lang="en-IN"/>
          </a:p>
        </p:txBody>
      </p:sp>
      <p:sp>
        <p:nvSpPr>
          <p:cNvPr id="14" name="Shape 11"/>
          <p:cNvSpPr/>
          <p:nvPr/>
        </p:nvSpPr>
        <p:spPr>
          <a:xfrm>
            <a:off x="274320" y="2130552"/>
            <a:ext cx="54864" cy="1188720"/>
          </a:xfrm>
          <a:prstGeom prst="rect">
            <a:avLst/>
          </a:prstGeom>
          <a:solidFill>
            <a:srgbClr val="6D28D9"/>
          </a:solidFill>
          <a:ln w="12700">
            <a:solidFill>
              <a:srgbClr val="6D28D9"/>
            </a:solidFill>
            <a:prstDash val="solid"/>
          </a:ln>
        </p:spPr>
        <p:txBody>
          <a:bodyPr/>
          <a:lstStyle/>
          <a:p>
            <a:endParaRPr lang="en-IN"/>
          </a:p>
        </p:txBody>
      </p:sp>
      <p:sp>
        <p:nvSpPr>
          <p:cNvPr id="15" name="Text 12"/>
          <p:cNvSpPr/>
          <p:nvPr/>
        </p:nvSpPr>
        <p:spPr>
          <a:xfrm>
            <a:off x="502920" y="2221992"/>
            <a:ext cx="3657600" cy="347472"/>
          </a:xfrm>
          <a:prstGeom prst="rect">
            <a:avLst/>
          </a:prstGeom>
          <a:noFill/>
          <a:ln/>
        </p:spPr>
        <p:txBody>
          <a:bodyPr wrap="square" rtlCol="0" anchor="ctr"/>
          <a:lstStyle/>
          <a:p>
            <a:pPr marL="0" indent="0">
              <a:buNone/>
            </a:pPr>
            <a:r>
              <a:rPr lang="en-US" sz="1200" b="1">
                <a:solidFill>
                  <a:srgbClr val="6D28D9"/>
                </a:solidFill>
                <a:latin typeface="Calibri" pitchFamily="34" charset="0"/>
                <a:ea typeface="Calibri" pitchFamily="34" charset="-122"/>
                <a:cs typeface="Calibri" pitchFamily="34" charset="-120"/>
              </a:rPr>
              <a:t>Multi-File Awareness</a:t>
            </a:r>
            <a:endParaRPr lang="en-US" sz="1200"/>
          </a:p>
        </p:txBody>
      </p:sp>
      <p:sp>
        <p:nvSpPr>
          <p:cNvPr id="16" name="Text 13"/>
          <p:cNvSpPr/>
          <p:nvPr/>
        </p:nvSpPr>
        <p:spPr>
          <a:xfrm>
            <a:off x="502920" y="2606040"/>
            <a:ext cx="3657600" cy="640080"/>
          </a:xfrm>
          <a:prstGeom prst="rect">
            <a:avLst/>
          </a:prstGeom>
          <a:noFill/>
          <a:ln/>
        </p:spPr>
        <p:txBody>
          <a:bodyPr wrap="square" rtlCol="0" anchor="ctr"/>
          <a:lstStyle/>
          <a:p>
            <a:pPr marL="0" indent="0">
              <a:buNone/>
            </a:pPr>
            <a:r>
              <a:rPr lang="en-US" sz="1100">
                <a:solidFill>
                  <a:srgbClr val="374151"/>
                </a:solidFill>
                <a:latin typeface="Calibri" pitchFamily="34" charset="0"/>
                <a:ea typeface="Calibri" pitchFamily="34" charset="-122"/>
                <a:cs typeface="Calibri" pitchFamily="34" charset="-120"/>
              </a:rPr>
              <a:t>Unlike ChatGPT, Windsurf understands how all your files connect. It updates routes, models, and schemas together — not just one file.</a:t>
            </a:r>
            <a:endParaRPr lang="en-US" sz="1100"/>
          </a:p>
        </p:txBody>
      </p:sp>
      <p:sp>
        <p:nvSpPr>
          <p:cNvPr id="17" name="Shape 14"/>
          <p:cNvSpPr/>
          <p:nvPr/>
        </p:nvSpPr>
        <p:spPr>
          <a:xfrm>
            <a:off x="274320" y="3456432"/>
            <a:ext cx="4114800" cy="1188720"/>
          </a:xfrm>
          <a:prstGeom prst="rect">
            <a:avLst/>
          </a:prstGeom>
          <a:solidFill>
            <a:srgbClr val="FFFFFF"/>
          </a:solidFill>
          <a:ln w="6350">
            <a:solidFill>
              <a:srgbClr val="E5E7EB"/>
            </a:solidFill>
            <a:prstDash val="solid"/>
          </a:ln>
          <a:effectLst>
            <a:outerShdw blurRad="50800" dist="25400" dir="8100000" algn="bl" rotWithShape="0">
              <a:srgbClr val="000000">
                <a:alpha val="6000"/>
              </a:srgbClr>
            </a:outerShdw>
          </a:effectLst>
        </p:spPr>
        <p:txBody>
          <a:bodyPr/>
          <a:lstStyle/>
          <a:p>
            <a:endParaRPr lang="en-IN"/>
          </a:p>
        </p:txBody>
      </p:sp>
      <p:sp>
        <p:nvSpPr>
          <p:cNvPr id="18" name="Shape 15"/>
          <p:cNvSpPr/>
          <p:nvPr/>
        </p:nvSpPr>
        <p:spPr>
          <a:xfrm>
            <a:off x="274320" y="3456432"/>
            <a:ext cx="54864" cy="1188720"/>
          </a:xfrm>
          <a:prstGeom prst="rect">
            <a:avLst/>
          </a:prstGeom>
          <a:solidFill>
            <a:srgbClr val="B45309"/>
          </a:solidFill>
          <a:ln w="12700">
            <a:solidFill>
              <a:srgbClr val="B45309"/>
            </a:solidFill>
            <a:prstDash val="solid"/>
          </a:ln>
        </p:spPr>
        <p:txBody>
          <a:bodyPr/>
          <a:lstStyle/>
          <a:p>
            <a:endParaRPr lang="en-IN"/>
          </a:p>
        </p:txBody>
      </p:sp>
      <p:sp>
        <p:nvSpPr>
          <p:cNvPr id="19" name="Text 16"/>
          <p:cNvSpPr/>
          <p:nvPr/>
        </p:nvSpPr>
        <p:spPr>
          <a:xfrm>
            <a:off x="502920" y="3547872"/>
            <a:ext cx="3657600" cy="347472"/>
          </a:xfrm>
          <a:prstGeom prst="rect">
            <a:avLst/>
          </a:prstGeom>
          <a:noFill/>
          <a:ln/>
        </p:spPr>
        <p:txBody>
          <a:bodyPr wrap="square" rtlCol="0" anchor="ctr"/>
          <a:lstStyle/>
          <a:p>
            <a:pPr marL="0" indent="0">
              <a:buNone/>
            </a:pPr>
            <a:r>
              <a:rPr lang="en-US" sz="1200" b="1">
                <a:solidFill>
                  <a:srgbClr val="B45309"/>
                </a:solidFill>
                <a:latin typeface="Calibri" pitchFamily="34" charset="0"/>
                <a:ea typeface="Calibri" pitchFamily="34" charset="-122"/>
                <a:cs typeface="Calibri" pitchFamily="34" charset="-120"/>
              </a:rPr>
              <a:t>Explain and Refactor</a:t>
            </a:r>
            <a:endParaRPr lang="en-US" sz="1200"/>
          </a:p>
        </p:txBody>
      </p:sp>
      <p:sp>
        <p:nvSpPr>
          <p:cNvPr id="20" name="Text 17"/>
          <p:cNvSpPr/>
          <p:nvPr/>
        </p:nvSpPr>
        <p:spPr>
          <a:xfrm>
            <a:off x="502920" y="3931920"/>
            <a:ext cx="3657600" cy="640080"/>
          </a:xfrm>
          <a:prstGeom prst="rect">
            <a:avLst/>
          </a:prstGeom>
          <a:noFill/>
          <a:ln/>
        </p:spPr>
        <p:txBody>
          <a:bodyPr wrap="square" lIns="91440" tIns="45720" rIns="91440" bIns="45720" rtlCol="0" anchor="ctr"/>
          <a:lstStyle/>
          <a:p>
            <a:pPr marL="0" indent="0">
              <a:buNone/>
            </a:pPr>
            <a:r>
              <a:rPr lang="en-US" sz="1100">
                <a:solidFill>
                  <a:srgbClr val="374151"/>
                </a:solidFill>
                <a:latin typeface="Calibri"/>
                <a:ea typeface="Calibri"/>
                <a:cs typeface="Calibri"/>
              </a:rPr>
              <a:t>Select any code block, open chat (Ctrl+L), and ask it to explain line by line or refactor for readability. This is how beginners learn.</a:t>
            </a:r>
            <a:endParaRPr lang="en-US" sz="1100">
              <a:latin typeface="Calibri"/>
              <a:ea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w="12700">
            <a:solidFill>
              <a:srgbClr val="0D9488"/>
            </a:solidFill>
            <a:prstDash val="solid"/>
          </a:ln>
        </p:spPr>
        <p:txBody>
          <a:bodyPr/>
          <a:lstStyle/>
          <a:p>
            <a:endParaRPr lang="en-IN"/>
          </a:p>
        </p:txBody>
      </p:sp>
      <p:sp>
        <p:nvSpPr>
          <p:cNvPr id="3" name="Text 1"/>
          <p:cNvSpPr/>
          <p:nvPr/>
        </p:nvSpPr>
        <p:spPr>
          <a:xfrm>
            <a:off x="365760" y="164592"/>
            <a:ext cx="6858000" cy="457200"/>
          </a:xfrm>
          <a:prstGeom prst="rect">
            <a:avLst/>
          </a:prstGeom>
          <a:noFill/>
          <a:ln/>
        </p:spPr>
        <p:txBody>
          <a:bodyPr wrap="square" rtlCol="0" anchor="ctr"/>
          <a:lstStyle/>
          <a:p>
            <a:pPr marL="0" indent="0">
              <a:buNone/>
            </a:pPr>
            <a:r>
              <a:rPr lang="en-US" sz="1800" b="1">
                <a:solidFill>
                  <a:srgbClr val="111111"/>
                </a:solidFill>
                <a:latin typeface="Calibri" pitchFamily="34" charset="0"/>
                <a:ea typeface="Calibri" pitchFamily="34" charset="-122"/>
                <a:cs typeface="Calibri" pitchFamily="34" charset="-120"/>
              </a:rPr>
              <a:t>Windsurf — Live Demo Prompts</a:t>
            </a:r>
            <a:endParaRPr lang="en-US" sz="1800"/>
          </a:p>
        </p:txBody>
      </p:sp>
      <p:sp>
        <p:nvSpPr>
          <p:cNvPr id="4" name="Text 2"/>
          <p:cNvSpPr/>
          <p:nvPr/>
        </p:nvSpPr>
        <p:spPr>
          <a:xfrm>
            <a:off x="1645920" y="978408"/>
            <a:ext cx="1645920" cy="457200"/>
          </a:xfrm>
          <a:prstGeom prst="rect">
            <a:avLst/>
          </a:prstGeom>
          <a:noFill/>
          <a:ln/>
        </p:spPr>
        <p:txBody>
          <a:bodyPr wrap="square" lIns="91440" tIns="45720" rIns="91440" bIns="45720" rtlCol="0" anchor="ctr"/>
          <a:lstStyle/>
          <a:p>
            <a:pPr algn="r"/>
            <a:r>
              <a:rPr lang="en-US" sz="1100">
                <a:solidFill>
                  <a:srgbClr val="6B7280"/>
                </a:solidFill>
                <a:ea typeface="Calibri"/>
                <a:cs typeface="Calibri"/>
              </a:rPr>
              <a:t>3 STANDARD PROMPTS</a:t>
            </a:r>
          </a:p>
        </p:txBody>
      </p:sp>
      <p:sp>
        <p:nvSpPr>
          <p:cNvPr id="5" name="Shape 3"/>
          <p:cNvSpPr/>
          <p:nvPr/>
        </p:nvSpPr>
        <p:spPr>
          <a:xfrm>
            <a:off x="365760" y="658368"/>
            <a:ext cx="8412480" cy="0"/>
          </a:xfrm>
          <a:prstGeom prst="line">
            <a:avLst/>
          </a:prstGeom>
          <a:noFill/>
          <a:ln w="6350">
            <a:solidFill>
              <a:srgbClr val="E5E7EB"/>
            </a:solidFill>
            <a:prstDash val="solid"/>
          </a:ln>
        </p:spPr>
        <p:txBody>
          <a:bodyPr/>
          <a:lstStyle/>
          <a:p>
            <a:endParaRPr lang="en-IN"/>
          </a:p>
        </p:txBody>
      </p:sp>
      <p:sp>
        <p:nvSpPr>
          <p:cNvPr id="6" name="Shape 4"/>
          <p:cNvSpPr/>
          <p:nvPr/>
        </p:nvSpPr>
        <p:spPr>
          <a:xfrm>
            <a:off x="260604" y="708660"/>
            <a:ext cx="8586216" cy="2363724"/>
          </a:xfrm>
          <a:prstGeom prst="rect">
            <a:avLst/>
          </a:prstGeom>
          <a:solidFill>
            <a:srgbClr val="F9FAFB"/>
          </a:solidFill>
          <a:ln w="6350">
            <a:solidFill>
              <a:srgbClr val="E5E7EB"/>
            </a:solidFill>
            <a:prstDash val="solid"/>
          </a:ln>
        </p:spPr>
        <p:txBody>
          <a:bodyPr lIns="91440" tIns="45720" rIns="91440" bIns="45720" anchor="t"/>
          <a:lstStyle/>
          <a:p>
            <a:r>
              <a:rPr lang="en-US" sz="1300" b="1" baseline="0">
                <a:solidFill>
                  <a:srgbClr val="111111"/>
                </a:solidFill>
                <a:latin typeface="Calibri"/>
              </a:rPr>
              <a:t>Explain the code</a:t>
            </a:r>
            <a:r>
              <a:rPr lang="en-US" sz="1300">
                <a:latin typeface="Calibri"/>
                <a:ea typeface="Calibri"/>
                <a:cs typeface="Calibri"/>
              </a:rPr>
              <a:t>​</a:t>
            </a:r>
            <a:endParaRPr lang="en-IN">
              <a:ea typeface="Calibri"/>
              <a:cs typeface="Calibri"/>
            </a:endParaRPr>
          </a:p>
        </p:txBody>
      </p:sp>
      <p:sp>
        <p:nvSpPr>
          <p:cNvPr id="7" name="Shape 5"/>
          <p:cNvSpPr/>
          <p:nvPr/>
        </p:nvSpPr>
        <p:spPr>
          <a:xfrm>
            <a:off x="260604" y="708660"/>
            <a:ext cx="54864" cy="2345436"/>
          </a:xfrm>
          <a:prstGeom prst="rect">
            <a:avLst/>
          </a:prstGeom>
          <a:solidFill>
            <a:srgbClr val="0D9488"/>
          </a:solidFill>
          <a:ln w="12700">
            <a:solidFill>
              <a:srgbClr val="0D9488"/>
            </a:solidFill>
            <a:prstDash val="solid"/>
          </a:ln>
        </p:spPr>
        <p:txBody>
          <a:bodyPr/>
          <a:lstStyle/>
          <a:p>
            <a:endParaRPr lang="en-IN"/>
          </a:p>
        </p:txBody>
      </p:sp>
      <p:sp>
        <p:nvSpPr>
          <p:cNvPr id="8" name="Shape 6"/>
          <p:cNvSpPr/>
          <p:nvPr/>
        </p:nvSpPr>
        <p:spPr>
          <a:xfrm>
            <a:off x="306324" y="722131"/>
            <a:ext cx="1188720" cy="256032"/>
          </a:xfrm>
          <a:prstGeom prst="roundRect">
            <a:avLst>
              <a:gd name="adj" fmla="val 14286"/>
            </a:avLst>
          </a:prstGeom>
          <a:solidFill>
            <a:srgbClr val="0D9488"/>
          </a:solidFill>
          <a:ln w="12700">
            <a:solidFill>
              <a:srgbClr val="0D9488"/>
            </a:solidFill>
            <a:prstDash val="solid"/>
          </a:ln>
        </p:spPr>
        <p:txBody>
          <a:bodyPr/>
          <a:lstStyle/>
          <a:p>
            <a:endParaRPr lang="en-IN"/>
          </a:p>
        </p:txBody>
      </p:sp>
      <p:sp>
        <p:nvSpPr>
          <p:cNvPr id="9" name="Text 7"/>
          <p:cNvSpPr/>
          <p:nvPr/>
        </p:nvSpPr>
        <p:spPr>
          <a:xfrm>
            <a:off x="278892" y="722376"/>
            <a:ext cx="1188720" cy="256032"/>
          </a:xfrm>
          <a:prstGeom prst="rect">
            <a:avLst/>
          </a:prstGeom>
          <a:noFill/>
          <a:ln/>
        </p:spPr>
        <p:txBody>
          <a:bodyPr wrap="square" lIns="91440" tIns="45720" rIns="91440" bIns="45720" rtlCol="0" anchor="ctr"/>
          <a:lstStyle/>
          <a:p>
            <a:pPr algn="ctr"/>
            <a:r>
              <a:rPr lang="en-US" sz="900" b="1">
                <a:solidFill>
                  <a:srgbClr val="FFFFFF"/>
                </a:solidFill>
                <a:ea typeface="Calibri"/>
                <a:cs typeface="Calibri"/>
              </a:rPr>
              <a:t>STEP 1</a:t>
            </a:r>
          </a:p>
        </p:txBody>
      </p:sp>
      <p:sp>
        <p:nvSpPr>
          <p:cNvPr id="10" name="Text 8"/>
          <p:cNvSpPr/>
          <p:nvPr/>
        </p:nvSpPr>
        <p:spPr>
          <a:xfrm>
            <a:off x="1554480" y="667512"/>
            <a:ext cx="6858000" cy="365760"/>
          </a:xfrm>
          <a:prstGeom prst="rect">
            <a:avLst/>
          </a:prstGeom>
          <a:noFill/>
          <a:ln/>
        </p:spPr>
        <p:txBody>
          <a:bodyPr wrap="square" lIns="91440" tIns="45720" rIns="91440" bIns="45720" rtlCol="0" anchor="ctr"/>
          <a:lstStyle/>
          <a:p>
            <a:r>
              <a:rPr lang="en-US" sz="1300" b="1">
                <a:solidFill>
                  <a:srgbClr val="111111"/>
                </a:solidFill>
                <a:ea typeface="Calibri"/>
                <a:cs typeface="Calibri"/>
              </a:rPr>
              <a:t>3 Defined prompts</a:t>
            </a:r>
            <a:endParaRPr lang="en-US"/>
          </a:p>
        </p:txBody>
      </p:sp>
      <p:sp>
        <p:nvSpPr>
          <p:cNvPr id="11" name="Text 9"/>
          <p:cNvSpPr/>
          <p:nvPr/>
        </p:nvSpPr>
        <p:spPr>
          <a:xfrm>
            <a:off x="493776" y="1284732"/>
            <a:ext cx="8275320" cy="1257300"/>
          </a:xfrm>
          <a:prstGeom prst="rect">
            <a:avLst/>
          </a:prstGeom>
          <a:noFill/>
          <a:ln/>
        </p:spPr>
        <p:txBody>
          <a:bodyPr wrap="square" lIns="91440" tIns="45720" rIns="91440" bIns="45720" rtlCol="0" anchor="ctr"/>
          <a:lstStyle/>
          <a:p>
            <a:endParaRPr lang="en-US" sz="1100" b="1">
              <a:solidFill>
                <a:srgbClr val="0D9488"/>
              </a:solidFill>
              <a:ea typeface="+mn-lt"/>
              <a:cs typeface="+mn-lt"/>
            </a:endParaRPr>
          </a:p>
          <a:p>
            <a:r>
              <a:rPr lang="en-US" sz="1100" b="1">
                <a:solidFill>
                  <a:srgbClr val="0D9488"/>
                </a:solidFill>
                <a:ea typeface="+mn-lt"/>
                <a:cs typeface="+mn-lt"/>
              </a:rPr>
              <a:t>Supabase Setup:</a:t>
            </a:r>
            <a:r>
              <a:rPr lang="en-US" sz="1100">
                <a:solidFill>
                  <a:srgbClr val="0D9488"/>
                </a:solidFill>
                <a:ea typeface="+mn-lt"/>
                <a:cs typeface="+mn-lt"/>
              </a:rPr>
              <a:t> "Look at the existing project structure and install the </a:t>
            </a:r>
            <a:r>
              <a:rPr lang="en-US" sz="1100" err="1">
                <a:solidFill>
                  <a:srgbClr val="0D9488"/>
                </a:solidFill>
                <a:ea typeface="+mn-lt"/>
                <a:cs typeface="+mn-lt"/>
              </a:rPr>
              <a:t>Supabase</a:t>
            </a:r>
            <a:r>
              <a:rPr lang="en-US" sz="1100">
                <a:solidFill>
                  <a:srgbClr val="0D9488"/>
                </a:solidFill>
                <a:ea typeface="+mn-lt"/>
                <a:cs typeface="+mn-lt"/>
              </a:rPr>
              <a:t> JavaScript client. Create a </a:t>
            </a:r>
            <a:r>
              <a:rPr lang="en-US" sz="1100" err="1">
                <a:solidFill>
                  <a:srgbClr val="0D9488"/>
                </a:solidFill>
                <a:latin typeface="Consolas"/>
                <a:ea typeface="Calibri"/>
                <a:cs typeface="Calibri"/>
              </a:rPr>
              <a:t>src</a:t>
            </a:r>
            <a:r>
              <a:rPr lang="en-US" sz="1100">
                <a:solidFill>
                  <a:srgbClr val="0D9488"/>
                </a:solidFill>
                <a:latin typeface="Consolas"/>
                <a:ea typeface="Calibri"/>
                <a:cs typeface="Calibri"/>
              </a:rPr>
              <a:t>/</a:t>
            </a:r>
            <a:r>
              <a:rPr lang="en-US" sz="1100" err="1">
                <a:solidFill>
                  <a:srgbClr val="0D9488"/>
                </a:solidFill>
                <a:latin typeface="Consolas"/>
                <a:ea typeface="Calibri"/>
                <a:cs typeface="Calibri"/>
              </a:rPr>
              <a:t>supabase.ts</a:t>
            </a:r>
            <a:r>
              <a:rPr lang="en-US" sz="1100">
                <a:solidFill>
                  <a:srgbClr val="0D9488"/>
                </a:solidFill>
                <a:ea typeface="+mn-lt"/>
                <a:cs typeface="+mn-lt"/>
              </a:rPr>
              <a:t> file that initializes </a:t>
            </a:r>
            <a:r>
              <a:rPr lang="en-US" sz="1100" err="1">
                <a:solidFill>
                  <a:srgbClr val="0D9488"/>
                </a:solidFill>
                <a:ea typeface="+mn-lt"/>
                <a:cs typeface="+mn-lt"/>
              </a:rPr>
              <a:t>Supabase</a:t>
            </a:r>
            <a:r>
              <a:rPr lang="en-US" sz="1100">
                <a:solidFill>
                  <a:srgbClr val="0D9488"/>
                </a:solidFill>
                <a:ea typeface="+mn-lt"/>
                <a:cs typeface="+mn-lt"/>
              </a:rPr>
              <a:t> using environment variables VITE_SUPABASE_URL and VITE_SUPABASE_ANON_KEY. Create a </a:t>
            </a:r>
            <a:r>
              <a:rPr lang="en-US" sz="1100">
                <a:solidFill>
                  <a:srgbClr val="0D9488"/>
                </a:solidFill>
                <a:latin typeface="Consolas"/>
                <a:ea typeface="Calibri"/>
                <a:cs typeface="Calibri"/>
              </a:rPr>
              <a:t>.env</a:t>
            </a:r>
            <a:r>
              <a:rPr lang="en-US" sz="1100">
                <a:solidFill>
                  <a:srgbClr val="0D9488"/>
                </a:solidFill>
                <a:ea typeface="+mn-lt"/>
                <a:cs typeface="+mn-lt"/>
              </a:rPr>
              <a:t> file with placeholder values for those two keys. Create a </a:t>
            </a:r>
            <a:r>
              <a:rPr lang="en-US" sz="1100">
                <a:solidFill>
                  <a:srgbClr val="0D9488"/>
                </a:solidFill>
                <a:latin typeface="Consolas"/>
                <a:ea typeface="+mn-lt"/>
                <a:cs typeface="+mn-lt"/>
              </a:rPr>
              <a:t>.env</a:t>
            </a:r>
            <a:r>
              <a:rPr lang="en-US" sz="1100">
                <a:solidFill>
                  <a:srgbClr val="0D9488"/>
                </a:solidFill>
                <a:ea typeface="+mn-lt"/>
                <a:cs typeface="+mn-lt"/>
              </a:rPr>
              <a:t> file with placeholder values for those two keys and create a </a:t>
            </a:r>
            <a:r>
              <a:rPr lang="en-US" sz="1100" err="1">
                <a:solidFill>
                  <a:srgbClr val="0D9488"/>
                </a:solidFill>
                <a:latin typeface="Consolas"/>
                <a:ea typeface="+mn-lt"/>
                <a:cs typeface="+mn-lt"/>
              </a:rPr>
              <a:t>schema.sql</a:t>
            </a:r>
            <a:r>
              <a:rPr lang="en-US" sz="1100">
                <a:solidFill>
                  <a:srgbClr val="0D9488"/>
                </a:solidFill>
                <a:ea typeface="+mn-lt"/>
                <a:cs typeface="+mn-lt"/>
              </a:rPr>
              <a:t> file with tables for </a:t>
            </a:r>
            <a:r>
              <a:rPr lang="en-US" sz="1100" err="1">
                <a:solidFill>
                  <a:srgbClr val="0D9488"/>
                </a:solidFill>
                <a:ea typeface="+mn-lt"/>
                <a:cs typeface="+mn-lt"/>
              </a:rPr>
              <a:t>blood_inventory</a:t>
            </a:r>
            <a:r>
              <a:rPr lang="en-US" sz="1100">
                <a:solidFill>
                  <a:srgbClr val="0D9488"/>
                </a:solidFill>
                <a:ea typeface="+mn-lt"/>
                <a:cs typeface="+mn-lt"/>
              </a:rPr>
              <a:t>, donors, requests, and alerts.""</a:t>
            </a:r>
            <a:endParaRPr lang="en-US"/>
          </a:p>
          <a:p>
            <a:endParaRPr lang="en-US" sz="1100">
              <a:solidFill>
                <a:srgbClr val="0D9488"/>
              </a:solidFill>
              <a:ea typeface="+mn-lt"/>
              <a:cs typeface="+mn-lt"/>
            </a:endParaRPr>
          </a:p>
          <a:p>
            <a:r>
              <a:rPr lang="en-US" sz="1100" b="1">
                <a:solidFill>
                  <a:srgbClr val="0D9488"/>
                </a:solidFill>
                <a:ea typeface="+mn-lt"/>
                <a:cs typeface="+mn-lt"/>
              </a:rPr>
              <a:t>Connect Data:</a:t>
            </a:r>
            <a:r>
              <a:rPr lang="en-US" sz="1100">
                <a:solidFill>
                  <a:srgbClr val="0D9488"/>
                </a:solidFill>
                <a:ea typeface="+mn-lt"/>
                <a:cs typeface="+mn-lt"/>
              </a:rPr>
              <a:t> "Look at the existing project structure and replace all dummy seed data in React Context with real </a:t>
            </a:r>
            <a:r>
              <a:rPr lang="en-US" sz="1100" err="1">
                <a:solidFill>
                  <a:srgbClr val="0D9488"/>
                </a:solidFill>
                <a:ea typeface="+mn-lt"/>
                <a:cs typeface="+mn-lt"/>
              </a:rPr>
              <a:t>Supabase</a:t>
            </a:r>
            <a:r>
              <a:rPr lang="en-US" sz="1100">
                <a:solidFill>
                  <a:srgbClr val="0D9488"/>
                </a:solidFill>
                <a:ea typeface="+mn-lt"/>
                <a:cs typeface="+mn-lt"/>
              </a:rPr>
              <a:t> queries. Fetch blood_inventory, donors, requests, and alerts from Supabase on page load. Make all form actions insert, update, and delete from </a:t>
            </a:r>
            <a:r>
              <a:rPr lang="en-US" sz="1100" err="1">
                <a:solidFill>
                  <a:srgbClr val="0D9488"/>
                </a:solidFill>
                <a:ea typeface="+mn-lt"/>
                <a:cs typeface="+mn-lt"/>
              </a:rPr>
              <a:t>Supabase</a:t>
            </a:r>
            <a:r>
              <a:rPr lang="en-US" sz="1100">
                <a:solidFill>
                  <a:srgbClr val="0D9488"/>
                </a:solidFill>
                <a:ea typeface="+mn-lt"/>
                <a:cs typeface="+mn-lt"/>
              </a:rPr>
              <a:t> instead of local state."</a:t>
            </a:r>
          </a:p>
          <a:p>
            <a:endParaRPr lang="en-US" sz="1100">
              <a:solidFill>
                <a:srgbClr val="0D9488"/>
              </a:solidFill>
              <a:ea typeface="+mn-lt"/>
              <a:cs typeface="+mn-lt"/>
            </a:endParaRPr>
          </a:p>
          <a:p>
            <a:r>
              <a:rPr lang="en-US" sz="1100" b="1">
                <a:solidFill>
                  <a:srgbClr val="0D9488"/>
                </a:solidFill>
                <a:ea typeface="+mn-lt"/>
                <a:cs typeface="+mn-lt"/>
              </a:rPr>
              <a:t>Auth and Realtime:</a:t>
            </a:r>
            <a:r>
              <a:rPr lang="en-US" sz="1100">
                <a:solidFill>
                  <a:srgbClr val="0D9488"/>
                </a:solidFill>
                <a:ea typeface="+mn-lt"/>
                <a:cs typeface="+mn-lt"/>
              </a:rPr>
              <a:t> "Look at the existing project structure and replace the dummy login and signup with </a:t>
            </a:r>
            <a:r>
              <a:rPr lang="en-US" sz="1100" err="1">
                <a:solidFill>
                  <a:srgbClr val="0D9488"/>
                </a:solidFill>
                <a:ea typeface="+mn-lt"/>
                <a:cs typeface="+mn-lt"/>
              </a:rPr>
              <a:t>Supabase</a:t>
            </a:r>
            <a:r>
              <a:rPr lang="en-US" sz="1100">
                <a:solidFill>
                  <a:srgbClr val="0D9488"/>
                </a:solidFill>
                <a:ea typeface="+mn-lt"/>
                <a:cs typeface="+mn-lt"/>
              </a:rPr>
              <a:t> Auth using signInWithPassword and signUp. Protect all routes so only logged in users can access them. Add </a:t>
            </a:r>
            <a:r>
              <a:rPr lang="en-US" sz="1100" err="1">
                <a:solidFill>
                  <a:srgbClr val="0D9488"/>
                </a:solidFill>
                <a:ea typeface="+mn-lt"/>
                <a:cs typeface="+mn-lt"/>
              </a:rPr>
              <a:t>Supabase</a:t>
            </a:r>
            <a:r>
              <a:rPr lang="en-US" sz="1100">
                <a:solidFill>
                  <a:srgbClr val="0D9488"/>
                </a:solidFill>
                <a:ea typeface="+mn-lt"/>
                <a:cs typeface="+mn-lt"/>
              </a:rPr>
              <a:t> </a:t>
            </a:r>
            <a:r>
              <a:rPr lang="en-US" sz="1100" err="1">
                <a:solidFill>
                  <a:srgbClr val="0D9488"/>
                </a:solidFill>
                <a:ea typeface="+mn-lt"/>
                <a:cs typeface="+mn-lt"/>
              </a:rPr>
              <a:t>realtime</a:t>
            </a:r>
            <a:r>
              <a:rPr lang="en-US" sz="1100">
                <a:solidFill>
                  <a:srgbClr val="0D9488"/>
                </a:solidFill>
                <a:ea typeface="+mn-lt"/>
                <a:cs typeface="+mn-lt"/>
              </a:rPr>
              <a:t> subscriptions on alerts and blood_inventory so the UI updates automatically without page refresh."</a:t>
            </a:r>
            <a:endParaRPr lang="en-US"/>
          </a:p>
        </p:txBody>
      </p:sp>
      <p:sp>
        <p:nvSpPr>
          <p:cNvPr id="12" name="Shape 10"/>
          <p:cNvSpPr/>
          <p:nvPr/>
        </p:nvSpPr>
        <p:spPr>
          <a:xfrm>
            <a:off x="278892" y="3200400"/>
            <a:ext cx="8590788" cy="800100"/>
          </a:xfrm>
          <a:prstGeom prst="rect">
            <a:avLst/>
          </a:prstGeom>
          <a:solidFill>
            <a:srgbClr val="F9FAFB"/>
          </a:solidFill>
          <a:ln w="6350">
            <a:solidFill>
              <a:srgbClr val="E5E7EB"/>
            </a:solidFill>
            <a:prstDash val="solid"/>
          </a:ln>
        </p:spPr>
        <p:txBody>
          <a:bodyPr/>
          <a:lstStyle/>
          <a:p>
            <a:endParaRPr lang="en-IN"/>
          </a:p>
        </p:txBody>
      </p:sp>
      <p:sp>
        <p:nvSpPr>
          <p:cNvPr id="13" name="Shape 11"/>
          <p:cNvSpPr/>
          <p:nvPr/>
        </p:nvSpPr>
        <p:spPr>
          <a:xfrm>
            <a:off x="274320" y="3209544"/>
            <a:ext cx="68580" cy="790956"/>
          </a:xfrm>
          <a:prstGeom prst="rect">
            <a:avLst/>
          </a:prstGeom>
          <a:solidFill>
            <a:srgbClr val="6D28D9"/>
          </a:solidFill>
          <a:ln w="12700">
            <a:solidFill>
              <a:srgbClr val="6D28D9"/>
            </a:solidFill>
            <a:prstDash val="solid"/>
          </a:ln>
        </p:spPr>
        <p:txBody>
          <a:bodyPr/>
          <a:lstStyle/>
          <a:p>
            <a:endParaRPr lang="en-IN"/>
          </a:p>
        </p:txBody>
      </p:sp>
      <p:sp>
        <p:nvSpPr>
          <p:cNvPr id="14" name="Shape 12"/>
          <p:cNvSpPr/>
          <p:nvPr/>
        </p:nvSpPr>
        <p:spPr>
          <a:xfrm>
            <a:off x="457200" y="3209544"/>
            <a:ext cx="1188720" cy="256032"/>
          </a:xfrm>
          <a:prstGeom prst="roundRect">
            <a:avLst>
              <a:gd name="adj" fmla="val 14286"/>
            </a:avLst>
          </a:prstGeom>
          <a:solidFill>
            <a:srgbClr val="6D28D9"/>
          </a:solidFill>
          <a:ln w="12700">
            <a:solidFill>
              <a:srgbClr val="6D28D9"/>
            </a:solidFill>
            <a:prstDash val="solid"/>
          </a:ln>
        </p:spPr>
        <p:txBody>
          <a:bodyPr/>
          <a:lstStyle/>
          <a:p>
            <a:endParaRPr lang="en-IN"/>
          </a:p>
        </p:txBody>
      </p:sp>
      <p:sp>
        <p:nvSpPr>
          <p:cNvPr id="15" name="Text 13"/>
          <p:cNvSpPr/>
          <p:nvPr/>
        </p:nvSpPr>
        <p:spPr>
          <a:xfrm>
            <a:off x="365760" y="3209544"/>
            <a:ext cx="1188720" cy="256032"/>
          </a:xfrm>
          <a:prstGeom prst="rect">
            <a:avLst/>
          </a:prstGeom>
          <a:noFill/>
          <a:ln/>
        </p:spPr>
        <p:txBody>
          <a:bodyPr wrap="square"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STEP 2</a:t>
            </a:r>
            <a:endParaRPr lang="en-US" sz="900"/>
          </a:p>
        </p:txBody>
      </p:sp>
      <p:sp>
        <p:nvSpPr>
          <p:cNvPr id="16" name="Text 14"/>
          <p:cNvSpPr/>
          <p:nvPr/>
        </p:nvSpPr>
        <p:spPr>
          <a:xfrm>
            <a:off x="1828800" y="3154680"/>
            <a:ext cx="6858000" cy="365760"/>
          </a:xfrm>
          <a:prstGeom prst="rect">
            <a:avLst/>
          </a:prstGeom>
          <a:noFill/>
          <a:ln/>
        </p:spPr>
        <p:txBody>
          <a:bodyPr wrap="square" rtlCol="0" anchor="ctr"/>
          <a:lstStyle/>
          <a:p>
            <a:pPr marL="0" indent="0">
              <a:buNone/>
            </a:pPr>
            <a:r>
              <a:rPr lang="en-US" sz="1300" b="1">
                <a:solidFill>
                  <a:srgbClr val="111111"/>
                </a:solidFill>
                <a:latin typeface="Calibri" pitchFamily="34" charset="0"/>
                <a:ea typeface="Calibri" pitchFamily="34" charset="-122"/>
                <a:cs typeface="Calibri" pitchFamily="34" charset="-120"/>
              </a:rPr>
              <a:t>Explain the code</a:t>
            </a:r>
            <a:endParaRPr lang="en-US" sz="1300"/>
          </a:p>
        </p:txBody>
      </p:sp>
      <p:sp>
        <p:nvSpPr>
          <p:cNvPr id="17" name="Text 15"/>
          <p:cNvSpPr/>
          <p:nvPr/>
        </p:nvSpPr>
        <p:spPr>
          <a:xfrm>
            <a:off x="502920" y="3287268"/>
            <a:ext cx="8229600" cy="713232"/>
          </a:xfrm>
          <a:prstGeom prst="rect">
            <a:avLst/>
          </a:prstGeom>
          <a:noFill/>
          <a:ln/>
        </p:spPr>
        <p:txBody>
          <a:bodyPr wrap="square" rtlCol="0" anchor="ctr"/>
          <a:lstStyle/>
          <a:p>
            <a:pPr marL="0" indent="0">
              <a:buNone/>
            </a:pPr>
            <a:r>
              <a:rPr lang="en-US" sz="1100" i="1">
                <a:solidFill>
                  <a:srgbClr val="6D28D9"/>
                </a:solidFill>
                <a:latin typeface="Calibri" pitchFamily="34" charset="0"/>
                <a:ea typeface="Calibri" pitchFamily="34" charset="-122"/>
                <a:cs typeface="Calibri" pitchFamily="34" charset="-120"/>
              </a:rPr>
              <a:t>"Explain the code in server.js lines 28–33 line by line, like I am a complete beginner. What is each line doing and why?"</a:t>
            </a:r>
            <a:endParaRPr lang="en-US" sz="1100"/>
          </a:p>
        </p:txBody>
      </p:sp>
      <p:sp>
        <p:nvSpPr>
          <p:cNvPr id="18" name="Shape 16"/>
          <p:cNvSpPr/>
          <p:nvPr/>
        </p:nvSpPr>
        <p:spPr>
          <a:xfrm>
            <a:off x="274320" y="4133088"/>
            <a:ext cx="8595360" cy="731520"/>
          </a:xfrm>
          <a:prstGeom prst="rect">
            <a:avLst/>
          </a:prstGeom>
          <a:solidFill>
            <a:srgbClr val="F9FAFB"/>
          </a:solidFill>
          <a:ln w="6350">
            <a:solidFill>
              <a:srgbClr val="E5E7EB"/>
            </a:solidFill>
            <a:prstDash val="solid"/>
          </a:ln>
        </p:spPr>
        <p:txBody>
          <a:bodyPr/>
          <a:lstStyle/>
          <a:p>
            <a:endParaRPr lang="en-IN"/>
          </a:p>
        </p:txBody>
      </p:sp>
      <p:sp>
        <p:nvSpPr>
          <p:cNvPr id="19" name="Shape 17"/>
          <p:cNvSpPr/>
          <p:nvPr/>
        </p:nvSpPr>
        <p:spPr>
          <a:xfrm>
            <a:off x="274320" y="4151376"/>
            <a:ext cx="77724" cy="740664"/>
          </a:xfrm>
          <a:prstGeom prst="rect">
            <a:avLst/>
          </a:prstGeom>
          <a:solidFill>
            <a:srgbClr val="B45309"/>
          </a:solidFill>
          <a:ln w="12700">
            <a:solidFill>
              <a:srgbClr val="B45309"/>
            </a:solidFill>
            <a:prstDash val="solid"/>
          </a:ln>
        </p:spPr>
        <p:txBody>
          <a:bodyPr/>
          <a:lstStyle/>
          <a:p>
            <a:endParaRPr lang="en-IN"/>
          </a:p>
        </p:txBody>
      </p:sp>
      <p:sp>
        <p:nvSpPr>
          <p:cNvPr id="20" name="Shape 18"/>
          <p:cNvSpPr/>
          <p:nvPr/>
        </p:nvSpPr>
        <p:spPr>
          <a:xfrm>
            <a:off x="457200" y="4146804"/>
            <a:ext cx="1188720" cy="256032"/>
          </a:xfrm>
          <a:prstGeom prst="roundRect">
            <a:avLst>
              <a:gd name="adj" fmla="val 14286"/>
            </a:avLst>
          </a:prstGeom>
          <a:solidFill>
            <a:srgbClr val="B45309"/>
          </a:solidFill>
          <a:ln w="12700">
            <a:solidFill>
              <a:srgbClr val="B45309"/>
            </a:solidFill>
            <a:prstDash val="solid"/>
          </a:ln>
        </p:spPr>
        <p:txBody>
          <a:bodyPr/>
          <a:lstStyle/>
          <a:p>
            <a:endParaRPr lang="en-IN"/>
          </a:p>
        </p:txBody>
      </p:sp>
      <p:sp>
        <p:nvSpPr>
          <p:cNvPr id="21" name="Text 19"/>
          <p:cNvSpPr/>
          <p:nvPr/>
        </p:nvSpPr>
        <p:spPr>
          <a:xfrm>
            <a:off x="457200" y="4146804"/>
            <a:ext cx="1188720" cy="256032"/>
          </a:xfrm>
          <a:prstGeom prst="rect">
            <a:avLst/>
          </a:prstGeom>
          <a:noFill/>
          <a:ln/>
        </p:spPr>
        <p:txBody>
          <a:bodyPr wrap="square"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STEP 3</a:t>
            </a:r>
            <a:endParaRPr lang="en-US" sz="900"/>
          </a:p>
        </p:txBody>
      </p:sp>
      <p:sp>
        <p:nvSpPr>
          <p:cNvPr id="22" name="Text 20"/>
          <p:cNvSpPr/>
          <p:nvPr/>
        </p:nvSpPr>
        <p:spPr>
          <a:xfrm>
            <a:off x="1719072" y="4091940"/>
            <a:ext cx="6858000" cy="365760"/>
          </a:xfrm>
          <a:prstGeom prst="rect">
            <a:avLst/>
          </a:prstGeom>
          <a:noFill/>
          <a:ln/>
        </p:spPr>
        <p:txBody>
          <a:bodyPr wrap="square" rtlCol="0" anchor="ctr"/>
          <a:lstStyle/>
          <a:p>
            <a:pPr marL="0" indent="0">
              <a:buNone/>
            </a:pPr>
            <a:r>
              <a:rPr lang="en-US" sz="1300" b="1">
                <a:solidFill>
                  <a:srgbClr val="111111"/>
                </a:solidFill>
                <a:latin typeface="Calibri" pitchFamily="34" charset="0"/>
                <a:ea typeface="Calibri" pitchFamily="34" charset="-122"/>
                <a:cs typeface="Calibri" pitchFamily="34" charset="-120"/>
              </a:rPr>
              <a:t>Refactor for readability</a:t>
            </a:r>
            <a:endParaRPr lang="en-US" sz="1300"/>
          </a:p>
        </p:txBody>
      </p:sp>
      <p:sp>
        <p:nvSpPr>
          <p:cNvPr id="23" name="Text 21"/>
          <p:cNvSpPr/>
          <p:nvPr/>
        </p:nvSpPr>
        <p:spPr>
          <a:xfrm>
            <a:off x="502920" y="4288536"/>
            <a:ext cx="8229600" cy="713232"/>
          </a:xfrm>
          <a:prstGeom prst="rect">
            <a:avLst/>
          </a:prstGeom>
          <a:noFill/>
          <a:ln/>
        </p:spPr>
        <p:txBody>
          <a:bodyPr wrap="square" rtlCol="0" anchor="ctr"/>
          <a:lstStyle/>
          <a:p>
            <a:pPr marL="0" indent="0">
              <a:buNone/>
            </a:pPr>
            <a:r>
              <a:rPr lang="en-US" sz="1100" i="1">
                <a:solidFill>
                  <a:srgbClr val="B45309"/>
                </a:solidFill>
                <a:latin typeface="Calibri" pitchFamily="34" charset="0"/>
                <a:ea typeface="Calibri" pitchFamily="34" charset="-122"/>
                <a:cs typeface="Calibri" pitchFamily="34" charset="-120"/>
              </a:rPr>
              <a:t>"Refactor this code to be more readable. Add a comment above each section explaining what it does."</a:t>
            </a:r>
            <a:endParaRPr lang="en-US" sz="1100"/>
          </a:p>
        </p:txBody>
      </p:sp>
      <p:sp>
        <p:nvSpPr>
          <p:cNvPr id="24" name="Shape 22"/>
          <p:cNvSpPr/>
          <p:nvPr/>
        </p:nvSpPr>
        <p:spPr>
          <a:xfrm>
            <a:off x="274320" y="5074920"/>
            <a:ext cx="8595360" cy="0"/>
          </a:xfrm>
          <a:prstGeom prst="rect">
            <a:avLst/>
          </a:prstGeom>
          <a:solidFill>
            <a:srgbClr val="FFFFFF"/>
          </a:solidFill>
          <a:ln w="12700">
            <a:solidFill>
              <a:srgbClr val="FFFFFF"/>
            </a:solidFill>
            <a:prstDash val="solid"/>
          </a:ln>
        </p:spPr>
        <p:txBody>
          <a:bodyPr/>
          <a:lstStyle/>
          <a:p>
            <a:endParaRPr lang="en-IN"/>
          </a:p>
        </p:txBody>
      </p:sp>
      <p:sp>
        <p:nvSpPr>
          <p:cNvPr id="25" name="Text 23"/>
          <p:cNvSpPr/>
          <p:nvPr/>
        </p:nvSpPr>
        <p:spPr>
          <a:xfrm>
            <a:off x="274320" y="4854974"/>
            <a:ext cx="8595360" cy="292608"/>
          </a:xfrm>
          <a:prstGeom prst="rect">
            <a:avLst/>
          </a:prstGeom>
          <a:noFill/>
          <a:ln/>
        </p:spPr>
        <p:txBody>
          <a:bodyPr wrap="square" rtlCol="0" anchor="ctr"/>
          <a:lstStyle/>
          <a:p>
            <a:pPr marL="0" indent="0">
              <a:buNone/>
            </a:pPr>
            <a:r>
              <a:rPr lang="en-US" sz="1100" b="1" i="1">
                <a:solidFill>
                  <a:srgbClr val="6B7280"/>
                </a:solidFill>
                <a:latin typeface="Calibri" pitchFamily="34" charset="0"/>
                <a:ea typeface="Calibri" pitchFamily="34" charset="-122"/>
                <a:cs typeface="Calibri" pitchFamily="34" charset="-120"/>
              </a:rPr>
              <a:t>Key lesson: use AI to understand the code, not just generate it.</a:t>
            </a:r>
            <a:endParaRPr lang="en-US" sz="1100"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8D8124-2314-E7C9-CC41-966C03C9B9D0}"/>
              </a:ext>
            </a:extLst>
          </p:cNvPr>
          <p:cNvSpPr txBox="1"/>
          <p:nvPr/>
        </p:nvSpPr>
        <p:spPr>
          <a:xfrm>
            <a:off x="0" y="89154"/>
            <a:ext cx="457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baseline="0">
                <a:solidFill>
                  <a:srgbClr val="111111"/>
                </a:solidFill>
                <a:latin typeface="Calibri"/>
              </a:rPr>
              <a:t>Windsurf </a:t>
            </a:r>
            <a:r>
              <a:rPr lang="en-US" b="1">
                <a:solidFill>
                  <a:srgbClr val="111111"/>
                </a:solidFill>
                <a:latin typeface="Calibri"/>
              </a:rPr>
              <a:t>—</a:t>
            </a:r>
            <a:r>
              <a:rPr lang="en-US" sz="1800" b="1" baseline="0">
                <a:solidFill>
                  <a:srgbClr val="111111"/>
                </a:solidFill>
                <a:latin typeface="Calibri"/>
              </a:rPr>
              <a:t>Prompts</a:t>
            </a:r>
            <a:r>
              <a:rPr sz="1800">
                <a:latin typeface="Calibri"/>
                <a:ea typeface="Calibri"/>
                <a:cs typeface="Calibri"/>
              </a:rPr>
              <a:t>​</a:t>
            </a:r>
            <a:endParaRPr lang="en-US"/>
          </a:p>
          <a:p>
            <a:pPr algn="ctr"/>
            <a:endParaRPr lang="en-US"/>
          </a:p>
        </p:txBody>
      </p:sp>
      <p:sp>
        <p:nvSpPr>
          <p:cNvPr id="4" name="Shape 0">
            <a:extLst>
              <a:ext uri="{FF2B5EF4-FFF2-40B4-BE49-F238E27FC236}">
                <a16:creationId xmlns:a16="http://schemas.microsoft.com/office/drawing/2014/main" id="{3B37F180-69CD-8329-CA8F-2958A406EE68}"/>
              </a:ext>
            </a:extLst>
          </p:cNvPr>
          <p:cNvSpPr/>
          <p:nvPr/>
        </p:nvSpPr>
        <p:spPr>
          <a:xfrm>
            <a:off x="0" y="0"/>
            <a:ext cx="9144000" cy="54864"/>
          </a:xfrm>
          <a:prstGeom prst="rect">
            <a:avLst/>
          </a:prstGeom>
          <a:solidFill>
            <a:srgbClr val="0D9488"/>
          </a:solidFill>
          <a:ln w="12700">
            <a:solidFill>
              <a:srgbClr val="0D9488"/>
            </a:solidFill>
            <a:prstDash val="solid"/>
          </a:ln>
        </p:spPr>
        <p:txBody>
          <a:bodyPr/>
          <a:lstStyle/>
          <a:p>
            <a:endParaRPr lang="en-IN"/>
          </a:p>
        </p:txBody>
      </p:sp>
      <p:sp>
        <p:nvSpPr>
          <p:cNvPr id="6" name="Shape 4">
            <a:extLst>
              <a:ext uri="{FF2B5EF4-FFF2-40B4-BE49-F238E27FC236}">
                <a16:creationId xmlns:a16="http://schemas.microsoft.com/office/drawing/2014/main" id="{56E0A9EF-6281-99D4-923A-4E6FAB9DA3BF}"/>
              </a:ext>
            </a:extLst>
          </p:cNvPr>
          <p:cNvSpPr/>
          <p:nvPr/>
        </p:nvSpPr>
        <p:spPr>
          <a:xfrm>
            <a:off x="118872" y="411480"/>
            <a:ext cx="8467344" cy="3616452"/>
          </a:xfrm>
          <a:prstGeom prst="rect">
            <a:avLst/>
          </a:prstGeom>
          <a:solidFill>
            <a:srgbClr val="F9FAFB"/>
          </a:solidFill>
          <a:ln w="6350">
            <a:solidFill>
              <a:srgbClr val="002060"/>
            </a:solidFill>
            <a:prstDash val="solid"/>
          </a:ln>
        </p:spPr>
        <p:txBody>
          <a:bodyPr lIns="91440" tIns="45720" rIns="91440" bIns="45720" anchor="t"/>
          <a:lstStyle/>
          <a:p>
            <a:r>
              <a:rPr lang="en-US" sz="1200" b="1">
                <a:solidFill>
                  <a:schemeClr val="accent6">
                    <a:lumMod val="76000"/>
                  </a:schemeClr>
                </a:solidFill>
                <a:ea typeface="Calibri"/>
                <a:cs typeface="Calibri"/>
              </a:rPr>
              <a:t>STANDARD WINDSURF CASCADE PROMPTS  🤟:</a:t>
            </a:r>
          </a:p>
          <a:p>
            <a:endParaRPr lang="en-US" sz="1200">
              <a:ea typeface="Calibri"/>
              <a:cs typeface="Calibri"/>
            </a:endParaRPr>
          </a:p>
          <a:p>
            <a:r>
              <a:rPr lang="en-US" sz="1200" b="1">
                <a:solidFill>
                  <a:schemeClr val="accent5">
                    <a:lumMod val="76000"/>
                  </a:schemeClr>
                </a:solidFill>
                <a:ea typeface="+mn-lt"/>
                <a:cs typeface="+mn-lt"/>
              </a:rPr>
              <a:t>Prompt 1 — Supabase Setup:</a:t>
            </a:r>
            <a:r>
              <a:rPr lang="en-US" sz="1200">
                <a:solidFill>
                  <a:schemeClr val="accent5">
                    <a:lumMod val="76000"/>
                  </a:schemeClr>
                </a:solidFill>
                <a:ea typeface="+mn-lt"/>
                <a:cs typeface="+mn-lt"/>
              </a:rPr>
              <a:t> "</a:t>
            </a:r>
            <a:r>
              <a:rPr lang="en-US" sz="1200" i="1">
                <a:solidFill>
                  <a:schemeClr val="accent5">
                    <a:lumMod val="76000"/>
                  </a:schemeClr>
                </a:solidFill>
                <a:ea typeface="+mn-lt"/>
                <a:cs typeface="+mn-lt"/>
              </a:rPr>
              <a:t>Look at the existing project structure and install the Supabase JavaScript client. Create a </a:t>
            </a:r>
            <a:r>
              <a:rPr lang="en-US" sz="1200" i="1">
                <a:solidFill>
                  <a:schemeClr val="accent5">
                    <a:lumMod val="76000"/>
                  </a:schemeClr>
                </a:solidFill>
                <a:latin typeface="Consolas"/>
                <a:ea typeface="+mn-lt"/>
                <a:cs typeface="+mn-lt"/>
              </a:rPr>
              <a:t>src/supabase.ts</a:t>
            </a:r>
            <a:r>
              <a:rPr lang="en-US" sz="1200" i="1">
                <a:solidFill>
                  <a:schemeClr val="accent5">
                    <a:lumMod val="76000"/>
                  </a:schemeClr>
                </a:solidFill>
                <a:ea typeface="+mn-lt"/>
                <a:cs typeface="+mn-lt"/>
              </a:rPr>
              <a:t> file that initializes Supabase using environment variables VITE_SUPABASE_URL and VITE_SUPABASE_ANON_KEY. Create a </a:t>
            </a:r>
            <a:r>
              <a:rPr lang="en-US" sz="1200" i="1">
                <a:solidFill>
                  <a:schemeClr val="accent5">
                    <a:lumMod val="76000"/>
                  </a:schemeClr>
                </a:solidFill>
                <a:latin typeface="Consolas"/>
                <a:ea typeface="+mn-lt"/>
                <a:cs typeface="+mn-lt"/>
              </a:rPr>
              <a:t>.env</a:t>
            </a:r>
            <a:r>
              <a:rPr lang="en-US" sz="1200" i="1">
                <a:solidFill>
                  <a:schemeClr val="accent5">
                    <a:lumMod val="76000"/>
                  </a:schemeClr>
                </a:solidFill>
                <a:ea typeface="+mn-lt"/>
                <a:cs typeface="+mn-lt"/>
              </a:rPr>
              <a:t> file with placeholder values for those two keys. Create a </a:t>
            </a:r>
            <a:r>
              <a:rPr lang="en-US" sz="1200" i="1" err="1">
                <a:solidFill>
                  <a:schemeClr val="accent5">
                    <a:lumMod val="76000"/>
                  </a:schemeClr>
                </a:solidFill>
                <a:latin typeface="Consolas"/>
                <a:ea typeface="+mn-lt"/>
                <a:cs typeface="+mn-lt"/>
              </a:rPr>
              <a:t>schema.sql</a:t>
            </a:r>
            <a:r>
              <a:rPr lang="en-US" sz="1200" i="1">
                <a:solidFill>
                  <a:schemeClr val="accent5">
                    <a:lumMod val="76000"/>
                  </a:schemeClr>
                </a:solidFill>
                <a:ea typeface="+mn-lt"/>
                <a:cs typeface="+mn-lt"/>
              </a:rPr>
              <a:t> file in the root of the project with all necessary tables for [table names] with all required columns.</a:t>
            </a:r>
            <a:r>
              <a:rPr lang="en-US" sz="1200">
                <a:solidFill>
                  <a:schemeClr val="accent5">
                    <a:lumMod val="76000"/>
                  </a:schemeClr>
                </a:solidFill>
                <a:ea typeface="+mn-lt"/>
                <a:cs typeface="+mn-lt"/>
              </a:rPr>
              <a:t>"</a:t>
            </a:r>
            <a:endParaRPr lang="en-US" sz="1200" i="1">
              <a:solidFill>
                <a:schemeClr val="accent5">
                  <a:lumMod val="76000"/>
                </a:schemeClr>
              </a:solidFill>
              <a:ea typeface="Calibri"/>
              <a:cs typeface="Calibri"/>
            </a:endParaRPr>
          </a:p>
          <a:p>
            <a:endParaRPr lang="en-US" sz="1200">
              <a:solidFill>
                <a:schemeClr val="accent5">
                  <a:lumMod val="76000"/>
                </a:schemeClr>
              </a:solidFill>
              <a:ea typeface="+mn-lt"/>
              <a:cs typeface="+mn-lt"/>
            </a:endParaRPr>
          </a:p>
          <a:p>
            <a:r>
              <a:rPr lang="en-US" sz="1200" b="1">
                <a:solidFill>
                  <a:schemeClr val="accent5">
                    <a:lumMod val="76000"/>
                  </a:schemeClr>
                </a:solidFill>
                <a:ea typeface="+mn-lt"/>
                <a:cs typeface="+mn-lt"/>
              </a:rPr>
              <a:t>Prompt 2 — Connect Data:</a:t>
            </a:r>
            <a:r>
              <a:rPr lang="en-US" sz="1200">
                <a:solidFill>
                  <a:schemeClr val="accent5">
                    <a:lumMod val="76000"/>
                  </a:schemeClr>
                </a:solidFill>
                <a:ea typeface="+mn-lt"/>
                <a:cs typeface="+mn-lt"/>
              </a:rPr>
              <a:t> "</a:t>
            </a:r>
            <a:r>
              <a:rPr lang="en-US" sz="1200" i="1">
                <a:solidFill>
                  <a:schemeClr val="accent5">
                    <a:lumMod val="76000"/>
                  </a:schemeClr>
                </a:solidFill>
                <a:ea typeface="+mn-lt"/>
                <a:cs typeface="+mn-lt"/>
              </a:rPr>
              <a:t>Look at the existing project structure and replace all dummy seed data in React Context with real Supabase queries. Fetch [table names] from Supabase on page load. Make all form actions insert, update, and delete from Supabase instead of local state.</a:t>
            </a:r>
            <a:r>
              <a:rPr lang="en-US" sz="1200">
                <a:solidFill>
                  <a:schemeClr val="accent5">
                    <a:lumMod val="76000"/>
                  </a:schemeClr>
                </a:solidFill>
                <a:ea typeface="+mn-lt"/>
                <a:cs typeface="+mn-lt"/>
              </a:rPr>
              <a:t>"</a:t>
            </a:r>
            <a:endParaRPr lang="en-US" sz="1200">
              <a:solidFill>
                <a:schemeClr val="accent5">
                  <a:lumMod val="76000"/>
                </a:schemeClr>
              </a:solidFill>
              <a:ea typeface="Calibri"/>
              <a:cs typeface="Calibri"/>
            </a:endParaRPr>
          </a:p>
          <a:p>
            <a:endParaRPr lang="en-US" sz="1200">
              <a:ea typeface="Calibri"/>
              <a:cs typeface="Calibri"/>
            </a:endParaRPr>
          </a:p>
          <a:p>
            <a:r>
              <a:rPr lang="en-US" sz="1200" b="1">
                <a:solidFill>
                  <a:schemeClr val="accent5">
                    <a:lumMod val="76000"/>
                  </a:schemeClr>
                </a:solidFill>
                <a:ea typeface="+mn-lt"/>
                <a:cs typeface="+mn-lt"/>
              </a:rPr>
              <a:t>Prompt 3 — Auth and Realtime:</a:t>
            </a:r>
            <a:r>
              <a:rPr lang="en-US" sz="1200">
                <a:solidFill>
                  <a:schemeClr val="accent5">
                    <a:lumMod val="76000"/>
                  </a:schemeClr>
                </a:solidFill>
                <a:ea typeface="+mn-lt"/>
                <a:cs typeface="+mn-lt"/>
              </a:rPr>
              <a:t> "</a:t>
            </a:r>
            <a:r>
              <a:rPr lang="en-US" sz="1200" i="1">
                <a:solidFill>
                  <a:schemeClr val="accent5">
                    <a:lumMod val="76000"/>
                  </a:schemeClr>
                </a:solidFill>
                <a:ea typeface="+mn-lt"/>
                <a:cs typeface="+mn-lt"/>
              </a:rPr>
              <a:t>Look at the existing project structure and replace the dummy login and signup with Supabase Auth using signInWithPassword and signUp. Protect all routes so only logged in users can access them. Add Supabase realtime subscriptions on [table names] so the UI updates automatically without page refresh."</a:t>
            </a:r>
            <a:endParaRPr lang="en-US" sz="1200" i="1">
              <a:solidFill>
                <a:schemeClr val="accent5">
                  <a:lumMod val="76000"/>
                </a:schemeClr>
              </a:solidFill>
              <a:ea typeface="Calibri"/>
              <a:cs typeface="Calibri"/>
            </a:endParaRPr>
          </a:p>
          <a:p>
            <a:endParaRPr lang="en-US" sz="1200" i="1">
              <a:solidFill>
                <a:schemeClr val="accent5">
                  <a:lumMod val="76000"/>
                </a:schemeClr>
              </a:solidFill>
              <a:ea typeface="Calibri"/>
              <a:cs typeface="Calibri"/>
            </a:endParaRPr>
          </a:p>
          <a:p>
            <a:r>
              <a:rPr lang="en-US" sz="1200" b="1">
                <a:solidFill>
                  <a:schemeClr val="accent5">
                    <a:lumMod val="76000"/>
                  </a:schemeClr>
                </a:solidFill>
                <a:ea typeface="Calibri"/>
                <a:cs typeface="Calibri"/>
              </a:rPr>
              <a:t>Prompt 4 – Explain Code :</a:t>
            </a:r>
            <a:r>
              <a:rPr lang="en-US" sz="1200" b="1">
                <a:solidFill>
                  <a:srgbClr val="0070C0"/>
                </a:solidFill>
                <a:ea typeface="Calibri"/>
                <a:cs typeface="Calibri"/>
              </a:rPr>
              <a:t> </a:t>
            </a:r>
            <a:r>
              <a:rPr lang="en-US" sz="1200" i="1">
                <a:solidFill>
                  <a:srgbClr val="0070C0"/>
                </a:solidFill>
                <a:ea typeface="Calibri"/>
                <a:cs typeface="Calibri"/>
              </a:rPr>
              <a:t>"Explain the code in server.js lines 28–33 line by line, like I am a complete beginner. What is each line doing and why?"</a:t>
            </a:r>
            <a:endParaRPr lang="en-US" sz="1200">
              <a:solidFill>
                <a:srgbClr val="0070C0"/>
              </a:solidFill>
              <a:ea typeface="Calibri"/>
              <a:cs typeface="Calibri"/>
            </a:endParaRPr>
          </a:p>
          <a:p>
            <a:endParaRPr lang="en-US" sz="1200" i="1">
              <a:solidFill>
                <a:srgbClr val="0070C0"/>
              </a:solidFill>
              <a:ea typeface="Calibri"/>
              <a:cs typeface="Calibri"/>
            </a:endParaRPr>
          </a:p>
          <a:p>
            <a:r>
              <a:rPr lang="en-US" sz="1200" b="1">
                <a:solidFill>
                  <a:srgbClr val="0070C0"/>
                </a:solidFill>
                <a:ea typeface="Calibri"/>
                <a:cs typeface="Calibri"/>
              </a:rPr>
              <a:t>Prompt 5 – Refactor :  </a:t>
            </a:r>
            <a:r>
              <a:rPr lang="en-US" sz="1200" i="1">
                <a:solidFill>
                  <a:srgbClr val="0070C0"/>
                </a:solidFill>
                <a:ea typeface="Calibri"/>
                <a:cs typeface="Calibri"/>
              </a:rPr>
              <a:t>"Refactor this code to be more readable. Add a comment above each section explaining what it does."</a:t>
            </a:r>
            <a:endParaRPr lang="en-US" sz="1200">
              <a:solidFill>
                <a:srgbClr val="0070C0"/>
              </a:solidFill>
              <a:ea typeface="Calibri"/>
              <a:cs typeface="Calibri"/>
            </a:endParaRPr>
          </a:p>
          <a:p>
            <a:endParaRPr lang="en-US" sz="1300" i="1">
              <a:solidFill>
                <a:srgbClr val="0070C0"/>
              </a:solidFill>
              <a:ea typeface="Calibri"/>
              <a:cs typeface="Calibri"/>
            </a:endParaRPr>
          </a:p>
          <a:p>
            <a:r>
              <a:rPr lang="en-US" sz="1200" b="1" i="1">
                <a:solidFill>
                  <a:srgbClr val="FF0000"/>
                </a:solidFill>
                <a:ea typeface="Calibri"/>
                <a:cs typeface="Calibri"/>
              </a:rPr>
              <a:t>Note (prompt for admin and regular user) : </a:t>
            </a:r>
            <a:r>
              <a:rPr lang="en-US" sz="1200">
                <a:solidFill>
                  <a:srgbClr val="C00000"/>
                </a:solidFill>
                <a:ea typeface="+mn-lt"/>
                <a:cs typeface="+mn-lt"/>
              </a:rPr>
              <a:t>"Look at the existing project structure. Show the [action buttons] only if the logged in user has the [Admin/Staff] role. If the user has the [Patient/User] role, hide those buttons and only show the [status/view]. Store the user role in </a:t>
            </a:r>
            <a:r>
              <a:rPr lang="en-US" sz="1200" err="1">
                <a:solidFill>
                  <a:srgbClr val="C00000"/>
                </a:solidFill>
                <a:ea typeface="+mn-lt"/>
                <a:cs typeface="+mn-lt"/>
              </a:rPr>
              <a:t>Supabase</a:t>
            </a:r>
            <a:r>
              <a:rPr lang="en-US" sz="1200">
                <a:solidFill>
                  <a:srgbClr val="C00000"/>
                </a:solidFill>
                <a:ea typeface="+mn-lt"/>
                <a:cs typeface="+mn-lt"/>
              </a:rPr>
              <a:t> auth user metadata during signup. For this project, the action buttons are Fulfill Request and Reject, the privileged role is Admin or Staff, the regular role is Patient, and the regular user should only see the request status."</a:t>
            </a:r>
            <a:endParaRPr lang="en-US" sz="1200" i="1">
              <a:solidFill>
                <a:srgbClr val="C00000"/>
              </a:solidFill>
              <a:ea typeface="Calibri"/>
              <a:cs typeface="Calibri"/>
            </a:endParaRPr>
          </a:p>
          <a:p>
            <a:endParaRPr lang="en-US" sz="1300" i="1">
              <a:solidFill>
                <a:srgbClr val="0070C0"/>
              </a:solidFill>
              <a:ea typeface="Calibri"/>
              <a:cs typeface="Calibri"/>
            </a:endParaRPr>
          </a:p>
          <a:p>
            <a:endParaRPr lang="en-US" sz="1300">
              <a:solidFill>
                <a:srgbClr val="0070C0"/>
              </a:solidFill>
              <a:ea typeface="Calibri"/>
              <a:cs typeface="Calibri"/>
            </a:endParaRPr>
          </a:p>
          <a:p>
            <a:endParaRPr lang="en-US" sz="1300">
              <a:solidFill>
                <a:srgbClr val="000000"/>
              </a:solidFill>
              <a:ea typeface="Calibri"/>
              <a:cs typeface="Calibri"/>
            </a:endParaRPr>
          </a:p>
        </p:txBody>
      </p:sp>
    </p:spTree>
    <p:extLst>
      <p:ext uri="{BB962C8B-B14F-4D97-AF65-F5344CB8AC3E}">
        <p14:creationId xmlns:p14="http://schemas.microsoft.com/office/powerpoint/2010/main" val="2793020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B45309"/>
          </a:solidFill>
          <a:ln w="12700">
            <a:solidFill>
              <a:srgbClr val="B45309"/>
            </a:solidFill>
            <a:prstDash val="solid"/>
          </a:ln>
        </p:spPr>
        <p:txBody>
          <a:bodyPr/>
          <a:lstStyle/>
          <a:p>
            <a:endParaRPr lang="en-IN"/>
          </a:p>
        </p:txBody>
      </p:sp>
      <p:sp>
        <p:nvSpPr>
          <p:cNvPr id="3" name="Text 1"/>
          <p:cNvSpPr/>
          <p:nvPr/>
        </p:nvSpPr>
        <p:spPr>
          <a:xfrm>
            <a:off x="731520" y="731520"/>
            <a:ext cx="8229600" cy="457200"/>
          </a:xfrm>
          <a:prstGeom prst="rect">
            <a:avLst/>
          </a:prstGeom>
          <a:noFill/>
          <a:ln/>
        </p:spPr>
        <p:txBody>
          <a:bodyPr wrap="square" rtlCol="0" anchor="ctr"/>
          <a:lstStyle/>
          <a:p>
            <a:pPr marL="0" indent="0">
              <a:buNone/>
            </a:pPr>
            <a:r>
              <a:rPr lang="en-US" sz="1300" b="1" kern="0" spc="400">
                <a:solidFill>
                  <a:srgbClr val="B45309"/>
                </a:solidFill>
                <a:latin typeface="Calibri" pitchFamily="34" charset="0"/>
                <a:ea typeface="Calibri" pitchFamily="34" charset="-122"/>
                <a:cs typeface="Calibri" pitchFamily="34" charset="-120"/>
              </a:rPr>
              <a:t>TOPIC 3</a:t>
            </a:r>
            <a:endParaRPr lang="en-US" sz="1300"/>
          </a:p>
        </p:txBody>
      </p:sp>
      <p:sp>
        <p:nvSpPr>
          <p:cNvPr id="4" name="Text 2"/>
          <p:cNvSpPr/>
          <p:nvPr/>
        </p:nvSpPr>
        <p:spPr>
          <a:xfrm>
            <a:off x="731520" y="1188720"/>
            <a:ext cx="8229600" cy="1005840"/>
          </a:xfrm>
          <a:prstGeom prst="rect">
            <a:avLst/>
          </a:prstGeom>
          <a:noFill/>
          <a:ln/>
        </p:spPr>
        <p:txBody>
          <a:bodyPr wrap="square" rtlCol="0" anchor="ctr"/>
          <a:lstStyle/>
          <a:p>
            <a:pPr marL="0" indent="0">
              <a:buNone/>
            </a:pPr>
            <a:r>
              <a:rPr lang="en-US" sz="4800" b="1">
                <a:solidFill>
                  <a:srgbClr val="111111"/>
                </a:solidFill>
                <a:latin typeface="Calibri" pitchFamily="34" charset="0"/>
                <a:ea typeface="Calibri" pitchFamily="34" charset="-122"/>
                <a:cs typeface="Calibri" pitchFamily="34" charset="-120"/>
              </a:rPr>
              <a:t>Database &amp; BaaS</a:t>
            </a:r>
            <a:endParaRPr lang="en-US" sz="4800"/>
          </a:p>
        </p:txBody>
      </p:sp>
      <p:sp>
        <p:nvSpPr>
          <p:cNvPr id="5" name="Text 3"/>
          <p:cNvSpPr/>
          <p:nvPr/>
        </p:nvSpPr>
        <p:spPr>
          <a:xfrm>
            <a:off x="731520" y="2148840"/>
            <a:ext cx="8229600" cy="640080"/>
          </a:xfrm>
          <a:prstGeom prst="rect">
            <a:avLst/>
          </a:prstGeom>
          <a:noFill/>
          <a:ln/>
        </p:spPr>
        <p:txBody>
          <a:bodyPr wrap="square" rtlCol="0" anchor="ctr"/>
          <a:lstStyle/>
          <a:p>
            <a:pPr marL="0" indent="0">
              <a:buNone/>
            </a:pPr>
            <a:r>
              <a:rPr lang="en-US" sz="2800">
                <a:solidFill>
                  <a:srgbClr val="6B7280"/>
                </a:solidFill>
                <a:latin typeface="Calibri" pitchFamily="34" charset="0"/>
                <a:ea typeface="Calibri" pitchFamily="34" charset="-122"/>
                <a:cs typeface="Calibri" pitchFamily="34" charset="-120"/>
              </a:rPr>
              <a:t>with Supabase</a:t>
            </a:r>
            <a:endParaRPr lang="en-US" sz="2800"/>
          </a:p>
        </p:txBody>
      </p:sp>
      <p:sp>
        <p:nvSpPr>
          <p:cNvPr id="6" name="Shape 4"/>
          <p:cNvSpPr/>
          <p:nvPr/>
        </p:nvSpPr>
        <p:spPr>
          <a:xfrm>
            <a:off x="731520" y="2926080"/>
            <a:ext cx="3657600" cy="0"/>
          </a:xfrm>
          <a:prstGeom prst="line">
            <a:avLst/>
          </a:prstGeom>
          <a:noFill/>
          <a:ln w="6350">
            <a:solidFill>
              <a:srgbClr val="E5E7EB"/>
            </a:solidFill>
            <a:prstDash val="solid"/>
          </a:ln>
        </p:spPr>
        <p:txBody>
          <a:bodyPr/>
          <a:lstStyle/>
          <a:p>
            <a:endParaRPr lang="en-IN"/>
          </a:p>
        </p:txBody>
      </p:sp>
      <p:sp>
        <p:nvSpPr>
          <p:cNvPr id="7" name="Text 5"/>
          <p:cNvSpPr/>
          <p:nvPr/>
        </p:nvSpPr>
        <p:spPr>
          <a:xfrm>
            <a:off x="731520" y="3090672"/>
            <a:ext cx="4572000" cy="365760"/>
          </a:xfrm>
          <a:prstGeom prst="rect">
            <a:avLst/>
          </a:prstGeom>
          <a:noFill/>
          <a:ln/>
        </p:spPr>
        <p:txBody>
          <a:bodyPr wrap="square" rtlCol="0" anchor="ctr"/>
          <a:lstStyle/>
          <a:p>
            <a:pPr marL="0" indent="0">
              <a:buNone/>
            </a:pPr>
            <a:r>
              <a:rPr lang="en-US" sz="1200">
                <a:solidFill>
                  <a:srgbClr val="6B7280"/>
                </a:solidFill>
                <a:latin typeface="Calibri" pitchFamily="34" charset="0"/>
                <a:ea typeface="Calibri" pitchFamily="34" charset="-122"/>
                <a:cs typeface="Calibri" pitchFamily="34" charset="-120"/>
              </a:rPr>
              <a:t>11:55 – 12:30   |   35 minutes</a:t>
            </a:r>
            <a:endParaRPr lang="en-US" sz="1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45309"/>
          </a:solidFill>
          <a:ln w="12700">
            <a:solidFill>
              <a:srgbClr val="B45309"/>
            </a:solidFill>
            <a:prstDash val="solid"/>
          </a:ln>
        </p:spPr>
        <p:txBody>
          <a:bodyPr/>
          <a:lstStyle/>
          <a:p>
            <a:endParaRPr lang="en-IN"/>
          </a:p>
        </p:txBody>
      </p:sp>
      <p:sp>
        <p:nvSpPr>
          <p:cNvPr id="3" name="Text 1"/>
          <p:cNvSpPr/>
          <p:nvPr/>
        </p:nvSpPr>
        <p:spPr>
          <a:xfrm>
            <a:off x="365760" y="164592"/>
            <a:ext cx="6858000" cy="457200"/>
          </a:xfrm>
          <a:prstGeom prst="rect">
            <a:avLst/>
          </a:prstGeom>
          <a:noFill/>
          <a:ln/>
        </p:spPr>
        <p:txBody>
          <a:bodyPr wrap="square" lIns="91440" tIns="45720" rIns="91440" bIns="45720" rtlCol="0" anchor="ctr"/>
          <a:lstStyle/>
          <a:p>
            <a:pPr marL="0" indent="0">
              <a:buNone/>
            </a:pPr>
            <a:r>
              <a:rPr lang="en-US" sz="1800" b="1">
                <a:solidFill>
                  <a:srgbClr val="111111"/>
                </a:solidFill>
                <a:latin typeface="Calibri"/>
                <a:ea typeface="Calibri"/>
                <a:cs typeface="Calibri"/>
              </a:rPr>
              <a:t>Traditional Backend vs Supabase</a:t>
            </a:r>
            <a:endParaRPr lang="en-US" sz="1800">
              <a:latin typeface="Calibri"/>
              <a:ea typeface="Calibri"/>
              <a:cs typeface="Calibri"/>
            </a:endParaRPr>
          </a:p>
        </p:txBody>
      </p:sp>
      <p:sp>
        <p:nvSpPr>
          <p:cNvPr id="4" name="Text 2"/>
          <p:cNvSpPr/>
          <p:nvPr/>
        </p:nvSpPr>
        <p:spPr>
          <a:xfrm>
            <a:off x="7223760" y="164592"/>
            <a:ext cx="1645920" cy="457200"/>
          </a:xfrm>
          <a:prstGeom prst="rect">
            <a:avLst/>
          </a:prstGeom>
          <a:noFill/>
          <a:ln/>
        </p:spPr>
        <p:txBody>
          <a:bodyPr wrap="square" lIns="91440" tIns="45720" rIns="91440" bIns="45720" rtlCol="0" anchor="ctr"/>
          <a:lstStyle/>
          <a:p>
            <a:pPr marL="0" indent="0" algn="r">
              <a:buNone/>
            </a:pPr>
            <a:endParaRPr lang="en-US" sz="1100">
              <a:solidFill>
                <a:srgbClr val="6B7280"/>
              </a:solidFill>
              <a:ea typeface="Calibri"/>
              <a:cs typeface="Calibri"/>
            </a:endParaRPr>
          </a:p>
        </p:txBody>
      </p:sp>
      <p:sp>
        <p:nvSpPr>
          <p:cNvPr id="5" name="Shape 3"/>
          <p:cNvSpPr/>
          <p:nvPr/>
        </p:nvSpPr>
        <p:spPr>
          <a:xfrm>
            <a:off x="365760" y="658368"/>
            <a:ext cx="8412480" cy="0"/>
          </a:xfrm>
          <a:prstGeom prst="line">
            <a:avLst/>
          </a:prstGeom>
          <a:noFill/>
          <a:ln w="6350">
            <a:solidFill>
              <a:srgbClr val="E5E7EB"/>
            </a:solidFill>
            <a:prstDash val="solid"/>
          </a:ln>
        </p:spPr>
        <p:txBody>
          <a:bodyPr/>
          <a:lstStyle/>
          <a:p>
            <a:endParaRPr lang="en-IN"/>
          </a:p>
        </p:txBody>
      </p:sp>
      <p:sp>
        <p:nvSpPr>
          <p:cNvPr id="6" name="Shape 4"/>
          <p:cNvSpPr/>
          <p:nvPr/>
        </p:nvSpPr>
        <p:spPr>
          <a:xfrm>
            <a:off x="274320" y="804672"/>
            <a:ext cx="4023360" cy="4023360"/>
          </a:xfrm>
          <a:prstGeom prst="rect">
            <a:avLst/>
          </a:prstGeom>
          <a:solidFill>
            <a:srgbClr val="FFFFFF"/>
          </a:solidFill>
          <a:ln w="6350">
            <a:solidFill>
              <a:srgbClr val="E5E7EB"/>
            </a:solidFill>
            <a:prstDash val="solid"/>
          </a:ln>
          <a:effectLst>
            <a:outerShdw blurRad="50800" dist="25400" dir="8100000" algn="bl" rotWithShape="0">
              <a:srgbClr val="000000">
                <a:alpha val="6000"/>
              </a:srgbClr>
            </a:outerShdw>
          </a:effectLst>
        </p:spPr>
        <p:txBody>
          <a:bodyPr/>
          <a:lstStyle/>
          <a:p>
            <a:endParaRPr lang="en-IN"/>
          </a:p>
        </p:txBody>
      </p:sp>
      <p:sp>
        <p:nvSpPr>
          <p:cNvPr id="7" name="Shape 5"/>
          <p:cNvSpPr/>
          <p:nvPr/>
        </p:nvSpPr>
        <p:spPr>
          <a:xfrm>
            <a:off x="274320" y="804672"/>
            <a:ext cx="54864" cy="4023360"/>
          </a:xfrm>
          <a:prstGeom prst="rect">
            <a:avLst/>
          </a:prstGeom>
          <a:solidFill>
            <a:srgbClr val="991B1B"/>
          </a:solidFill>
          <a:ln w="12700">
            <a:solidFill>
              <a:srgbClr val="991B1B"/>
            </a:solidFill>
            <a:prstDash val="solid"/>
          </a:ln>
        </p:spPr>
        <p:txBody>
          <a:bodyPr/>
          <a:lstStyle/>
          <a:p>
            <a:endParaRPr lang="en-IN"/>
          </a:p>
        </p:txBody>
      </p:sp>
      <p:sp>
        <p:nvSpPr>
          <p:cNvPr id="8" name="Text 6"/>
          <p:cNvSpPr/>
          <p:nvPr/>
        </p:nvSpPr>
        <p:spPr>
          <a:xfrm>
            <a:off x="502920" y="896112"/>
            <a:ext cx="3566160" cy="365760"/>
          </a:xfrm>
          <a:prstGeom prst="rect">
            <a:avLst/>
          </a:prstGeom>
          <a:noFill/>
          <a:ln/>
        </p:spPr>
        <p:txBody>
          <a:bodyPr wrap="square" rtlCol="0" anchor="ctr"/>
          <a:lstStyle/>
          <a:p>
            <a:pPr marL="0" indent="0">
              <a:buNone/>
            </a:pPr>
            <a:r>
              <a:rPr lang="en-US" sz="1400" b="1">
                <a:solidFill>
                  <a:srgbClr val="991B1B"/>
                </a:solidFill>
                <a:latin typeface="Calibri" pitchFamily="34" charset="0"/>
                <a:ea typeface="Calibri" pitchFamily="34" charset="-122"/>
                <a:cs typeface="Calibri" pitchFamily="34" charset="-120"/>
              </a:rPr>
              <a:t>Traditional Setup</a:t>
            </a:r>
            <a:endParaRPr lang="en-US" sz="1400"/>
          </a:p>
        </p:txBody>
      </p:sp>
      <p:sp>
        <p:nvSpPr>
          <p:cNvPr id="9" name="Text 7"/>
          <p:cNvSpPr/>
          <p:nvPr/>
        </p:nvSpPr>
        <p:spPr>
          <a:xfrm>
            <a:off x="502920" y="1298448"/>
            <a:ext cx="3566160" cy="292608"/>
          </a:xfrm>
          <a:prstGeom prst="rect">
            <a:avLst/>
          </a:prstGeom>
          <a:noFill/>
          <a:ln/>
        </p:spPr>
        <p:txBody>
          <a:bodyPr wrap="square" rtlCol="0" anchor="ctr"/>
          <a:lstStyle/>
          <a:p>
            <a:r>
              <a:rPr lang="en-US" sz="1100" i="1">
                <a:solidFill>
                  <a:srgbClr val="6B7280"/>
                </a:solidFill>
                <a:latin typeface="Calibri" pitchFamily="34" charset="0"/>
                <a:ea typeface="Calibri" pitchFamily="34" charset="-122"/>
                <a:cs typeface="Calibri" pitchFamily="34" charset="-120"/>
              </a:rPr>
              <a:t>Cost: Expensive  </a:t>
            </a:r>
            <a:r>
              <a:rPr lang="en-US" sz="1100" i="1">
                <a:solidFill>
                  <a:srgbClr val="6B7280"/>
                </a:solidFill>
                <a:latin typeface="Trebuchet MS" panose="020B0603020202020204" pitchFamily="34" charset="0"/>
                <a:ea typeface="Calibri" pitchFamily="34" charset="-122"/>
                <a:cs typeface="Calibri" pitchFamily="34" charset="-120"/>
              </a:rPr>
              <a:t>•</a:t>
            </a:r>
            <a:r>
              <a:rPr lang="en-US" sz="1100" i="1">
                <a:solidFill>
                  <a:srgbClr val="6B7280"/>
                </a:solidFill>
                <a:latin typeface="Calibri" pitchFamily="34" charset="0"/>
                <a:ea typeface="Calibri" pitchFamily="34" charset="-122"/>
                <a:cs typeface="Calibri" pitchFamily="34" charset="-120"/>
              </a:rPr>
              <a:t> Time: Weeks </a:t>
            </a:r>
            <a:r>
              <a:rPr lang="en-US" sz="1100" i="1">
                <a:solidFill>
                  <a:srgbClr val="6B7280"/>
                </a:solidFill>
                <a:latin typeface="Trebuchet MS" panose="020B0603020202020204" pitchFamily="34" charset="0"/>
                <a:ea typeface="Calibri" pitchFamily="34" charset="-122"/>
                <a:cs typeface="Calibri" pitchFamily="34" charset="-120"/>
              </a:rPr>
              <a:t>•</a:t>
            </a:r>
            <a:r>
              <a:rPr lang="en-US" sz="1100" i="1">
                <a:solidFill>
                  <a:srgbClr val="6B7280"/>
                </a:solidFill>
                <a:latin typeface="Calibri" pitchFamily="34" charset="0"/>
                <a:ea typeface="Calibri" pitchFamily="34" charset="-122"/>
                <a:cs typeface="Calibri" pitchFamily="34" charset="-120"/>
              </a:rPr>
              <a:t> Complexity: High</a:t>
            </a:r>
            <a:endParaRPr lang="en-US" sz="1100"/>
          </a:p>
        </p:txBody>
      </p:sp>
      <p:sp>
        <p:nvSpPr>
          <p:cNvPr id="10" name="Shape 8"/>
          <p:cNvSpPr/>
          <p:nvPr/>
        </p:nvSpPr>
        <p:spPr>
          <a:xfrm>
            <a:off x="502920" y="1719072"/>
            <a:ext cx="91440" cy="91440"/>
          </a:xfrm>
          <a:prstGeom prst="ellipse">
            <a:avLst/>
          </a:prstGeom>
          <a:solidFill>
            <a:srgbClr val="991B1B"/>
          </a:solidFill>
          <a:ln w="12700">
            <a:solidFill>
              <a:srgbClr val="991B1B"/>
            </a:solidFill>
            <a:prstDash val="solid"/>
          </a:ln>
        </p:spPr>
        <p:txBody>
          <a:bodyPr/>
          <a:lstStyle/>
          <a:p>
            <a:endParaRPr lang="en-IN"/>
          </a:p>
        </p:txBody>
      </p:sp>
      <p:sp>
        <p:nvSpPr>
          <p:cNvPr id="11" name="Text 9"/>
          <p:cNvSpPr/>
          <p:nvPr/>
        </p:nvSpPr>
        <p:spPr>
          <a:xfrm>
            <a:off x="658368" y="1655064"/>
            <a:ext cx="3474720" cy="329184"/>
          </a:xfrm>
          <a:prstGeom prst="rect">
            <a:avLst/>
          </a:prstGeom>
          <a:noFill/>
          <a:ln/>
        </p:spPr>
        <p:txBody>
          <a:bodyPr wrap="square" rtlCol="0" anchor="ctr"/>
          <a:lstStyle/>
          <a:p>
            <a:pPr marL="0" indent="0">
              <a:buNone/>
            </a:pPr>
            <a:r>
              <a:rPr lang="en-US" sz="1100">
                <a:solidFill>
                  <a:srgbClr val="374151"/>
                </a:solidFill>
                <a:latin typeface="Calibri" pitchFamily="34" charset="0"/>
                <a:ea typeface="Calibri" pitchFamily="34" charset="-122"/>
                <a:cs typeface="Calibri" pitchFamily="34" charset="-120"/>
              </a:rPr>
              <a:t>Rent a server (AWS, GCP, etc.)</a:t>
            </a:r>
            <a:endParaRPr lang="en-US" sz="1100"/>
          </a:p>
        </p:txBody>
      </p:sp>
      <p:sp>
        <p:nvSpPr>
          <p:cNvPr id="12" name="Shape 10"/>
          <p:cNvSpPr/>
          <p:nvPr/>
        </p:nvSpPr>
        <p:spPr>
          <a:xfrm>
            <a:off x="502920" y="2112264"/>
            <a:ext cx="91440" cy="91440"/>
          </a:xfrm>
          <a:prstGeom prst="ellipse">
            <a:avLst/>
          </a:prstGeom>
          <a:solidFill>
            <a:srgbClr val="991B1B"/>
          </a:solidFill>
          <a:ln w="12700">
            <a:solidFill>
              <a:srgbClr val="991B1B"/>
            </a:solidFill>
            <a:prstDash val="solid"/>
          </a:ln>
        </p:spPr>
        <p:txBody>
          <a:bodyPr/>
          <a:lstStyle/>
          <a:p>
            <a:endParaRPr lang="en-IN"/>
          </a:p>
        </p:txBody>
      </p:sp>
      <p:sp>
        <p:nvSpPr>
          <p:cNvPr id="13" name="Text 11"/>
          <p:cNvSpPr/>
          <p:nvPr/>
        </p:nvSpPr>
        <p:spPr>
          <a:xfrm>
            <a:off x="658368" y="2048256"/>
            <a:ext cx="3474720" cy="329184"/>
          </a:xfrm>
          <a:prstGeom prst="rect">
            <a:avLst/>
          </a:prstGeom>
          <a:noFill/>
          <a:ln/>
        </p:spPr>
        <p:txBody>
          <a:bodyPr wrap="square" rtlCol="0" anchor="ctr"/>
          <a:lstStyle/>
          <a:p>
            <a:pPr marL="0" indent="0">
              <a:buNone/>
            </a:pPr>
            <a:r>
              <a:rPr lang="en-US" sz="1100">
                <a:solidFill>
                  <a:srgbClr val="374151"/>
                </a:solidFill>
                <a:latin typeface="Calibri" pitchFamily="34" charset="0"/>
                <a:ea typeface="Calibri" pitchFamily="34" charset="-122"/>
                <a:cs typeface="Calibri" pitchFamily="34" charset="-120"/>
              </a:rPr>
              <a:t>Configure PostgreSQL manually</a:t>
            </a:r>
            <a:endParaRPr lang="en-US" sz="1100"/>
          </a:p>
        </p:txBody>
      </p:sp>
      <p:sp>
        <p:nvSpPr>
          <p:cNvPr id="14" name="Shape 12"/>
          <p:cNvSpPr/>
          <p:nvPr/>
        </p:nvSpPr>
        <p:spPr>
          <a:xfrm>
            <a:off x="502920" y="2505456"/>
            <a:ext cx="91440" cy="91440"/>
          </a:xfrm>
          <a:prstGeom prst="ellipse">
            <a:avLst/>
          </a:prstGeom>
          <a:solidFill>
            <a:srgbClr val="991B1B"/>
          </a:solidFill>
          <a:ln w="12700">
            <a:solidFill>
              <a:srgbClr val="991B1B"/>
            </a:solidFill>
            <a:prstDash val="solid"/>
          </a:ln>
        </p:spPr>
        <p:txBody>
          <a:bodyPr/>
          <a:lstStyle/>
          <a:p>
            <a:endParaRPr lang="en-IN"/>
          </a:p>
        </p:txBody>
      </p:sp>
      <p:sp>
        <p:nvSpPr>
          <p:cNvPr id="15" name="Text 13"/>
          <p:cNvSpPr/>
          <p:nvPr/>
        </p:nvSpPr>
        <p:spPr>
          <a:xfrm>
            <a:off x="658368" y="2441448"/>
            <a:ext cx="3474720" cy="329184"/>
          </a:xfrm>
          <a:prstGeom prst="rect">
            <a:avLst/>
          </a:prstGeom>
          <a:noFill/>
          <a:ln/>
        </p:spPr>
        <p:txBody>
          <a:bodyPr wrap="square" rtlCol="0" anchor="ctr"/>
          <a:lstStyle/>
          <a:p>
            <a:pPr marL="0" indent="0">
              <a:buNone/>
            </a:pPr>
            <a:r>
              <a:rPr lang="en-US" sz="1100">
                <a:solidFill>
                  <a:srgbClr val="374151"/>
                </a:solidFill>
                <a:latin typeface="Calibri" pitchFamily="34" charset="0"/>
                <a:ea typeface="Calibri" pitchFamily="34" charset="-122"/>
                <a:cs typeface="Calibri" pitchFamily="34" charset="-120"/>
              </a:rPr>
              <a:t>Build an auth system from scratch</a:t>
            </a:r>
            <a:endParaRPr lang="en-US" sz="1100"/>
          </a:p>
        </p:txBody>
      </p:sp>
      <p:sp>
        <p:nvSpPr>
          <p:cNvPr id="16" name="Shape 14"/>
          <p:cNvSpPr/>
          <p:nvPr/>
        </p:nvSpPr>
        <p:spPr>
          <a:xfrm>
            <a:off x="502920" y="2898648"/>
            <a:ext cx="91440" cy="91440"/>
          </a:xfrm>
          <a:prstGeom prst="ellipse">
            <a:avLst/>
          </a:prstGeom>
          <a:solidFill>
            <a:srgbClr val="991B1B"/>
          </a:solidFill>
          <a:ln w="12700">
            <a:solidFill>
              <a:srgbClr val="991B1B"/>
            </a:solidFill>
            <a:prstDash val="solid"/>
          </a:ln>
        </p:spPr>
        <p:txBody>
          <a:bodyPr/>
          <a:lstStyle/>
          <a:p>
            <a:endParaRPr lang="en-IN"/>
          </a:p>
        </p:txBody>
      </p:sp>
      <p:sp>
        <p:nvSpPr>
          <p:cNvPr id="17" name="Text 15"/>
          <p:cNvSpPr/>
          <p:nvPr/>
        </p:nvSpPr>
        <p:spPr>
          <a:xfrm>
            <a:off x="658368" y="2834640"/>
            <a:ext cx="3474720" cy="329184"/>
          </a:xfrm>
          <a:prstGeom prst="rect">
            <a:avLst/>
          </a:prstGeom>
          <a:noFill/>
          <a:ln/>
        </p:spPr>
        <p:txBody>
          <a:bodyPr wrap="square" rtlCol="0" anchor="ctr"/>
          <a:lstStyle/>
          <a:p>
            <a:pPr marL="0" indent="0">
              <a:buNone/>
            </a:pPr>
            <a:r>
              <a:rPr lang="en-US" sz="1100">
                <a:solidFill>
                  <a:srgbClr val="374151"/>
                </a:solidFill>
                <a:latin typeface="Calibri" pitchFamily="34" charset="0"/>
                <a:ea typeface="Calibri" pitchFamily="34" charset="-122"/>
                <a:cs typeface="Calibri" pitchFamily="34" charset="-120"/>
              </a:rPr>
              <a:t>Write all API endpoints by hand</a:t>
            </a:r>
            <a:endParaRPr lang="en-US" sz="1100"/>
          </a:p>
        </p:txBody>
      </p:sp>
      <p:sp>
        <p:nvSpPr>
          <p:cNvPr id="18" name="Shape 16"/>
          <p:cNvSpPr/>
          <p:nvPr/>
        </p:nvSpPr>
        <p:spPr>
          <a:xfrm>
            <a:off x="502920" y="3291840"/>
            <a:ext cx="91440" cy="91440"/>
          </a:xfrm>
          <a:prstGeom prst="ellipse">
            <a:avLst/>
          </a:prstGeom>
          <a:solidFill>
            <a:srgbClr val="991B1B"/>
          </a:solidFill>
          <a:ln w="12700">
            <a:solidFill>
              <a:srgbClr val="991B1B"/>
            </a:solidFill>
            <a:prstDash val="solid"/>
          </a:ln>
        </p:spPr>
        <p:txBody>
          <a:bodyPr/>
          <a:lstStyle/>
          <a:p>
            <a:endParaRPr lang="en-IN"/>
          </a:p>
        </p:txBody>
      </p:sp>
      <p:sp>
        <p:nvSpPr>
          <p:cNvPr id="19" name="Text 17"/>
          <p:cNvSpPr/>
          <p:nvPr/>
        </p:nvSpPr>
        <p:spPr>
          <a:xfrm>
            <a:off x="658368" y="3227832"/>
            <a:ext cx="3474720" cy="329184"/>
          </a:xfrm>
          <a:prstGeom prst="rect">
            <a:avLst/>
          </a:prstGeom>
          <a:noFill/>
          <a:ln/>
        </p:spPr>
        <p:txBody>
          <a:bodyPr wrap="square" rtlCol="0" anchor="ctr"/>
          <a:lstStyle/>
          <a:p>
            <a:pPr marL="0" indent="0">
              <a:buNone/>
            </a:pPr>
            <a:r>
              <a:rPr lang="en-US" sz="1100">
                <a:solidFill>
                  <a:srgbClr val="374151"/>
                </a:solidFill>
                <a:latin typeface="Calibri" pitchFamily="34" charset="0"/>
                <a:ea typeface="Calibri" pitchFamily="34" charset="-122"/>
                <a:cs typeface="Calibri" pitchFamily="34" charset="-120"/>
              </a:rPr>
              <a:t>Set up file storage separately</a:t>
            </a:r>
            <a:endParaRPr lang="en-US" sz="1100"/>
          </a:p>
        </p:txBody>
      </p:sp>
      <p:sp>
        <p:nvSpPr>
          <p:cNvPr id="20" name="Shape 18"/>
          <p:cNvSpPr/>
          <p:nvPr/>
        </p:nvSpPr>
        <p:spPr>
          <a:xfrm>
            <a:off x="502920" y="3685032"/>
            <a:ext cx="91440" cy="91440"/>
          </a:xfrm>
          <a:prstGeom prst="ellipse">
            <a:avLst/>
          </a:prstGeom>
          <a:solidFill>
            <a:srgbClr val="991B1B"/>
          </a:solidFill>
          <a:ln w="12700">
            <a:solidFill>
              <a:srgbClr val="991B1B"/>
            </a:solidFill>
            <a:prstDash val="solid"/>
          </a:ln>
        </p:spPr>
        <p:txBody>
          <a:bodyPr/>
          <a:lstStyle/>
          <a:p>
            <a:endParaRPr lang="en-IN"/>
          </a:p>
        </p:txBody>
      </p:sp>
      <p:sp>
        <p:nvSpPr>
          <p:cNvPr id="21" name="Text 19"/>
          <p:cNvSpPr/>
          <p:nvPr/>
        </p:nvSpPr>
        <p:spPr>
          <a:xfrm>
            <a:off x="658368" y="3621024"/>
            <a:ext cx="3474720" cy="329184"/>
          </a:xfrm>
          <a:prstGeom prst="rect">
            <a:avLst/>
          </a:prstGeom>
          <a:noFill/>
          <a:ln/>
        </p:spPr>
        <p:txBody>
          <a:bodyPr wrap="square" rtlCol="0" anchor="ctr"/>
          <a:lstStyle/>
          <a:p>
            <a:pPr marL="0" indent="0">
              <a:buNone/>
            </a:pPr>
            <a:r>
              <a:rPr lang="en-US" sz="1100">
                <a:solidFill>
                  <a:srgbClr val="374151"/>
                </a:solidFill>
                <a:latin typeface="Calibri" pitchFamily="34" charset="0"/>
                <a:ea typeface="Calibri" pitchFamily="34" charset="-122"/>
                <a:cs typeface="Calibri" pitchFamily="34" charset="-120"/>
              </a:rPr>
              <a:t>Configure monitoring and logging</a:t>
            </a:r>
            <a:endParaRPr lang="en-US" sz="1100"/>
          </a:p>
        </p:txBody>
      </p:sp>
      <p:sp>
        <p:nvSpPr>
          <p:cNvPr id="22" name="Shape 20"/>
          <p:cNvSpPr/>
          <p:nvPr/>
        </p:nvSpPr>
        <p:spPr>
          <a:xfrm>
            <a:off x="4572000" y="804672"/>
            <a:ext cx="4297680" cy="4023360"/>
          </a:xfrm>
          <a:prstGeom prst="rect">
            <a:avLst/>
          </a:prstGeom>
          <a:solidFill>
            <a:srgbClr val="FFFFFF"/>
          </a:solidFill>
          <a:ln w="6350">
            <a:solidFill>
              <a:srgbClr val="E5E7EB"/>
            </a:solidFill>
            <a:prstDash val="solid"/>
          </a:ln>
          <a:effectLst>
            <a:outerShdw blurRad="50800" dist="25400" dir="8100000" algn="bl" rotWithShape="0">
              <a:srgbClr val="000000">
                <a:alpha val="6000"/>
              </a:srgbClr>
            </a:outerShdw>
          </a:effectLst>
        </p:spPr>
        <p:txBody>
          <a:bodyPr/>
          <a:lstStyle/>
          <a:p>
            <a:endParaRPr lang="en-IN"/>
          </a:p>
        </p:txBody>
      </p:sp>
      <p:sp>
        <p:nvSpPr>
          <p:cNvPr id="23" name="Shape 21"/>
          <p:cNvSpPr/>
          <p:nvPr/>
        </p:nvSpPr>
        <p:spPr>
          <a:xfrm>
            <a:off x="4572000" y="804672"/>
            <a:ext cx="54864" cy="4023360"/>
          </a:xfrm>
          <a:prstGeom prst="rect">
            <a:avLst/>
          </a:prstGeom>
          <a:solidFill>
            <a:srgbClr val="065F46"/>
          </a:solidFill>
          <a:ln w="12700">
            <a:solidFill>
              <a:srgbClr val="065F46"/>
            </a:solidFill>
            <a:prstDash val="solid"/>
          </a:ln>
        </p:spPr>
        <p:txBody>
          <a:bodyPr/>
          <a:lstStyle/>
          <a:p>
            <a:endParaRPr lang="en-IN"/>
          </a:p>
        </p:txBody>
      </p:sp>
      <p:sp>
        <p:nvSpPr>
          <p:cNvPr id="24" name="Text 22"/>
          <p:cNvSpPr/>
          <p:nvPr/>
        </p:nvSpPr>
        <p:spPr>
          <a:xfrm>
            <a:off x="4800600" y="896112"/>
            <a:ext cx="3840480" cy="365760"/>
          </a:xfrm>
          <a:prstGeom prst="rect">
            <a:avLst/>
          </a:prstGeom>
          <a:noFill/>
          <a:ln/>
        </p:spPr>
        <p:txBody>
          <a:bodyPr wrap="square" lIns="91440" tIns="45720" rIns="91440" bIns="45720" rtlCol="0" anchor="ctr"/>
          <a:lstStyle/>
          <a:p>
            <a:pPr marL="0" indent="0">
              <a:buNone/>
            </a:pPr>
            <a:r>
              <a:rPr lang="en-US" sz="1400" b="1">
                <a:solidFill>
                  <a:srgbClr val="065F46"/>
                </a:solidFill>
                <a:latin typeface="Calibri"/>
                <a:ea typeface="Calibri"/>
                <a:cs typeface="Calibri"/>
              </a:rPr>
              <a:t>Supabase</a:t>
            </a:r>
            <a:endParaRPr lang="en-US" sz="1400">
              <a:latin typeface="Calibri"/>
              <a:ea typeface="Calibri"/>
              <a:cs typeface="Calibri"/>
            </a:endParaRPr>
          </a:p>
        </p:txBody>
      </p:sp>
      <p:sp>
        <p:nvSpPr>
          <p:cNvPr id="25" name="Text 23"/>
          <p:cNvSpPr/>
          <p:nvPr/>
        </p:nvSpPr>
        <p:spPr>
          <a:xfrm>
            <a:off x="4800600" y="1298448"/>
            <a:ext cx="3840480" cy="292608"/>
          </a:xfrm>
          <a:prstGeom prst="rect">
            <a:avLst/>
          </a:prstGeom>
          <a:noFill/>
          <a:ln/>
        </p:spPr>
        <p:txBody>
          <a:bodyPr wrap="square" rtlCol="0" anchor="ctr"/>
          <a:lstStyle/>
          <a:p>
            <a:r>
              <a:rPr lang="en-US" sz="1100" i="1">
                <a:solidFill>
                  <a:srgbClr val="6B7280"/>
                </a:solidFill>
                <a:latin typeface="Calibri" pitchFamily="34" charset="0"/>
                <a:ea typeface="Calibri" pitchFamily="34" charset="-122"/>
                <a:cs typeface="Calibri" pitchFamily="34" charset="-120"/>
              </a:rPr>
              <a:t>Cost: Free </a:t>
            </a:r>
            <a:r>
              <a:rPr lang="en-US" sz="1100" i="1">
                <a:solidFill>
                  <a:srgbClr val="6B7280"/>
                </a:solidFill>
                <a:latin typeface="Trebuchet MS" panose="020B0603020202020204" pitchFamily="34" charset="0"/>
                <a:ea typeface="Calibri" pitchFamily="34" charset="-122"/>
                <a:cs typeface="Calibri" pitchFamily="34" charset="-120"/>
              </a:rPr>
              <a:t>•</a:t>
            </a:r>
            <a:r>
              <a:rPr lang="en-US" sz="1100" i="1">
                <a:solidFill>
                  <a:srgbClr val="6B7280"/>
                </a:solidFill>
                <a:latin typeface="Calibri" pitchFamily="34" charset="0"/>
                <a:ea typeface="Calibri" pitchFamily="34" charset="-122"/>
                <a:cs typeface="Calibri" pitchFamily="34" charset="-120"/>
              </a:rPr>
              <a:t> Time: Minutes </a:t>
            </a:r>
            <a:r>
              <a:rPr lang="en-US" sz="1100" i="1">
                <a:solidFill>
                  <a:srgbClr val="6B7280"/>
                </a:solidFill>
                <a:latin typeface="Trebuchet MS" panose="020B0603020202020204" pitchFamily="34" charset="0"/>
                <a:ea typeface="Calibri" pitchFamily="34" charset="-122"/>
                <a:cs typeface="Calibri" pitchFamily="34" charset="-120"/>
              </a:rPr>
              <a:t>•</a:t>
            </a:r>
            <a:r>
              <a:rPr lang="en-US" sz="1100" i="1">
                <a:solidFill>
                  <a:srgbClr val="6B7280"/>
                </a:solidFill>
                <a:latin typeface="Calibri" pitchFamily="34" charset="0"/>
                <a:ea typeface="Calibri" pitchFamily="34" charset="-122"/>
                <a:cs typeface="Calibri" pitchFamily="34" charset="-120"/>
              </a:rPr>
              <a:t> Complexity: Low</a:t>
            </a:r>
            <a:endParaRPr lang="en-US" sz="1100"/>
          </a:p>
        </p:txBody>
      </p:sp>
      <p:sp>
        <p:nvSpPr>
          <p:cNvPr id="26" name="Shape 24"/>
          <p:cNvSpPr/>
          <p:nvPr/>
        </p:nvSpPr>
        <p:spPr>
          <a:xfrm>
            <a:off x="4800600" y="1719072"/>
            <a:ext cx="91440" cy="91440"/>
          </a:xfrm>
          <a:prstGeom prst="ellipse">
            <a:avLst/>
          </a:prstGeom>
          <a:solidFill>
            <a:srgbClr val="065F46"/>
          </a:solidFill>
          <a:ln w="12700">
            <a:solidFill>
              <a:srgbClr val="065F46"/>
            </a:solidFill>
            <a:prstDash val="solid"/>
          </a:ln>
        </p:spPr>
        <p:txBody>
          <a:bodyPr/>
          <a:lstStyle/>
          <a:p>
            <a:endParaRPr lang="en-IN"/>
          </a:p>
        </p:txBody>
      </p:sp>
      <p:sp>
        <p:nvSpPr>
          <p:cNvPr id="27" name="Text 25"/>
          <p:cNvSpPr/>
          <p:nvPr/>
        </p:nvSpPr>
        <p:spPr>
          <a:xfrm>
            <a:off x="4956048" y="1655064"/>
            <a:ext cx="3749040" cy="329184"/>
          </a:xfrm>
          <a:prstGeom prst="rect">
            <a:avLst/>
          </a:prstGeom>
          <a:noFill/>
          <a:ln/>
        </p:spPr>
        <p:txBody>
          <a:bodyPr wrap="square" rtlCol="0" anchor="ctr"/>
          <a:lstStyle/>
          <a:p>
            <a:pPr marL="0" indent="0">
              <a:buNone/>
            </a:pPr>
            <a:r>
              <a:rPr lang="en-US" sz="1100">
                <a:solidFill>
                  <a:srgbClr val="374151"/>
                </a:solidFill>
                <a:latin typeface="Calibri" pitchFamily="34" charset="0"/>
                <a:ea typeface="Calibri" pitchFamily="34" charset="-122"/>
                <a:cs typeface="Calibri" pitchFamily="34" charset="-120"/>
              </a:rPr>
              <a:t>Create project (done in 2 minutes)</a:t>
            </a:r>
            <a:endParaRPr lang="en-US" sz="1100"/>
          </a:p>
        </p:txBody>
      </p:sp>
      <p:sp>
        <p:nvSpPr>
          <p:cNvPr id="28" name="Shape 26"/>
          <p:cNvSpPr/>
          <p:nvPr/>
        </p:nvSpPr>
        <p:spPr>
          <a:xfrm>
            <a:off x="4800600" y="2112264"/>
            <a:ext cx="91440" cy="91440"/>
          </a:xfrm>
          <a:prstGeom prst="ellipse">
            <a:avLst/>
          </a:prstGeom>
          <a:solidFill>
            <a:srgbClr val="065F46"/>
          </a:solidFill>
          <a:ln w="12700">
            <a:solidFill>
              <a:srgbClr val="065F46"/>
            </a:solidFill>
            <a:prstDash val="solid"/>
          </a:ln>
        </p:spPr>
        <p:txBody>
          <a:bodyPr/>
          <a:lstStyle/>
          <a:p>
            <a:endParaRPr lang="en-IN"/>
          </a:p>
        </p:txBody>
      </p:sp>
      <p:sp>
        <p:nvSpPr>
          <p:cNvPr id="29" name="Text 27"/>
          <p:cNvSpPr/>
          <p:nvPr/>
        </p:nvSpPr>
        <p:spPr>
          <a:xfrm>
            <a:off x="4956048" y="2048256"/>
            <a:ext cx="3749040" cy="329184"/>
          </a:xfrm>
          <a:prstGeom prst="rect">
            <a:avLst/>
          </a:prstGeom>
          <a:noFill/>
          <a:ln/>
        </p:spPr>
        <p:txBody>
          <a:bodyPr wrap="square" rtlCol="0" anchor="ctr"/>
          <a:lstStyle/>
          <a:p>
            <a:pPr marL="0" indent="0">
              <a:buNone/>
            </a:pPr>
            <a:r>
              <a:rPr lang="en-US" sz="1100">
                <a:solidFill>
                  <a:srgbClr val="374151"/>
                </a:solidFill>
                <a:latin typeface="Calibri" pitchFamily="34" charset="0"/>
                <a:ea typeface="Calibri" pitchFamily="34" charset="-122"/>
                <a:cs typeface="Calibri" pitchFamily="34" charset="-120"/>
              </a:rPr>
              <a:t>PostgreSQL — auto-configured</a:t>
            </a:r>
            <a:endParaRPr lang="en-US" sz="1100"/>
          </a:p>
        </p:txBody>
      </p:sp>
      <p:sp>
        <p:nvSpPr>
          <p:cNvPr id="30" name="Shape 28"/>
          <p:cNvSpPr/>
          <p:nvPr/>
        </p:nvSpPr>
        <p:spPr>
          <a:xfrm>
            <a:off x="4800600" y="2505456"/>
            <a:ext cx="91440" cy="91440"/>
          </a:xfrm>
          <a:prstGeom prst="ellipse">
            <a:avLst/>
          </a:prstGeom>
          <a:solidFill>
            <a:srgbClr val="065F46"/>
          </a:solidFill>
          <a:ln w="12700">
            <a:solidFill>
              <a:srgbClr val="065F46"/>
            </a:solidFill>
            <a:prstDash val="solid"/>
          </a:ln>
        </p:spPr>
        <p:txBody>
          <a:bodyPr/>
          <a:lstStyle/>
          <a:p>
            <a:endParaRPr lang="en-IN"/>
          </a:p>
        </p:txBody>
      </p:sp>
      <p:sp>
        <p:nvSpPr>
          <p:cNvPr id="31" name="Text 29"/>
          <p:cNvSpPr/>
          <p:nvPr/>
        </p:nvSpPr>
        <p:spPr>
          <a:xfrm>
            <a:off x="4956048" y="2441448"/>
            <a:ext cx="3749040" cy="329184"/>
          </a:xfrm>
          <a:prstGeom prst="rect">
            <a:avLst/>
          </a:prstGeom>
          <a:noFill/>
          <a:ln/>
        </p:spPr>
        <p:txBody>
          <a:bodyPr wrap="square" rtlCol="0" anchor="ctr"/>
          <a:lstStyle/>
          <a:p>
            <a:pPr marL="0" indent="0">
              <a:buNone/>
            </a:pPr>
            <a:r>
              <a:rPr lang="en-US" sz="1100">
                <a:solidFill>
                  <a:srgbClr val="374151"/>
                </a:solidFill>
                <a:latin typeface="Calibri" pitchFamily="34" charset="0"/>
                <a:ea typeface="Calibri" pitchFamily="34" charset="-122"/>
                <a:cs typeface="Calibri" pitchFamily="34" charset="-120"/>
              </a:rPr>
              <a:t>Auth — email, Google, GitHub built in</a:t>
            </a:r>
            <a:endParaRPr lang="en-US" sz="1100"/>
          </a:p>
        </p:txBody>
      </p:sp>
      <p:sp>
        <p:nvSpPr>
          <p:cNvPr id="32" name="Shape 30"/>
          <p:cNvSpPr/>
          <p:nvPr/>
        </p:nvSpPr>
        <p:spPr>
          <a:xfrm>
            <a:off x="4800600" y="2898648"/>
            <a:ext cx="91440" cy="91440"/>
          </a:xfrm>
          <a:prstGeom prst="ellipse">
            <a:avLst/>
          </a:prstGeom>
          <a:solidFill>
            <a:srgbClr val="065F46"/>
          </a:solidFill>
          <a:ln w="12700">
            <a:solidFill>
              <a:srgbClr val="065F46"/>
            </a:solidFill>
            <a:prstDash val="solid"/>
          </a:ln>
        </p:spPr>
        <p:txBody>
          <a:bodyPr/>
          <a:lstStyle/>
          <a:p>
            <a:endParaRPr lang="en-IN"/>
          </a:p>
        </p:txBody>
      </p:sp>
      <p:sp>
        <p:nvSpPr>
          <p:cNvPr id="33" name="Text 31"/>
          <p:cNvSpPr/>
          <p:nvPr/>
        </p:nvSpPr>
        <p:spPr>
          <a:xfrm>
            <a:off x="4956048" y="2834640"/>
            <a:ext cx="3749040" cy="329184"/>
          </a:xfrm>
          <a:prstGeom prst="rect">
            <a:avLst/>
          </a:prstGeom>
          <a:noFill/>
          <a:ln/>
        </p:spPr>
        <p:txBody>
          <a:bodyPr wrap="square" rtlCol="0" anchor="ctr"/>
          <a:lstStyle/>
          <a:p>
            <a:pPr marL="0" indent="0">
              <a:buNone/>
            </a:pPr>
            <a:r>
              <a:rPr lang="en-US" sz="1100">
                <a:solidFill>
                  <a:srgbClr val="374151"/>
                </a:solidFill>
                <a:latin typeface="Calibri" pitchFamily="34" charset="0"/>
                <a:ea typeface="Calibri" pitchFamily="34" charset="-122"/>
                <a:cs typeface="Calibri" pitchFamily="34" charset="-120"/>
              </a:rPr>
              <a:t>REST APIs — auto-generated per table</a:t>
            </a:r>
            <a:endParaRPr lang="en-US" sz="1100"/>
          </a:p>
        </p:txBody>
      </p:sp>
      <p:sp>
        <p:nvSpPr>
          <p:cNvPr id="34" name="Shape 32"/>
          <p:cNvSpPr/>
          <p:nvPr/>
        </p:nvSpPr>
        <p:spPr>
          <a:xfrm>
            <a:off x="4800600" y="3291840"/>
            <a:ext cx="91440" cy="91440"/>
          </a:xfrm>
          <a:prstGeom prst="ellipse">
            <a:avLst/>
          </a:prstGeom>
          <a:solidFill>
            <a:srgbClr val="065F46"/>
          </a:solidFill>
          <a:ln w="12700">
            <a:solidFill>
              <a:srgbClr val="065F46"/>
            </a:solidFill>
            <a:prstDash val="solid"/>
          </a:ln>
        </p:spPr>
        <p:txBody>
          <a:bodyPr/>
          <a:lstStyle/>
          <a:p>
            <a:endParaRPr lang="en-IN"/>
          </a:p>
        </p:txBody>
      </p:sp>
      <p:sp>
        <p:nvSpPr>
          <p:cNvPr id="35" name="Text 33"/>
          <p:cNvSpPr/>
          <p:nvPr/>
        </p:nvSpPr>
        <p:spPr>
          <a:xfrm>
            <a:off x="4956048" y="3227832"/>
            <a:ext cx="3749040" cy="329184"/>
          </a:xfrm>
          <a:prstGeom prst="rect">
            <a:avLst/>
          </a:prstGeom>
          <a:noFill/>
          <a:ln/>
        </p:spPr>
        <p:txBody>
          <a:bodyPr wrap="square" rtlCol="0" anchor="ctr"/>
          <a:lstStyle/>
          <a:p>
            <a:pPr marL="0" indent="0">
              <a:buNone/>
            </a:pPr>
            <a:r>
              <a:rPr lang="en-US" sz="1100">
                <a:solidFill>
                  <a:srgbClr val="374151"/>
                </a:solidFill>
                <a:latin typeface="Calibri" pitchFamily="34" charset="0"/>
                <a:ea typeface="Calibri" pitchFamily="34" charset="-122"/>
                <a:cs typeface="Calibri" pitchFamily="34" charset="-120"/>
              </a:rPr>
              <a:t>Real-time subscriptions out of the box</a:t>
            </a:r>
            <a:endParaRPr lang="en-US" sz="1100"/>
          </a:p>
        </p:txBody>
      </p:sp>
      <p:sp>
        <p:nvSpPr>
          <p:cNvPr id="36" name="Shape 34"/>
          <p:cNvSpPr/>
          <p:nvPr/>
        </p:nvSpPr>
        <p:spPr>
          <a:xfrm>
            <a:off x="4800600" y="3685032"/>
            <a:ext cx="91440" cy="91440"/>
          </a:xfrm>
          <a:prstGeom prst="ellipse">
            <a:avLst/>
          </a:prstGeom>
          <a:solidFill>
            <a:srgbClr val="065F46"/>
          </a:solidFill>
          <a:ln w="12700">
            <a:solidFill>
              <a:srgbClr val="065F46"/>
            </a:solidFill>
            <a:prstDash val="solid"/>
          </a:ln>
        </p:spPr>
        <p:txBody>
          <a:bodyPr/>
          <a:lstStyle/>
          <a:p>
            <a:endParaRPr lang="en-IN"/>
          </a:p>
        </p:txBody>
      </p:sp>
      <p:sp>
        <p:nvSpPr>
          <p:cNvPr id="37" name="Text 35"/>
          <p:cNvSpPr/>
          <p:nvPr/>
        </p:nvSpPr>
        <p:spPr>
          <a:xfrm>
            <a:off x="4956048" y="3621024"/>
            <a:ext cx="3749040" cy="329184"/>
          </a:xfrm>
          <a:prstGeom prst="rect">
            <a:avLst/>
          </a:prstGeom>
          <a:noFill/>
          <a:ln/>
        </p:spPr>
        <p:txBody>
          <a:bodyPr wrap="square" rtlCol="0" anchor="ctr"/>
          <a:lstStyle/>
          <a:p>
            <a:pPr marL="0" indent="0">
              <a:buNone/>
            </a:pPr>
            <a:r>
              <a:rPr lang="en-US" sz="1100">
                <a:solidFill>
                  <a:srgbClr val="374151"/>
                </a:solidFill>
                <a:latin typeface="Calibri" pitchFamily="34" charset="0"/>
                <a:ea typeface="Calibri" pitchFamily="34" charset="-122"/>
                <a:cs typeface="Calibri" pitchFamily="34" charset="-120"/>
              </a:rPr>
              <a:t>Storage and monitoring included</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45309"/>
          </a:solidFill>
          <a:ln w="12700">
            <a:solidFill>
              <a:srgbClr val="B45309"/>
            </a:solidFill>
            <a:prstDash val="solid"/>
          </a:ln>
        </p:spPr>
        <p:txBody>
          <a:bodyPr/>
          <a:lstStyle/>
          <a:p>
            <a:endParaRPr lang="en-IN"/>
          </a:p>
        </p:txBody>
      </p:sp>
      <p:sp>
        <p:nvSpPr>
          <p:cNvPr id="3" name="Text 1"/>
          <p:cNvSpPr/>
          <p:nvPr/>
        </p:nvSpPr>
        <p:spPr>
          <a:xfrm>
            <a:off x="365760" y="164592"/>
            <a:ext cx="6858000" cy="457200"/>
          </a:xfrm>
          <a:prstGeom prst="rect">
            <a:avLst/>
          </a:prstGeom>
          <a:noFill/>
          <a:ln/>
        </p:spPr>
        <p:txBody>
          <a:bodyPr wrap="square" rtlCol="0" anchor="ctr"/>
          <a:lstStyle/>
          <a:p>
            <a:pPr marL="0" indent="0">
              <a:buNone/>
            </a:pPr>
            <a:r>
              <a:rPr lang="en-US" sz="1800" b="1">
                <a:solidFill>
                  <a:srgbClr val="111111"/>
                </a:solidFill>
                <a:latin typeface="Calibri" pitchFamily="34" charset="0"/>
                <a:ea typeface="Calibri" pitchFamily="34" charset="-122"/>
                <a:cs typeface="Calibri" pitchFamily="34" charset="-120"/>
              </a:rPr>
              <a:t>Supabase — Project Dashboard</a:t>
            </a:r>
            <a:endParaRPr lang="en-US" sz="1800"/>
          </a:p>
        </p:txBody>
      </p:sp>
      <p:sp>
        <p:nvSpPr>
          <p:cNvPr id="4" name="Text 2"/>
          <p:cNvSpPr/>
          <p:nvPr/>
        </p:nvSpPr>
        <p:spPr>
          <a:xfrm>
            <a:off x="7223760" y="164592"/>
            <a:ext cx="1645920" cy="457200"/>
          </a:xfrm>
          <a:prstGeom prst="rect">
            <a:avLst/>
          </a:prstGeom>
          <a:noFill/>
          <a:ln/>
        </p:spPr>
        <p:txBody>
          <a:bodyPr wrap="square" rtlCol="0" anchor="ctr"/>
          <a:lstStyle/>
          <a:p>
            <a:pPr marL="0" indent="0" algn="r">
              <a:buNone/>
            </a:pPr>
            <a:endParaRPr lang="en-US" sz="1100"/>
          </a:p>
        </p:txBody>
      </p:sp>
      <p:sp>
        <p:nvSpPr>
          <p:cNvPr id="5" name="Shape 3"/>
          <p:cNvSpPr/>
          <p:nvPr/>
        </p:nvSpPr>
        <p:spPr>
          <a:xfrm>
            <a:off x="365760" y="658368"/>
            <a:ext cx="8412480" cy="0"/>
          </a:xfrm>
          <a:prstGeom prst="line">
            <a:avLst/>
          </a:prstGeom>
          <a:noFill/>
          <a:ln w="6350">
            <a:solidFill>
              <a:srgbClr val="E5E7EB"/>
            </a:solidFill>
            <a:prstDash val="solid"/>
          </a:ln>
        </p:spPr>
        <p:txBody>
          <a:bodyPr/>
          <a:lstStyle/>
          <a:p>
            <a:endParaRPr lang="en-IN"/>
          </a:p>
        </p:txBody>
      </p:sp>
      <p:sp>
        <p:nvSpPr>
          <p:cNvPr id="6" name="Text 4"/>
          <p:cNvSpPr/>
          <p:nvPr/>
        </p:nvSpPr>
        <p:spPr>
          <a:xfrm>
            <a:off x="274320" y="804672"/>
            <a:ext cx="8595360" cy="256032"/>
          </a:xfrm>
          <a:prstGeom prst="rect">
            <a:avLst/>
          </a:prstGeom>
          <a:noFill/>
          <a:ln/>
        </p:spPr>
        <p:txBody>
          <a:bodyPr wrap="square" rtlCol="0" anchor="ctr"/>
          <a:lstStyle/>
          <a:p>
            <a:r>
              <a:rPr lang="en-US" sz="1400" i="1">
                <a:solidFill>
                  <a:srgbClr val="6B7280"/>
                </a:solidFill>
                <a:latin typeface="Calibri" pitchFamily="34" charset="0"/>
                <a:ea typeface="Calibri" pitchFamily="34" charset="-122"/>
                <a:cs typeface="Calibri" pitchFamily="34" charset="-120"/>
              </a:rPr>
              <a:t>Your Supabase project — status:  Healthy, region: South Asia (Mumbai)</a:t>
            </a:r>
            <a:endParaRPr lang="en-US" sz="1400"/>
          </a:p>
        </p:txBody>
      </p:sp>
      <p:pic>
        <p:nvPicPr>
          <p:cNvPr id="7" name="Image 0" descr="preencoded.png"/>
          <p:cNvPicPr>
            <a:picLocks noChangeAspect="1"/>
          </p:cNvPicPr>
          <p:nvPr/>
        </p:nvPicPr>
        <p:blipFill>
          <a:blip r:embed="rId3"/>
          <a:stretch>
            <a:fillRect/>
          </a:stretch>
        </p:blipFill>
        <p:spPr>
          <a:xfrm>
            <a:off x="274320" y="1097280"/>
            <a:ext cx="5029200" cy="3200400"/>
          </a:xfrm>
          <a:prstGeom prst="rect">
            <a:avLst/>
          </a:prstGeom>
          <a:effectLst>
            <a:outerShdw blurRad="76200" dist="25400" dir="8100000" algn="bl" rotWithShape="0">
              <a:srgbClr val="000000">
                <a:alpha val="10000"/>
              </a:srgbClr>
            </a:outerShdw>
          </a:effectLst>
        </p:spPr>
      </p:pic>
      <p:sp>
        <p:nvSpPr>
          <p:cNvPr id="8" name="Shape 5"/>
          <p:cNvSpPr/>
          <p:nvPr/>
        </p:nvSpPr>
        <p:spPr>
          <a:xfrm>
            <a:off x="274320" y="1097280"/>
            <a:ext cx="5029200" cy="3200400"/>
          </a:xfrm>
          <a:prstGeom prst="rect">
            <a:avLst/>
          </a:prstGeom>
          <a:solidFill>
            <a:srgbClr val="FFFFFF">
              <a:alpha val="0"/>
            </a:srgbClr>
          </a:solidFill>
          <a:ln w="6350">
            <a:solidFill>
              <a:srgbClr val="E5E7EB"/>
            </a:solidFill>
            <a:prstDash val="solid"/>
          </a:ln>
        </p:spPr>
        <p:txBody>
          <a:bodyPr/>
          <a:lstStyle/>
          <a:p>
            <a:endParaRPr lang="en-IN"/>
          </a:p>
        </p:txBody>
      </p:sp>
      <p:sp>
        <p:nvSpPr>
          <p:cNvPr id="9" name="Shape 6"/>
          <p:cNvSpPr/>
          <p:nvPr/>
        </p:nvSpPr>
        <p:spPr>
          <a:xfrm>
            <a:off x="5577840" y="1097280"/>
            <a:ext cx="3291840" cy="3200400"/>
          </a:xfrm>
          <a:prstGeom prst="rect">
            <a:avLst/>
          </a:prstGeom>
          <a:solidFill>
            <a:srgbClr val="FFFFFF"/>
          </a:solidFill>
          <a:ln w="6350">
            <a:solidFill>
              <a:srgbClr val="E5E7EB"/>
            </a:solidFill>
            <a:prstDash val="solid"/>
          </a:ln>
          <a:effectLst>
            <a:outerShdw blurRad="50800" dist="25400" dir="8100000" algn="bl" rotWithShape="0">
              <a:srgbClr val="000000">
                <a:alpha val="6000"/>
              </a:srgbClr>
            </a:outerShdw>
          </a:effectLst>
        </p:spPr>
        <p:txBody>
          <a:bodyPr/>
          <a:lstStyle/>
          <a:p>
            <a:endParaRPr lang="en-IN"/>
          </a:p>
        </p:txBody>
      </p:sp>
      <p:sp>
        <p:nvSpPr>
          <p:cNvPr id="10" name="Shape 7"/>
          <p:cNvSpPr/>
          <p:nvPr/>
        </p:nvSpPr>
        <p:spPr>
          <a:xfrm>
            <a:off x="5577840" y="1097280"/>
            <a:ext cx="54864" cy="3200400"/>
          </a:xfrm>
          <a:prstGeom prst="rect">
            <a:avLst/>
          </a:prstGeom>
          <a:solidFill>
            <a:srgbClr val="B45309"/>
          </a:solidFill>
          <a:ln w="12700">
            <a:solidFill>
              <a:srgbClr val="B45309"/>
            </a:solidFill>
            <a:prstDash val="solid"/>
          </a:ln>
        </p:spPr>
        <p:txBody>
          <a:bodyPr/>
          <a:lstStyle/>
          <a:p>
            <a:endParaRPr lang="en-IN"/>
          </a:p>
        </p:txBody>
      </p:sp>
      <p:sp>
        <p:nvSpPr>
          <p:cNvPr id="11" name="Text 8"/>
          <p:cNvSpPr/>
          <p:nvPr/>
        </p:nvSpPr>
        <p:spPr>
          <a:xfrm>
            <a:off x="5806440" y="1207008"/>
            <a:ext cx="2834640" cy="347472"/>
          </a:xfrm>
          <a:prstGeom prst="rect">
            <a:avLst/>
          </a:prstGeom>
          <a:noFill/>
          <a:ln/>
        </p:spPr>
        <p:txBody>
          <a:bodyPr wrap="square" rtlCol="0" anchor="ctr"/>
          <a:lstStyle/>
          <a:p>
            <a:pPr marL="0" indent="0">
              <a:buNone/>
            </a:pPr>
            <a:r>
              <a:rPr lang="en-US" sz="1200" b="1">
                <a:solidFill>
                  <a:srgbClr val="B45309"/>
                </a:solidFill>
                <a:latin typeface="Calibri" pitchFamily="34" charset="0"/>
                <a:ea typeface="Calibri" pitchFamily="34" charset="-122"/>
                <a:cs typeface="Calibri" pitchFamily="34" charset="-120"/>
              </a:rPr>
              <a:t>What you see here</a:t>
            </a:r>
            <a:endParaRPr lang="en-US" sz="1200"/>
          </a:p>
        </p:txBody>
      </p:sp>
      <p:sp>
        <p:nvSpPr>
          <p:cNvPr id="12" name="Text 9"/>
          <p:cNvSpPr/>
          <p:nvPr/>
        </p:nvSpPr>
        <p:spPr>
          <a:xfrm>
            <a:off x="5806440" y="1664208"/>
            <a:ext cx="2834640" cy="274320"/>
          </a:xfrm>
          <a:prstGeom prst="rect">
            <a:avLst/>
          </a:prstGeom>
          <a:noFill/>
          <a:ln/>
        </p:spPr>
        <p:txBody>
          <a:bodyPr wrap="square" rtlCol="0" anchor="ctr"/>
          <a:lstStyle/>
          <a:p>
            <a:pPr marL="0" indent="0">
              <a:buNone/>
            </a:pPr>
            <a:r>
              <a:rPr lang="en-US" sz="1200" b="1">
                <a:solidFill>
                  <a:srgbClr val="111111"/>
                </a:solidFill>
                <a:latin typeface="Calibri" pitchFamily="34" charset="0"/>
                <a:ea typeface="Calibri" pitchFamily="34" charset="-122"/>
                <a:cs typeface="Calibri" pitchFamily="34" charset="-120"/>
              </a:rPr>
              <a:t>Project URL</a:t>
            </a:r>
            <a:endParaRPr lang="en-US" sz="1200"/>
          </a:p>
        </p:txBody>
      </p:sp>
      <p:sp>
        <p:nvSpPr>
          <p:cNvPr id="13" name="Text 10"/>
          <p:cNvSpPr/>
          <p:nvPr/>
        </p:nvSpPr>
        <p:spPr>
          <a:xfrm>
            <a:off x="5806440" y="1938528"/>
            <a:ext cx="2834640" cy="256032"/>
          </a:xfrm>
          <a:prstGeom prst="rect">
            <a:avLst/>
          </a:prstGeom>
          <a:noFill/>
          <a:ln/>
        </p:spPr>
        <p:txBody>
          <a:bodyPr wrap="square" rtlCol="0" anchor="ctr"/>
          <a:lstStyle/>
          <a:p>
            <a:pPr marL="0" indent="0">
              <a:buNone/>
            </a:pPr>
            <a:r>
              <a:rPr lang="en-US" sz="1100">
                <a:solidFill>
                  <a:srgbClr val="6B7280"/>
                </a:solidFill>
                <a:latin typeface="Calibri" pitchFamily="34" charset="0"/>
                <a:ea typeface="Calibri" pitchFamily="34" charset="-122"/>
                <a:cs typeface="Calibri" pitchFamily="34" charset="-120"/>
              </a:rPr>
              <a:t>Your database endpoint</a:t>
            </a:r>
            <a:endParaRPr lang="en-US" sz="1100"/>
          </a:p>
        </p:txBody>
      </p:sp>
      <p:sp>
        <p:nvSpPr>
          <p:cNvPr id="14" name="Text 11"/>
          <p:cNvSpPr/>
          <p:nvPr/>
        </p:nvSpPr>
        <p:spPr>
          <a:xfrm>
            <a:off x="5806440" y="2304288"/>
            <a:ext cx="2834640" cy="274320"/>
          </a:xfrm>
          <a:prstGeom prst="rect">
            <a:avLst/>
          </a:prstGeom>
          <a:noFill/>
          <a:ln/>
        </p:spPr>
        <p:txBody>
          <a:bodyPr wrap="square" rtlCol="0" anchor="ctr"/>
          <a:lstStyle/>
          <a:p>
            <a:pPr marL="0" indent="0">
              <a:buNone/>
            </a:pPr>
            <a:r>
              <a:rPr lang="en-US" sz="1200" b="1">
                <a:solidFill>
                  <a:srgbClr val="111111"/>
                </a:solidFill>
                <a:latin typeface="Calibri" pitchFamily="34" charset="0"/>
                <a:ea typeface="Calibri" pitchFamily="34" charset="-122"/>
                <a:cs typeface="Calibri" pitchFamily="34" charset="-120"/>
              </a:rPr>
              <a:t>Status: Healthy</a:t>
            </a:r>
            <a:endParaRPr lang="en-US" sz="1200"/>
          </a:p>
        </p:txBody>
      </p:sp>
      <p:sp>
        <p:nvSpPr>
          <p:cNvPr id="15" name="Text 12"/>
          <p:cNvSpPr/>
          <p:nvPr/>
        </p:nvSpPr>
        <p:spPr>
          <a:xfrm>
            <a:off x="5806440" y="2578608"/>
            <a:ext cx="2834640" cy="256032"/>
          </a:xfrm>
          <a:prstGeom prst="rect">
            <a:avLst/>
          </a:prstGeom>
          <a:noFill/>
          <a:ln/>
        </p:spPr>
        <p:txBody>
          <a:bodyPr wrap="square" rtlCol="0" anchor="ctr"/>
          <a:lstStyle/>
          <a:p>
            <a:pPr marL="0" indent="0">
              <a:buNone/>
            </a:pPr>
            <a:r>
              <a:rPr lang="en-US" sz="1100">
                <a:solidFill>
                  <a:srgbClr val="6B7280"/>
                </a:solidFill>
                <a:latin typeface="Calibri" pitchFamily="34" charset="0"/>
                <a:ea typeface="Calibri" pitchFamily="34" charset="-122"/>
                <a:cs typeface="Calibri" pitchFamily="34" charset="-120"/>
              </a:rPr>
              <a:t>All services running</a:t>
            </a:r>
            <a:endParaRPr lang="en-US" sz="1100"/>
          </a:p>
        </p:txBody>
      </p:sp>
      <p:sp>
        <p:nvSpPr>
          <p:cNvPr id="16" name="Text 13"/>
          <p:cNvSpPr/>
          <p:nvPr/>
        </p:nvSpPr>
        <p:spPr>
          <a:xfrm>
            <a:off x="5806440" y="2944368"/>
            <a:ext cx="2834640" cy="274320"/>
          </a:xfrm>
          <a:prstGeom prst="rect">
            <a:avLst/>
          </a:prstGeom>
          <a:noFill/>
          <a:ln/>
        </p:spPr>
        <p:txBody>
          <a:bodyPr wrap="square" rtlCol="0" anchor="ctr"/>
          <a:lstStyle/>
          <a:p>
            <a:pPr marL="0" indent="0">
              <a:buNone/>
            </a:pPr>
            <a:r>
              <a:rPr lang="en-US" sz="1200" b="1">
                <a:solidFill>
                  <a:srgbClr val="111111"/>
                </a:solidFill>
                <a:latin typeface="Calibri" pitchFamily="34" charset="0"/>
                <a:ea typeface="Calibri" pitchFamily="34" charset="-122"/>
                <a:cs typeface="Calibri" pitchFamily="34" charset="-120"/>
              </a:rPr>
              <a:t>Region: Mumbai</a:t>
            </a:r>
            <a:endParaRPr lang="en-US" sz="1200"/>
          </a:p>
        </p:txBody>
      </p:sp>
      <p:sp>
        <p:nvSpPr>
          <p:cNvPr id="17" name="Text 14"/>
          <p:cNvSpPr/>
          <p:nvPr/>
        </p:nvSpPr>
        <p:spPr>
          <a:xfrm>
            <a:off x="5806440" y="3218688"/>
            <a:ext cx="2834640" cy="256032"/>
          </a:xfrm>
          <a:prstGeom prst="rect">
            <a:avLst/>
          </a:prstGeom>
          <a:noFill/>
          <a:ln/>
        </p:spPr>
        <p:txBody>
          <a:bodyPr wrap="square" rtlCol="0" anchor="ctr"/>
          <a:lstStyle/>
          <a:p>
            <a:pPr marL="0" indent="0">
              <a:buNone/>
            </a:pPr>
            <a:r>
              <a:rPr lang="en-US" sz="1100">
                <a:solidFill>
                  <a:srgbClr val="6B7280"/>
                </a:solidFill>
                <a:latin typeface="Calibri" pitchFamily="34" charset="0"/>
                <a:ea typeface="Calibri" pitchFamily="34" charset="-122"/>
                <a:cs typeface="Calibri" pitchFamily="34" charset="-120"/>
              </a:rPr>
              <a:t>Closest to India</a:t>
            </a:r>
            <a:endParaRPr lang="en-US" sz="1100"/>
          </a:p>
        </p:txBody>
      </p:sp>
      <p:sp>
        <p:nvSpPr>
          <p:cNvPr id="18" name="Text 15"/>
          <p:cNvSpPr/>
          <p:nvPr/>
        </p:nvSpPr>
        <p:spPr>
          <a:xfrm>
            <a:off x="5806440" y="3584448"/>
            <a:ext cx="2834640" cy="274320"/>
          </a:xfrm>
          <a:prstGeom prst="rect">
            <a:avLst/>
          </a:prstGeom>
          <a:noFill/>
          <a:ln/>
        </p:spPr>
        <p:txBody>
          <a:bodyPr wrap="square" rtlCol="0" anchor="ctr"/>
          <a:lstStyle/>
          <a:p>
            <a:pPr marL="0" indent="0">
              <a:buNone/>
            </a:pPr>
            <a:r>
              <a:rPr lang="en-US" sz="1200" b="1">
                <a:solidFill>
                  <a:srgbClr val="111111"/>
                </a:solidFill>
                <a:latin typeface="Calibri" pitchFamily="34" charset="0"/>
                <a:ea typeface="Calibri" pitchFamily="34" charset="-122"/>
                <a:cs typeface="Calibri" pitchFamily="34" charset="-120"/>
              </a:rPr>
              <a:t>Primary Database</a:t>
            </a:r>
            <a:endParaRPr lang="en-US" sz="1200"/>
          </a:p>
        </p:txBody>
      </p:sp>
      <p:sp>
        <p:nvSpPr>
          <p:cNvPr id="19" name="Text 16"/>
          <p:cNvSpPr/>
          <p:nvPr/>
        </p:nvSpPr>
        <p:spPr>
          <a:xfrm>
            <a:off x="5806440" y="3858768"/>
            <a:ext cx="2834640" cy="256032"/>
          </a:xfrm>
          <a:prstGeom prst="rect">
            <a:avLst/>
          </a:prstGeom>
          <a:noFill/>
          <a:ln/>
        </p:spPr>
        <p:txBody>
          <a:bodyPr wrap="square" rtlCol="0" anchor="ctr"/>
          <a:lstStyle/>
          <a:p>
            <a:pPr marL="0" indent="0">
              <a:buNone/>
            </a:pPr>
            <a:r>
              <a:rPr lang="en-US" sz="1100">
                <a:solidFill>
                  <a:srgbClr val="6B7280"/>
                </a:solidFill>
                <a:latin typeface="Calibri" pitchFamily="34" charset="0"/>
                <a:ea typeface="Calibri" pitchFamily="34" charset="-122"/>
                <a:cs typeface="Calibri" pitchFamily="34" charset="-120"/>
              </a:rPr>
              <a:t>PostgreSQL on t4g.nano</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6AEFCDE2-5B3E-7905-B6FB-AE0F2482A556}"/>
              </a:ext>
            </a:extLst>
          </p:cNvPr>
          <p:cNvPicPr>
            <a:picLocks noChangeAspect="1"/>
          </p:cNvPicPr>
          <p:nvPr/>
        </p:nvPicPr>
        <p:blipFill>
          <a:blip r:embed="rId2"/>
          <a:stretch>
            <a:fillRect/>
          </a:stretch>
        </p:blipFill>
        <p:spPr>
          <a:xfrm>
            <a:off x="0" y="1883"/>
            <a:ext cx="9144000" cy="4578088"/>
          </a:xfrm>
          <a:prstGeom prst="rect">
            <a:avLst/>
          </a:prstGeom>
        </p:spPr>
      </p:pic>
    </p:spTree>
    <p:extLst>
      <p:ext uri="{BB962C8B-B14F-4D97-AF65-F5344CB8AC3E}">
        <p14:creationId xmlns:p14="http://schemas.microsoft.com/office/powerpoint/2010/main" val="2557606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45309"/>
          </a:solidFill>
          <a:ln w="12700">
            <a:solidFill>
              <a:srgbClr val="B45309"/>
            </a:solidFill>
            <a:prstDash val="solid"/>
          </a:ln>
        </p:spPr>
        <p:txBody>
          <a:bodyPr/>
          <a:lstStyle/>
          <a:p>
            <a:endParaRPr lang="en-IN"/>
          </a:p>
        </p:txBody>
      </p:sp>
      <p:sp>
        <p:nvSpPr>
          <p:cNvPr id="3" name="Text 1"/>
          <p:cNvSpPr/>
          <p:nvPr/>
        </p:nvSpPr>
        <p:spPr>
          <a:xfrm>
            <a:off x="365760" y="164592"/>
            <a:ext cx="6858000" cy="457200"/>
          </a:xfrm>
          <a:prstGeom prst="rect">
            <a:avLst/>
          </a:prstGeom>
          <a:noFill/>
          <a:ln/>
        </p:spPr>
        <p:txBody>
          <a:bodyPr wrap="square" rtlCol="0" anchor="ctr"/>
          <a:lstStyle/>
          <a:p>
            <a:pPr marL="0" indent="0">
              <a:buNone/>
            </a:pPr>
            <a:r>
              <a:rPr lang="en-US" sz="1800" b="1">
                <a:solidFill>
                  <a:srgbClr val="111111"/>
                </a:solidFill>
                <a:latin typeface="Calibri" pitchFamily="34" charset="0"/>
                <a:ea typeface="Calibri" pitchFamily="34" charset="-122"/>
                <a:cs typeface="Calibri" pitchFamily="34" charset="-120"/>
              </a:rPr>
              <a:t>Row Level Security — RLS</a:t>
            </a:r>
            <a:endParaRPr lang="en-US" sz="1800"/>
          </a:p>
        </p:txBody>
      </p:sp>
      <p:sp>
        <p:nvSpPr>
          <p:cNvPr id="4" name="Text 2"/>
          <p:cNvSpPr/>
          <p:nvPr/>
        </p:nvSpPr>
        <p:spPr>
          <a:xfrm>
            <a:off x="7223760" y="164592"/>
            <a:ext cx="1645920" cy="457200"/>
          </a:xfrm>
          <a:prstGeom prst="rect">
            <a:avLst/>
          </a:prstGeom>
          <a:noFill/>
          <a:ln/>
        </p:spPr>
        <p:txBody>
          <a:bodyPr wrap="square" lIns="91440" tIns="45720" rIns="91440" bIns="45720" rtlCol="0" anchor="ctr"/>
          <a:lstStyle/>
          <a:p>
            <a:pPr marL="0" indent="0" algn="r">
              <a:buNone/>
            </a:pPr>
            <a:endParaRPr lang="en-US" sz="1100">
              <a:solidFill>
                <a:srgbClr val="6B7280"/>
              </a:solidFill>
              <a:ea typeface="Calibri"/>
              <a:cs typeface="Calibri"/>
            </a:endParaRPr>
          </a:p>
        </p:txBody>
      </p:sp>
      <p:sp>
        <p:nvSpPr>
          <p:cNvPr id="5" name="Shape 3"/>
          <p:cNvSpPr/>
          <p:nvPr/>
        </p:nvSpPr>
        <p:spPr>
          <a:xfrm>
            <a:off x="365760" y="658368"/>
            <a:ext cx="8412480" cy="0"/>
          </a:xfrm>
          <a:prstGeom prst="line">
            <a:avLst/>
          </a:prstGeom>
          <a:noFill/>
          <a:ln w="6350">
            <a:solidFill>
              <a:srgbClr val="E5E7EB"/>
            </a:solidFill>
            <a:prstDash val="solid"/>
          </a:ln>
        </p:spPr>
        <p:txBody>
          <a:bodyPr/>
          <a:lstStyle/>
          <a:p>
            <a:endParaRPr lang="en-IN"/>
          </a:p>
        </p:txBody>
      </p:sp>
      <p:sp>
        <p:nvSpPr>
          <p:cNvPr id="6" name="Text 4"/>
          <p:cNvSpPr/>
          <p:nvPr/>
        </p:nvSpPr>
        <p:spPr>
          <a:xfrm>
            <a:off x="274320" y="804672"/>
            <a:ext cx="8595360" cy="256032"/>
          </a:xfrm>
          <a:prstGeom prst="rect">
            <a:avLst/>
          </a:prstGeom>
          <a:noFill/>
          <a:ln/>
        </p:spPr>
        <p:txBody>
          <a:bodyPr wrap="square" rtlCol="0" anchor="ctr"/>
          <a:lstStyle/>
          <a:p>
            <a:pPr marL="0" indent="0">
              <a:buNone/>
            </a:pPr>
            <a:r>
              <a:rPr lang="en-US" sz="1400" i="1">
                <a:solidFill>
                  <a:srgbClr val="6B7280"/>
                </a:solidFill>
                <a:latin typeface="Calibri" pitchFamily="34" charset="0"/>
                <a:ea typeface="Calibri" pitchFamily="34" charset="-122"/>
                <a:cs typeface="Calibri" pitchFamily="34" charset="-120"/>
              </a:rPr>
              <a:t>Your RLS policies for the tasks table — controlling who can read, insert, or delete</a:t>
            </a:r>
            <a:r>
              <a:rPr lang="en-US" sz="1000" i="1">
                <a:solidFill>
                  <a:srgbClr val="6B7280"/>
                </a:solidFill>
                <a:latin typeface="Calibri" pitchFamily="34" charset="0"/>
                <a:ea typeface="Calibri" pitchFamily="34" charset="-122"/>
                <a:cs typeface="Calibri" pitchFamily="34" charset="-120"/>
              </a:rPr>
              <a:t>.</a:t>
            </a:r>
            <a:endParaRPr lang="en-US" sz="1000"/>
          </a:p>
        </p:txBody>
      </p:sp>
      <p:pic>
        <p:nvPicPr>
          <p:cNvPr id="7" name="Image 0" descr="preencoded.png"/>
          <p:cNvPicPr>
            <a:picLocks noChangeAspect="1"/>
          </p:cNvPicPr>
          <p:nvPr/>
        </p:nvPicPr>
        <p:blipFill>
          <a:blip r:embed="rId3"/>
          <a:stretch>
            <a:fillRect/>
          </a:stretch>
        </p:blipFill>
        <p:spPr>
          <a:xfrm>
            <a:off x="274320" y="1115568"/>
            <a:ext cx="5029200" cy="3200400"/>
          </a:xfrm>
          <a:prstGeom prst="rect">
            <a:avLst/>
          </a:prstGeom>
          <a:effectLst>
            <a:outerShdw blurRad="76200" dist="25400" dir="8100000" algn="bl" rotWithShape="0">
              <a:srgbClr val="000000">
                <a:alpha val="10000"/>
              </a:srgbClr>
            </a:outerShdw>
          </a:effectLst>
        </p:spPr>
      </p:pic>
      <p:sp>
        <p:nvSpPr>
          <p:cNvPr id="8" name="Shape 5"/>
          <p:cNvSpPr/>
          <p:nvPr/>
        </p:nvSpPr>
        <p:spPr>
          <a:xfrm>
            <a:off x="274320" y="1115568"/>
            <a:ext cx="5029200" cy="3200400"/>
          </a:xfrm>
          <a:prstGeom prst="rect">
            <a:avLst/>
          </a:prstGeom>
          <a:solidFill>
            <a:srgbClr val="FFFFFF">
              <a:alpha val="0"/>
            </a:srgbClr>
          </a:solidFill>
          <a:ln w="6350">
            <a:solidFill>
              <a:srgbClr val="E5E7EB"/>
            </a:solidFill>
            <a:prstDash val="solid"/>
          </a:ln>
        </p:spPr>
        <p:txBody>
          <a:bodyPr/>
          <a:lstStyle/>
          <a:p>
            <a:endParaRPr lang="en-IN"/>
          </a:p>
        </p:txBody>
      </p:sp>
      <p:sp>
        <p:nvSpPr>
          <p:cNvPr id="9" name="Shape 6"/>
          <p:cNvSpPr/>
          <p:nvPr/>
        </p:nvSpPr>
        <p:spPr>
          <a:xfrm>
            <a:off x="5532120" y="1115568"/>
            <a:ext cx="3337560" cy="3200400"/>
          </a:xfrm>
          <a:prstGeom prst="rect">
            <a:avLst/>
          </a:prstGeom>
          <a:solidFill>
            <a:srgbClr val="FFFFFF"/>
          </a:solidFill>
          <a:ln w="6350">
            <a:solidFill>
              <a:srgbClr val="E5E7EB"/>
            </a:solidFill>
            <a:prstDash val="solid"/>
          </a:ln>
          <a:effectLst>
            <a:outerShdw blurRad="50800" dist="25400" dir="8100000" algn="bl" rotWithShape="0">
              <a:srgbClr val="000000">
                <a:alpha val="6000"/>
              </a:srgbClr>
            </a:outerShdw>
          </a:effectLst>
        </p:spPr>
        <p:txBody>
          <a:bodyPr/>
          <a:lstStyle/>
          <a:p>
            <a:endParaRPr lang="en-IN"/>
          </a:p>
        </p:txBody>
      </p:sp>
      <p:sp>
        <p:nvSpPr>
          <p:cNvPr id="10" name="Shape 7"/>
          <p:cNvSpPr/>
          <p:nvPr/>
        </p:nvSpPr>
        <p:spPr>
          <a:xfrm>
            <a:off x="5532120" y="1115568"/>
            <a:ext cx="54864" cy="3200400"/>
          </a:xfrm>
          <a:prstGeom prst="rect">
            <a:avLst/>
          </a:prstGeom>
          <a:solidFill>
            <a:srgbClr val="991B1B"/>
          </a:solidFill>
          <a:ln w="12700">
            <a:solidFill>
              <a:srgbClr val="991B1B"/>
            </a:solidFill>
            <a:prstDash val="solid"/>
          </a:ln>
        </p:spPr>
        <p:txBody>
          <a:bodyPr/>
          <a:lstStyle/>
          <a:p>
            <a:endParaRPr lang="en-IN"/>
          </a:p>
        </p:txBody>
      </p:sp>
      <p:sp>
        <p:nvSpPr>
          <p:cNvPr id="11" name="Text 8"/>
          <p:cNvSpPr/>
          <p:nvPr/>
        </p:nvSpPr>
        <p:spPr>
          <a:xfrm>
            <a:off x="5760720" y="1207008"/>
            <a:ext cx="2880360" cy="347472"/>
          </a:xfrm>
          <a:prstGeom prst="rect">
            <a:avLst/>
          </a:prstGeom>
          <a:noFill/>
          <a:ln/>
        </p:spPr>
        <p:txBody>
          <a:bodyPr wrap="square" rtlCol="0" anchor="ctr"/>
          <a:lstStyle/>
          <a:p>
            <a:pPr marL="0" indent="0">
              <a:buNone/>
            </a:pPr>
            <a:r>
              <a:rPr lang="en-US" sz="1200" b="1">
                <a:solidFill>
                  <a:srgbClr val="991B1B"/>
                </a:solidFill>
                <a:latin typeface="Calibri" pitchFamily="34" charset="0"/>
                <a:ea typeface="Calibri" pitchFamily="34" charset="-122"/>
                <a:cs typeface="Calibri" pitchFamily="34" charset="-120"/>
              </a:rPr>
              <a:t>What is RLS?</a:t>
            </a:r>
            <a:endParaRPr lang="en-US" sz="1200"/>
          </a:p>
        </p:txBody>
      </p:sp>
      <p:sp>
        <p:nvSpPr>
          <p:cNvPr id="12" name="Text 9"/>
          <p:cNvSpPr/>
          <p:nvPr/>
        </p:nvSpPr>
        <p:spPr>
          <a:xfrm>
            <a:off x="5760720" y="1627632"/>
            <a:ext cx="2880360" cy="1005840"/>
          </a:xfrm>
          <a:prstGeom prst="rect">
            <a:avLst/>
          </a:prstGeom>
          <a:noFill/>
          <a:ln/>
        </p:spPr>
        <p:txBody>
          <a:bodyPr wrap="square" rtlCol="0" anchor="ctr"/>
          <a:lstStyle/>
          <a:p>
            <a:pPr marL="0" indent="0">
              <a:buNone/>
            </a:pPr>
            <a:r>
              <a:rPr lang="en-US" sz="1100">
                <a:solidFill>
                  <a:srgbClr val="374151"/>
                </a:solidFill>
                <a:latin typeface="Calibri" pitchFamily="34" charset="0"/>
                <a:ea typeface="Calibri" pitchFamily="34" charset="-122"/>
                <a:cs typeface="Calibri" pitchFamily="34" charset="-120"/>
              </a:rPr>
              <a:t>Without RLS: any user can read, write, or delete every row in the database.</a:t>
            </a:r>
            <a:endParaRPr lang="en-US" sz="1100"/>
          </a:p>
          <a:p>
            <a:pPr marL="0" indent="0">
              <a:buNone/>
            </a:pPr>
            <a:endParaRPr lang="en-US" sz="1100"/>
          </a:p>
          <a:p>
            <a:pPr marL="0" indent="0">
              <a:buNone/>
            </a:pPr>
            <a:r>
              <a:rPr lang="en-US" sz="1100">
                <a:solidFill>
                  <a:srgbClr val="374151"/>
                </a:solidFill>
                <a:latin typeface="Calibri" pitchFamily="34" charset="0"/>
                <a:ea typeface="Calibri" pitchFamily="34" charset="-122"/>
                <a:cs typeface="Calibri" pitchFamily="34" charset="-120"/>
              </a:rPr>
              <a:t>With RLS: you define policies that restrict what each user can access.</a:t>
            </a:r>
            <a:endParaRPr lang="en-US" sz="1100"/>
          </a:p>
        </p:txBody>
      </p:sp>
      <p:sp>
        <p:nvSpPr>
          <p:cNvPr id="13" name="Shape 10"/>
          <p:cNvSpPr/>
          <p:nvPr/>
        </p:nvSpPr>
        <p:spPr>
          <a:xfrm>
            <a:off x="5760720" y="2706624"/>
            <a:ext cx="2880360" cy="0"/>
          </a:xfrm>
          <a:prstGeom prst="line">
            <a:avLst/>
          </a:prstGeom>
          <a:noFill/>
          <a:ln w="6350">
            <a:solidFill>
              <a:srgbClr val="E5E7EB"/>
            </a:solidFill>
            <a:prstDash val="solid"/>
          </a:ln>
        </p:spPr>
        <p:txBody>
          <a:bodyPr/>
          <a:lstStyle/>
          <a:p>
            <a:endParaRPr lang="en-IN"/>
          </a:p>
        </p:txBody>
      </p:sp>
      <p:sp>
        <p:nvSpPr>
          <p:cNvPr id="14" name="Text 11"/>
          <p:cNvSpPr/>
          <p:nvPr/>
        </p:nvSpPr>
        <p:spPr>
          <a:xfrm>
            <a:off x="5760720" y="2798064"/>
            <a:ext cx="2880360" cy="292608"/>
          </a:xfrm>
          <a:prstGeom prst="rect">
            <a:avLst/>
          </a:prstGeom>
          <a:noFill/>
          <a:ln/>
        </p:spPr>
        <p:txBody>
          <a:bodyPr wrap="square" lIns="91440" tIns="45720" rIns="91440" bIns="45720" rtlCol="0" anchor="ctr"/>
          <a:lstStyle/>
          <a:p>
            <a:r>
              <a:rPr lang="en-US" sz="1100" b="1">
                <a:solidFill>
                  <a:srgbClr val="111111"/>
                </a:solidFill>
                <a:ea typeface="Calibri"/>
                <a:cs typeface="Calibri"/>
              </a:rPr>
              <a:t>Some of the policies are : </a:t>
            </a:r>
          </a:p>
        </p:txBody>
      </p:sp>
      <p:sp>
        <p:nvSpPr>
          <p:cNvPr id="15" name="Shape 12"/>
          <p:cNvSpPr/>
          <p:nvPr/>
        </p:nvSpPr>
        <p:spPr>
          <a:xfrm>
            <a:off x="5760720" y="3200400"/>
            <a:ext cx="91440" cy="91440"/>
          </a:xfrm>
          <a:prstGeom prst="ellipse">
            <a:avLst/>
          </a:prstGeom>
          <a:solidFill>
            <a:srgbClr val="991B1B"/>
          </a:solidFill>
          <a:ln w="12700">
            <a:solidFill>
              <a:srgbClr val="991B1B"/>
            </a:solidFill>
            <a:prstDash val="solid"/>
          </a:ln>
        </p:spPr>
        <p:txBody>
          <a:bodyPr/>
          <a:lstStyle/>
          <a:p>
            <a:endParaRPr lang="en-IN"/>
          </a:p>
        </p:txBody>
      </p:sp>
      <p:sp>
        <p:nvSpPr>
          <p:cNvPr id="16" name="Text 13"/>
          <p:cNvSpPr/>
          <p:nvPr/>
        </p:nvSpPr>
        <p:spPr>
          <a:xfrm>
            <a:off x="5925312" y="3136392"/>
            <a:ext cx="2834640" cy="292608"/>
          </a:xfrm>
          <a:prstGeom prst="rect">
            <a:avLst/>
          </a:prstGeom>
          <a:noFill/>
          <a:ln/>
        </p:spPr>
        <p:txBody>
          <a:bodyPr wrap="square" lIns="91440" tIns="45720" rIns="91440" bIns="45720" rtlCol="0" anchor="ctr"/>
          <a:lstStyle/>
          <a:p>
            <a:r>
              <a:rPr lang="en-US" sz="1000">
                <a:solidFill>
                  <a:srgbClr val="374151"/>
                </a:solidFill>
                <a:latin typeface="Calibri"/>
                <a:ea typeface="Calibri"/>
                <a:cs typeface="Calibri"/>
              </a:rPr>
              <a:t>Allow public to view  (SELECT)</a:t>
            </a:r>
            <a:endParaRPr lang="en-US" sz="1000">
              <a:latin typeface="Calibri"/>
              <a:ea typeface="Calibri"/>
              <a:cs typeface="Calibri"/>
            </a:endParaRPr>
          </a:p>
        </p:txBody>
      </p:sp>
      <p:sp>
        <p:nvSpPr>
          <p:cNvPr id="17" name="Shape 14"/>
          <p:cNvSpPr/>
          <p:nvPr/>
        </p:nvSpPr>
        <p:spPr>
          <a:xfrm>
            <a:off x="5760720" y="3547872"/>
            <a:ext cx="91440" cy="91440"/>
          </a:xfrm>
          <a:prstGeom prst="ellipse">
            <a:avLst/>
          </a:prstGeom>
          <a:solidFill>
            <a:srgbClr val="991B1B"/>
          </a:solidFill>
          <a:ln w="12700">
            <a:solidFill>
              <a:srgbClr val="991B1B"/>
            </a:solidFill>
            <a:prstDash val="solid"/>
          </a:ln>
        </p:spPr>
        <p:txBody>
          <a:bodyPr/>
          <a:lstStyle/>
          <a:p>
            <a:endParaRPr lang="en-IN"/>
          </a:p>
        </p:txBody>
      </p:sp>
      <p:sp>
        <p:nvSpPr>
          <p:cNvPr id="18" name="Text 15"/>
          <p:cNvSpPr/>
          <p:nvPr/>
        </p:nvSpPr>
        <p:spPr>
          <a:xfrm>
            <a:off x="5925312" y="3483864"/>
            <a:ext cx="2834640" cy="292608"/>
          </a:xfrm>
          <a:prstGeom prst="rect">
            <a:avLst/>
          </a:prstGeom>
          <a:noFill/>
          <a:ln/>
        </p:spPr>
        <p:txBody>
          <a:bodyPr wrap="square" lIns="91440" tIns="45720" rIns="91440" bIns="45720" rtlCol="0" anchor="ctr"/>
          <a:lstStyle/>
          <a:p>
            <a:r>
              <a:rPr lang="en-US" sz="1000">
                <a:solidFill>
                  <a:srgbClr val="374151"/>
                </a:solidFill>
                <a:latin typeface="Calibri"/>
                <a:ea typeface="Calibri"/>
                <a:cs typeface="Calibri"/>
              </a:rPr>
              <a:t>Allow public to insert  (INSERT)</a:t>
            </a:r>
            <a:endParaRPr lang="en-US" sz="1000">
              <a:latin typeface="Calibri"/>
              <a:ea typeface="Calibri"/>
              <a:cs typeface="Calibri"/>
            </a:endParaRPr>
          </a:p>
        </p:txBody>
      </p:sp>
      <p:sp>
        <p:nvSpPr>
          <p:cNvPr id="19" name="Shape 16"/>
          <p:cNvSpPr/>
          <p:nvPr/>
        </p:nvSpPr>
        <p:spPr>
          <a:xfrm>
            <a:off x="5760720" y="3895344"/>
            <a:ext cx="91440" cy="91440"/>
          </a:xfrm>
          <a:prstGeom prst="ellipse">
            <a:avLst/>
          </a:prstGeom>
          <a:solidFill>
            <a:srgbClr val="991B1B"/>
          </a:solidFill>
          <a:ln w="12700">
            <a:solidFill>
              <a:srgbClr val="991B1B"/>
            </a:solidFill>
            <a:prstDash val="solid"/>
          </a:ln>
        </p:spPr>
        <p:txBody>
          <a:bodyPr/>
          <a:lstStyle/>
          <a:p>
            <a:endParaRPr lang="en-IN"/>
          </a:p>
        </p:txBody>
      </p:sp>
      <p:sp>
        <p:nvSpPr>
          <p:cNvPr id="20" name="Text 17"/>
          <p:cNvSpPr/>
          <p:nvPr/>
        </p:nvSpPr>
        <p:spPr>
          <a:xfrm>
            <a:off x="5925312" y="3831336"/>
            <a:ext cx="2834640" cy="292608"/>
          </a:xfrm>
          <a:prstGeom prst="rect">
            <a:avLst/>
          </a:prstGeom>
          <a:noFill/>
          <a:ln/>
        </p:spPr>
        <p:txBody>
          <a:bodyPr wrap="square" lIns="91440" tIns="45720" rIns="91440" bIns="45720" rtlCol="0" anchor="ctr"/>
          <a:lstStyle/>
          <a:p>
            <a:pPr marL="0" indent="0">
              <a:buNone/>
            </a:pPr>
            <a:r>
              <a:rPr lang="en-US" sz="1000">
                <a:solidFill>
                  <a:srgbClr val="374151"/>
                </a:solidFill>
                <a:latin typeface="Calibri" pitchFamily="34" charset="0"/>
                <a:ea typeface="Calibri" pitchFamily="34" charset="-122"/>
                <a:cs typeface="Calibri" pitchFamily="34" charset="-120"/>
              </a:rPr>
              <a:t>Enable read access for all users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45309"/>
          </a:solidFill>
          <a:ln w="12700">
            <a:solidFill>
              <a:srgbClr val="B45309"/>
            </a:solidFill>
            <a:prstDash val="solid"/>
          </a:ln>
        </p:spPr>
        <p:txBody>
          <a:bodyPr/>
          <a:lstStyle/>
          <a:p>
            <a:endParaRPr lang="en-IN"/>
          </a:p>
        </p:txBody>
      </p:sp>
      <p:sp>
        <p:nvSpPr>
          <p:cNvPr id="3" name="Text 1"/>
          <p:cNvSpPr/>
          <p:nvPr/>
        </p:nvSpPr>
        <p:spPr>
          <a:xfrm>
            <a:off x="365760" y="164592"/>
            <a:ext cx="6858000" cy="457200"/>
          </a:xfrm>
          <a:prstGeom prst="rect">
            <a:avLst/>
          </a:prstGeom>
          <a:noFill/>
          <a:ln/>
        </p:spPr>
        <p:txBody>
          <a:bodyPr wrap="square" lIns="91440" tIns="45720" rIns="91440" bIns="45720" rtlCol="0" anchor="ctr"/>
          <a:lstStyle/>
          <a:p>
            <a:pPr marL="0" indent="0">
              <a:buNone/>
            </a:pPr>
            <a:r>
              <a:rPr lang="en-US" sz="1800" b="1">
                <a:solidFill>
                  <a:srgbClr val="111111"/>
                </a:solidFill>
                <a:latin typeface="Calibri"/>
                <a:ea typeface="Calibri"/>
                <a:cs typeface="Calibri"/>
              </a:rPr>
              <a:t>Connecting Supabase to Your App</a:t>
            </a:r>
            <a:endParaRPr lang="en-US" sz="1800">
              <a:latin typeface="Calibri"/>
              <a:ea typeface="Calibri"/>
              <a:cs typeface="Calibri"/>
            </a:endParaRPr>
          </a:p>
        </p:txBody>
      </p:sp>
      <p:sp>
        <p:nvSpPr>
          <p:cNvPr id="4" name="Text 2"/>
          <p:cNvSpPr/>
          <p:nvPr/>
        </p:nvSpPr>
        <p:spPr>
          <a:xfrm>
            <a:off x="7223760" y="164592"/>
            <a:ext cx="1645920" cy="457200"/>
          </a:xfrm>
          <a:prstGeom prst="rect">
            <a:avLst/>
          </a:prstGeom>
          <a:noFill/>
          <a:ln/>
        </p:spPr>
        <p:txBody>
          <a:bodyPr wrap="square" rtlCol="0" anchor="ctr"/>
          <a:lstStyle/>
          <a:p>
            <a:pPr marL="0" indent="0" algn="r">
              <a:buNone/>
            </a:pPr>
            <a:endParaRPr lang="en-US" sz="1100"/>
          </a:p>
        </p:txBody>
      </p:sp>
      <p:sp>
        <p:nvSpPr>
          <p:cNvPr id="5" name="Shape 3"/>
          <p:cNvSpPr/>
          <p:nvPr/>
        </p:nvSpPr>
        <p:spPr>
          <a:xfrm>
            <a:off x="365760" y="658368"/>
            <a:ext cx="8412480" cy="0"/>
          </a:xfrm>
          <a:prstGeom prst="line">
            <a:avLst/>
          </a:prstGeom>
          <a:noFill/>
          <a:ln w="6350">
            <a:solidFill>
              <a:srgbClr val="E5E7EB"/>
            </a:solidFill>
            <a:prstDash val="solid"/>
          </a:ln>
        </p:spPr>
        <p:txBody>
          <a:bodyPr/>
          <a:lstStyle/>
          <a:p>
            <a:endParaRPr lang="en-IN"/>
          </a:p>
        </p:txBody>
      </p:sp>
      <p:sp>
        <p:nvSpPr>
          <p:cNvPr id="6" name="Text 4"/>
          <p:cNvSpPr/>
          <p:nvPr/>
        </p:nvSpPr>
        <p:spPr>
          <a:xfrm>
            <a:off x="274320" y="804672"/>
            <a:ext cx="8595360" cy="256032"/>
          </a:xfrm>
          <a:prstGeom prst="rect">
            <a:avLst/>
          </a:prstGeom>
          <a:noFill/>
          <a:ln/>
        </p:spPr>
        <p:txBody>
          <a:bodyPr wrap="square" rtlCol="0" anchor="ctr"/>
          <a:lstStyle/>
          <a:p>
            <a:pPr marL="0" indent="0">
              <a:buNone/>
            </a:pPr>
            <a:r>
              <a:rPr lang="en-US" sz="1400" i="1">
                <a:solidFill>
                  <a:srgbClr val="6B7280"/>
                </a:solidFill>
                <a:latin typeface="Calibri" pitchFamily="34" charset="0"/>
                <a:ea typeface="Calibri" pitchFamily="34" charset="-122"/>
                <a:cs typeface="Calibri" pitchFamily="34" charset="-120"/>
              </a:rPr>
              <a:t>Step 1 — Get your API keys from Settings &gt; API Keys</a:t>
            </a:r>
            <a:endParaRPr lang="en-US" sz="1400"/>
          </a:p>
        </p:txBody>
      </p:sp>
      <p:pic>
        <p:nvPicPr>
          <p:cNvPr id="7" name="Image 0" descr="preencoded.png"/>
          <p:cNvPicPr>
            <a:picLocks noChangeAspect="1"/>
          </p:cNvPicPr>
          <p:nvPr/>
        </p:nvPicPr>
        <p:blipFill>
          <a:blip r:embed="rId3"/>
          <a:stretch>
            <a:fillRect/>
          </a:stretch>
        </p:blipFill>
        <p:spPr>
          <a:xfrm>
            <a:off x="274320" y="1115568"/>
            <a:ext cx="5029200" cy="1645920"/>
          </a:xfrm>
          <a:prstGeom prst="rect">
            <a:avLst/>
          </a:prstGeom>
          <a:effectLst>
            <a:outerShdw blurRad="76200" dist="25400" dir="8100000" algn="bl" rotWithShape="0">
              <a:srgbClr val="000000">
                <a:alpha val="10000"/>
              </a:srgbClr>
            </a:outerShdw>
          </a:effectLst>
        </p:spPr>
      </p:pic>
      <p:sp>
        <p:nvSpPr>
          <p:cNvPr id="8" name="Shape 5"/>
          <p:cNvSpPr/>
          <p:nvPr/>
        </p:nvSpPr>
        <p:spPr>
          <a:xfrm>
            <a:off x="274320" y="1115568"/>
            <a:ext cx="5029200" cy="1645920"/>
          </a:xfrm>
          <a:prstGeom prst="rect">
            <a:avLst/>
          </a:prstGeom>
          <a:solidFill>
            <a:srgbClr val="FFFFFF">
              <a:alpha val="0"/>
            </a:srgbClr>
          </a:solidFill>
          <a:ln w="6350">
            <a:solidFill>
              <a:srgbClr val="E5E7EB"/>
            </a:solidFill>
            <a:prstDash val="solid"/>
          </a:ln>
        </p:spPr>
        <p:txBody>
          <a:bodyPr/>
          <a:lstStyle/>
          <a:p>
            <a:endParaRPr lang="en-IN"/>
          </a:p>
        </p:txBody>
      </p:sp>
      <p:sp>
        <p:nvSpPr>
          <p:cNvPr id="9" name="Shape 6"/>
          <p:cNvSpPr/>
          <p:nvPr/>
        </p:nvSpPr>
        <p:spPr>
          <a:xfrm>
            <a:off x="5564249" y="1121566"/>
            <a:ext cx="3392866" cy="2242000"/>
          </a:xfrm>
          <a:prstGeom prst="rect">
            <a:avLst/>
          </a:prstGeom>
          <a:solidFill>
            <a:srgbClr val="FFFFFF"/>
          </a:solidFill>
          <a:ln w="6350">
            <a:solidFill>
              <a:srgbClr val="E5E7EB"/>
            </a:solidFill>
            <a:prstDash val="solid"/>
          </a:ln>
          <a:effectLst>
            <a:outerShdw blurRad="50800" dist="25400" dir="8100000" algn="bl" rotWithShape="0">
              <a:srgbClr val="000000">
                <a:alpha val="6000"/>
              </a:srgbClr>
            </a:outerShdw>
          </a:effectLst>
        </p:spPr>
        <p:txBody>
          <a:bodyPr/>
          <a:lstStyle/>
          <a:p>
            <a:endParaRPr lang="en-IN"/>
          </a:p>
        </p:txBody>
      </p:sp>
      <p:sp>
        <p:nvSpPr>
          <p:cNvPr id="10" name="Shape 7"/>
          <p:cNvSpPr/>
          <p:nvPr/>
        </p:nvSpPr>
        <p:spPr>
          <a:xfrm>
            <a:off x="5519830" y="1115568"/>
            <a:ext cx="79444" cy="2248145"/>
          </a:xfrm>
          <a:prstGeom prst="rect">
            <a:avLst/>
          </a:prstGeom>
          <a:solidFill>
            <a:srgbClr val="B45309"/>
          </a:solidFill>
          <a:ln w="12700">
            <a:solidFill>
              <a:srgbClr val="B45309"/>
            </a:solidFill>
            <a:prstDash val="solid"/>
          </a:ln>
        </p:spPr>
        <p:txBody>
          <a:bodyPr/>
          <a:lstStyle/>
          <a:p>
            <a:endParaRPr lang="en-IN"/>
          </a:p>
        </p:txBody>
      </p:sp>
      <p:sp>
        <p:nvSpPr>
          <p:cNvPr id="11" name="Text 8"/>
          <p:cNvSpPr/>
          <p:nvPr/>
        </p:nvSpPr>
        <p:spPr>
          <a:xfrm>
            <a:off x="5731329" y="1118344"/>
            <a:ext cx="2880360" cy="320040"/>
          </a:xfrm>
          <a:prstGeom prst="rect">
            <a:avLst/>
          </a:prstGeom>
          <a:noFill/>
          <a:ln/>
        </p:spPr>
        <p:txBody>
          <a:bodyPr wrap="square" lIns="91440" tIns="45720" rIns="91440" bIns="45720" rtlCol="0" anchor="ctr"/>
          <a:lstStyle/>
          <a:p>
            <a:r>
              <a:rPr lang="en-US" sz="1400" b="1">
                <a:solidFill>
                  <a:srgbClr val="B45309"/>
                </a:solidFill>
                <a:latin typeface="Calibri"/>
                <a:ea typeface="Calibri"/>
                <a:cs typeface="Calibri"/>
              </a:rPr>
              <a:t>Important ✍️</a:t>
            </a:r>
            <a:endParaRPr lang="en-US" sz="1400">
              <a:latin typeface="Calibri"/>
              <a:ea typeface="Calibri"/>
              <a:cs typeface="Calibri"/>
            </a:endParaRPr>
          </a:p>
        </p:txBody>
      </p:sp>
      <p:sp>
        <p:nvSpPr>
          <p:cNvPr id="12" name="Text 9"/>
          <p:cNvSpPr/>
          <p:nvPr/>
        </p:nvSpPr>
        <p:spPr>
          <a:xfrm>
            <a:off x="5614571" y="1557419"/>
            <a:ext cx="3164709" cy="1644224"/>
          </a:xfrm>
          <a:prstGeom prst="rect">
            <a:avLst/>
          </a:prstGeom>
          <a:noFill/>
          <a:ln/>
        </p:spPr>
        <p:txBody>
          <a:bodyPr wrap="square" lIns="91440" tIns="45720" rIns="91440" bIns="45720" rtlCol="0" anchor="ctr"/>
          <a:lstStyle/>
          <a:p>
            <a:r>
              <a:rPr lang="en-US" sz="1400" i="1">
                <a:solidFill>
                  <a:srgbClr val="6B7280"/>
                </a:solidFill>
                <a:latin typeface="Trebuchet MS"/>
                <a:ea typeface="Calibri"/>
                <a:cs typeface="Calibri"/>
              </a:rPr>
              <a:t>• For anon keys use key that starts with </a:t>
            </a:r>
            <a:r>
              <a:rPr lang="en-US" sz="1400" i="1" err="1">
                <a:solidFill>
                  <a:srgbClr val="6B7280"/>
                </a:solidFill>
                <a:latin typeface="Trebuchet MS"/>
                <a:ea typeface="Calibri"/>
                <a:cs typeface="Calibri"/>
              </a:rPr>
              <a:t>eyJ</a:t>
            </a:r>
            <a:r>
              <a:rPr lang="en-US" sz="1400" i="1">
                <a:solidFill>
                  <a:srgbClr val="6B7280"/>
                </a:solidFill>
                <a:latin typeface="Trebuchet MS"/>
                <a:ea typeface="Calibri"/>
                <a:cs typeface="Calibri"/>
              </a:rPr>
              <a:t>...</a:t>
            </a:r>
          </a:p>
          <a:p>
            <a:endParaRPr lang="en-US" sz="1400" i="1">
              <a:solidFill>
                <a:srgbClr val="6B7280"/>
              </a:solidFill>
              <a:latin typeface="Trebuchet MS"/>
              <a:ea typeface="Calibri"/>
              <a:cs typeface="Calibri"/>
            </a:endParaRPr>
          </a:p>
          <a:p>
            <a:r>
              <a:rPr lang="en-US" sz="1400" i="1">
                <a:solidFill>
                  <a:srgbClr val="6B7280"/>
                </a:solidFill>
                <a:latin typeface="Trebuchet MS"/>
                <a:ea typeface="Calibri"/>
                <a:cs typeface="Calibri"/>
              </a:rPr>
              <a:t>• For URL, copy the project ID and write in windsurf as :</a:t>
            </a:r>
          </a:p>
          <a:p>
            <a:endParaRPr lang="en-US" sz="1400" i="1">
              <a:solidFill>
                <a:srgbClr val="6B7280"/>
              </a:solidFill>
              <a:latin typeface="Trebuchet MS"/>
              <a:ea typeface="Calibri"/>
              <a:cs typeface="Calibri"/>
            </a:endParaRPr>
          </a:p>
          <a:p>
            <a:r>
              <a:rPr lang="en-US" sz="1200" i="1">
                <a:solidFill>
                  <a:srgbClr val="6B7280"/>
                </a:solidFill>
                <a:latin typeface="Trebuchet MS"/>
                <a:ea typeface="Calibri"/>
                <a:cs typeface="Calibri"/>
              </a:rPr>
              <a:t>       </a:t>
            </a:r>
            <a:r>
              <a:rPr lang="en-US" sz="1100" i="1">
                <a:solidFill>
                  <a:srgbClr val="6B7280"/>
                </a:solidFill>
                <a:latin typeface="Trebuchet MS"/>
                <a:ea typeface="Calibri"/>
                <a:cs typeface="Calibri"/>
                <a:hlinkClick r:id="rId4" invalidUrl="https://"/>
              </a:rPr>
              <a:t>https://</a:t>
            </a:r>
            <a:r>
              <a:rPr lang="en-US" sz="1100" i="1">
                <a:solidFill>
                  <a:srgbClr val="6B7280"/>
                </a:solidFill>
                <a:latin typeface="Trebuchet MS"/>
                <a:ea typeface="Calibri"/>
                <a:cs typeface="Calibri"/>
              </a:rPr>
              <a:t>--your project url--.supabase.co</a:t>
            </a:r>
          </a:p>
        </p:txBody>
      </p:sp>
      <p:sp>
        <p:nvSpPr>
          <p:cNvPr id="14" name="Text 11"/>
          <p:cNvSpPr/>
          <p:nvPr/>
        </p:nvSpPr>
        <p:spPr>
          <a:xfrm>
            <a:off x="305344" y="2944368"/>
            <a:ext cx="4572000" cy="256032"/>
          </a:xfrm>
          <a:prstGeom prst="rect">
            <a:avLst/>
          </a:prstGeom>
          <a:noFill/>
          <a:ln/>
        </p:spPr>
        <p:txBody>
          <a:bodyPr wrap="square" lIns="91440" tIns="45720" rIns="91440" bIns="45720" rtlCol="0" anchor="ctr"/>
          <a:lstStyle/>
          <a:p>
            <a:pPr marL="0" indent="0">
              <a:buNone/>
            </a:pPr>
            <a:endParaRPr lang="en-US" sz="1400">
              <a:solidFill>
                <a:srgbClr val="9CA3AF"/>
              </a:solidFill>
              <a:latin typeface="Calibri"/>
              <a:ea typeface="Calibri"/>
              <a:cs typeface="Calibri"/>
            </a:endParaRPr>
          </a:p>
        </p:txBody>
      </p:sp>
      <p:sp>
        <p:nvSpPr>
          <p:cNvPr id="15" name="Text 12"/>
          <p:cNvSpPr/>
          <p:nvPr/>
        </p:nvSpPr>
        <p:spPr>
          <a:xfrm>
            <a:off x="305344" y="3185051"/>
            <a:ext cx="4458517" cy="946078"/>
          </a:xfrm>
          <a:prstGeom prst="rect">
            <a:avLst/>
          </a:prstGeom>
          <a:noFill/>
          <a:ln/>
        </p:spPr>
        <p:txBody>
          <a:bodyPr wrap="square" lIns="91440" tIns="45720" rIns="91440" bIns="45720" rtlCol="0" anchor="ctr"/>
          <a:lstStyle/>
          <a:p>
            <a:endParaRPr lang="en-IN" sz="1200">
              <a:solidFill>
                <a:srgbClr val="00B0F0"/>
              </a:solidFill>
              <a:ea typeface="Calibri"/>
              <a:cs typeface="Calibri"/>
            </a:endParaRPr>
          </a:p>
        </p:txBody>
      </p:sp>
      <p:sp>
        <p:nvSpPr>
          <p:cNvPr id="16" name="Text 13"/>
          <p:cNvSpPr/>
          <p:nvPr/>
        </p:nvSpPr>
        <p:spPr>
          <a:xfrm>
            <a:off x="182932" y="4476479"/>
            <a:ext cx="8595360" cy="347472"/>
          </a:xfrm>
          <a:prstGeom prst="rect">
            <a:avLst/>
          </a:prstGeom>
          <a:noFill/>
          <a:ln/>
        </p:spPr>
        <p:txBody>
          <a:bodyPr wrap="square" lIns="91440" tIns="45720" rIns="91440" bIns="45720" rtlCol="0" anchor="ctr"/>
          <a:lstStyle/>
          <a:p>
            <a:r>
              <a:rPr lang="en-US" sz="1400" b="1">
                <a:solidFill>
                  <a:srgbClr val="065F46"/>
                </a:solidFill>
                <a:latin typeface="Calibri"/>
                <a:ea typeface="Calibri"/>
                <a:cs typeface="Calibri"/>
              </a:rPr>
              <a:t>Step 3 —  Submit a blood request . Check the </a:t>
            </a:r>
            <a:r>
              <a:rPr lang="en-US" sz="1400" b="1" err="1">
                <a:solidFill>
                  <a:srgbClr val="065F46"/>
                </a:solidFill>
                <a:latin typeface="Calibri"/>
                <a:ea typeface="Calibri"/>
                <a:cs typeface="Calibri"/>
              </a:rPr>
              <a:t>Supabase</a:t>
            </a:r>
            <a:r>
              <a:rPr lang="en-US" sz="1400" b="1">
                <a:solidFill>
                  <a:srgbClr val="065F46"/>
                </a:solidFill>
                <a:latin typeface="Calibri"/>
                <a:ea typeface="Calibri"/>
                <a:cs typeface="Calibri"/>
              </a:rPr>
              <a:t> Table Editor. It appears as a real row.</a:t>
            </a:r>
            <a:endParaRPr lang="en-US" sz="1400">
              <a:latin typeface="Calibri"/>
              <a:ea typeface="Calibri"/>
              <a:cs typeface="Calibri"/>
            </a:endParaRPr>
          </a:p>
        </p:txBody>
      </p:sp>
      <p:sp>
        <p:nvSpPr>
          <p:cNvPr id="17" name="Shape 10">
            <a:extLst>
              <a:ext uri="{FF2B5EF4-FFF2-40B4-BE49-F238E27FC236}">
                <a16:creationId xmlns:a16="http://schemas.microsoft.com/office/drawing/2014/main" id="{540A8AD8-C215-21DD-A47F-89A9BDFCFB6E}"/>
              </a:ext>
            </a:extLst>
          </p:cNvPr>
          <p:cNvSpPr/>
          <p:nvPr/>
        </p:nvSpPr>
        <p:spPr>
          <a:xfrm>
            <a:off x="291193" y="2945105"/>
            <a:ext cx="5021841" cy="1356905"/>
          </a:xfrm>
          <a:prstGeom prst="rect">
            <a:avLst/>
          </a:prstGeom>
          <a:solidFill>
            <a:srgbClr val="161622"/>
          </a:solidFill>
          <a:ln w="6350">
            <a:solidFill>
              <a:srgbClr val="2D2D44"/>
            </a:solidFill>
            <a:prstDash val="solid"/>
          </a:ln>
        </p:spPr>
        <p:txBody>
          <a:bodyPr lIns="91440" tIns="45720" rIns="91440" bIns="45720" anchor="t"/>
          <a:lstStyle/>
          <a:p>
            <a:r>
              <a:rPr lang="en-US" sz="1400">
                <a:solidFill>
                  <a:srgbClr val="9CA3AF"/>
                </a:solidFill>
                <a:latin typeface="Calibri"/>
                <a:ea typeface="Calibri"/>
                <a:cs typeface="Calibri"/>
              </a:rPr>
              <a:t>Step 2 — Paste into your .env. file in Windsurf</a:t>
            </a:r>
            <a:endParaRPr lang="en-US" sz="1400">
              <a:latin typeface="Calibri"/>
              <a:ea typeface="Calibri"/>
              <a:cs typeface="Calibri"/>
            </a:endParaRPr>
          </a:p>
        </p:txBody>
      </p:sp>
      <p:sp>
        <p:nvSpPr>
          <p:cNvPr id="20" name="TextBox 19">
            <a:extLst>
              <a:ext uri="{FF2B5EF4-FFF2-40B4-BE49-F238E27FC236}">
                <a16:creationId xmlns:a16="http://schemas.microsoft.com/office/drawing/2014/main" id="{EF7E9369-8834-37CA-2D94-D9A9C39465D4}"/>
              </a:ext>
            </a:extLst>
          </p:cNvPr>
          <p:cNvSpPr txBox="1"/>
          <p:nvPr/>
        </p:nvSpPr>
        <p:spPr>
          <a:xfrm>
            <a:off x="856548" y="3275946"/>
            <a:ext cx="3861707" cy="769441"/>
          </a:xfrm>
          <a:prstGeom prst="rect">
            <a:avLst/>
          </a:prstGeom>
          <a:noFill/>
        </p:spPr>
        <p:txBody>
          <a:bodyPr wrap="square" rtlCol="0">
            <a:spAutoFit/>
          </a:bodyPr>
          <a:lstStyle/>
          <a:p>
            <a:r>
              <a:rPr lang="en-IN" sz="1100">
                <a:solidFill>
                  <a:srgbClr val="00B0F0"/>
                </a:solidFill>
              </a:rPr>
              <a:t>VITE_SUPABASE_URL=https://uwbkyckciifksaubrtyv.supabase.co</a:t>
            </a:r>
          </a:p>
          <a:p>
            <a:r>
              <a:rPr lang="en-IN" sz="1100">
                <a:solidFill>
                  <a:srgbClr val="00B0F0"/>
                </a:solidFill>
              </a:rPr>
              <a:t>VITE_SUPABASE_ANON_KEY=eyJhbGciOiJIUzI1NiIsInR5cCI6IkpXVCJ9…</a:t>
            </a:r>
          </a:p>
          <a:p>
            <a:endParaRPr lang="en-IN" sz="1100">
              <a:solidFill>
                <a:srgbClr val="00B0F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F46"/>
          </a:solidFill>
          <a:ln w="12700">
            <a:solidFill>
              <a:srgbClr val="065F46"/>
            </a:solidFill>
            <a:prstDash val="solid"/>
          </a:ln>
        </p:spPr>
        <p:txBody>
          <a:bodyPr/>
          <a:lstStyle/>
          <a:p>
            <a:endParaRPr lang="en-IN"/>
          </a:p>
        </p:txBody>
      </p:sp>
      <p:sp>
        <p:nvSpPr>
          <p:cNvPr id="3" name="Text 1"/>
          <p:cNvSpPr/>
          <p:nvPr/>
        </p:nvSpPr>
        <p:spPr>
          <a:xfrm>
            <a:off x="365760" y="164592"/>
            <a:ext cx="6858000" cy="457200"/>
          </a:xfrm>
          <a:prstGeom prst="rect">
            <a:avLst/>
          </a:prstGeom>
          <a:noFill/>
          <a:ln/>
        </p:spPr>
        <p:txBody>
          <a:bodyPr wrap="square" rtlCol="0" anchor="ctr"/>
          <a:lstStyle/>
          <a:p>
            <a:pPr marL="0" indent="0">
              <a:buNone/>
            </a:pPr>
            <a:r>
              <a:rPr lang="en-US" sz="1800" b="1">
                <a:solidFill>
                  <a:srgbClr val="111111"/>
                </a:solidFill>
                <a:latin typeface="Calibri" pitchFamily="34" charset="0"/>
                <a:ea typeface="Calibri" pitchFamily="34" charset="-122"/>
                <a:cs typeface="Calibri" pitchFamily="34" charset="-120"/>
              </a:rPr>
              <a:t>Real-Time Subscriptions</a:t>
            </a:r>
            <a:endParaRPr lang="en-US" sz="1800"/>
          </a:p>
        </p:txBody>
      </p:sp>
      <p:sp>
        <p:nvSpPr>
          <p:cNvPr id="4" name="Text 2"/>
          <p:cNvSpPr/>
          <p:nvPr/>
        </p:nvSpPr>
        <p:spPr>
          <a:xfrm>
            <a:off x="7223760" y="164592"/>
            <a:ext cx="1645920" cy="457200"/>
          </a:xfrm>
          <a:prstGeom prst="rect">
            <a:avLst/>
          </a:prstGeom>
          <a:noFill/>
          <a:ln/>
        </p:spPr>
        <p:txBody>
          <a:bodyPr wrap="square" lIns="91440" tIns="45720" rIns="91440" bIns="45720" rtlCol="0" anchor="ctr"/>
          <a:lstStyle/>
          <a:p>
            <a:pPr marL="0" indent="0" algn="r">
              <a:buNone/>
            </a:pPr>
            <a:endParaRPr lang="en-US" sz="1100">
              <a:solidFill>
                <a:srgbClr val="6B7280"/>
              </a:solidFill>
              <a:ea typeface="Calibri"/>
              <a:cs typeface="Calibri"/>
            </a:endParaRPr>
          </a:p>
        </p:txBody>
      </p:sp>
      <p:sp>
        <p:nvSpPr>
          <p:cNvPr id="5" name="Shape 3"/>
          <p:cNvSpPr/>
          <p:nvPr/>
        </p:nvSpPr>
        <p:spPr>
          <a:xfrm>
            <a:off x="365760" y="658368"/>
            <a:ext cx="8412480" cy="0"/>
          </a:xfrm>
          <a:prstGeom prst="line">
            <a:avLst/>
          </a:prstGeom>
          <a:noFill/>
          <a:ln w="6350">
            <a:solidFill>
              <a:srgbClr val="E5E7EB"/>
            </a:solidFill>
            <a:prstDash val="solid"/>
          </a:ln>
        </p:spPr>
        <p:txBody>
          <a:bodyPr/>
          <a:lstStyle/>
          <a:p>
            <a:endParaRPr lang="en-IN"/>
          </a:p>
        </p:txBody>
      </p:sp>
      <p:sp>
        <p:nvSpPr>
          <p:cNvPr id="6" name="Shape 4"/>
          <p:cNvSpPr/>
          <p:nvPr/>
        </p:nvSpPr>
        <p:spPr>
          <a:xfrm>
            <a:off x="274320" y="804672"/>
            <a:ext cx="3840480" cy="3474720"/>
          </a:xfrm>
          <a:prstGeom prst="rect">
            <a:avLst/>
          </a:prstGeom>
          <a:solidFill>
            <a:srgbClr val="FFFFFF"/>
          </a:solidFill>
          <a:ln w="6350">
            <a:solidFill>
              <a:srgbClr val="E5E7EB"/>
            </a:solidFill>
            <a:prstDash val="solid"/>
          </a:ln>
          <a:effectLst>
            <a:outerShdw blurRad="50800" dist="25400" dir="8100000" algn="bl" rotWithShape="0">
              <a:srgbClr val="000000">
                <a:alpha val="6000"/>
              </a:srgbClr>
            </a:outerShdw>
          </a:effectLst>
        </p:spPr>
        <p:txBody>
          <a:bodyPr/>
          <a:lstStyle/>
          <a:p>
            <a:endParaRPr lang="en-IN"/>
          </a:p>
        </p:txBody>
      </p:sp>
      <p:sp>
        <p:nvSpPr>
          <p:cNvPr id="7" name="Shape 5"/>
          <p:cNvSpPr/>
          <p:nvPr/>
        </p:nvSpPr>
        <p:spPr>
          <a:xfrm>
            <a:off x="274320" y="804672"/>
            <a:ext cx="54864" cy="3474720"/>
          </a:xfrm>
          <a:prstGeom prst="rect">
            <a:avLst/>
          </a:prstGeom>
          <a:solidFill>
            <a:srgbClr val="111111"/>
          </a:solidFill>
          <a:ln w="12700">
            <a:solidFill>
              <a:srgbClr val="111111"/>
            </a:solidFill>
            <a:prstDash val="solid"/>
          </a:ln>
        </p:spPr>
        <p:txBody>
          <a:bodyPr/>
          <a:lstStyle/>
          <a:p>
            <a:endParaRPr lang="en-IN"/>
          </a:p>
        </p:txBody>
      </p:sp>
      <p:sp>
        <p:nvSpPr>
          <p:cNvPr id="8" name="Shape 6"/>
          <p:cNvSpPr/>
          <p:nvPr/>
        </p:nvSpPr>
        <p:spPr>
          <a:xfrm>
            <a:off x="274320" y="804672"/>
            <a:ext cx="3840480" cy="411480"/>
          </a:xfrm>
          <a:prstGeom prst="rect">
            <a:avLst/>
          </a:prstGeom>
          <a:solidFill>
            <a:srgbClr val="111111"/>
          </a:solidFill>
          <a:ln w="12700">
            <a:solidFill>
              <a:srgbClr val="111111"/>
            </a:solidFill>
            <a:prstDash val="solid"/>
          </a:ln>
        </p:spPr>
        <p:txBody>
          <a:bodyPr/>
          <a:lstStyle/>
          <a:p>
            <a:endParaRPr lang="en-IN"/>
          </a:p>
        </p:txBody>
      </p:sp>
      <p:sp>
        <p:nvSpPr>
          <p:cNvPr id="9" name="Text 7"/>
          <p:cNvSpPr/>
          <p:nvPr/>
        </p:nvSpPr>
        <p:spPr>
          <a:xfrm>
            <a:off x="274320" y="804672"/>
            <a:ext cx="3840480" cy="411480"/>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Tab 1</a:t>
            </a:r>
            <a:endParaRPr lang="en-US" sz="1200"/>
          </a:p>
        </p:txBody>
      </p:sp>
      <p:sp>
        <p:nvSpPr>
          <p:cNvPr id="10" name="Text 8"/>
          <p:cNvSpPr/>
          <p:nvPr/>
        </p:nvSpPr>
        <p:spPr>
          <a:xfrm>
            <a:off x="457200" y="1325880"/>
            <a:ext cx="3474720" cy="914400"/>
          </a:xfrm>
          <a:prstGeom prst="rect">
            <a:avLst/>
          </a:prstGeom>
          <a:noFill/>
          <a:ln/>
        </p:spPr>
        <p:txBody>
          <a:bodyPr wrap="square" lIns="91440" tIns="45720" rIns="91440" bIns="45720" rtlCol="0" anchor="ctr"/>
          <a:lstStyle/>
          <a:p>
            <a:pPr algn="ctr"/>
            <a:endParaRPr lang="en-US" sz="1300">
              <a:solidFill>
                <a:srgbClr val="374151"/>
              </a:solidFill>
              <a:ea typeface="Calibri"/>
              <a:cs typeface="Calibri"/>
            </a:endParaRPr>
          </a:p>
          <a:p>
            <a:pPr algn="ctr"/>
            <a:endParaRPr lang="en-US" sz="1300">
              <a:solidFill>
                <a:srgbClr val="374151"/>
              </a:solidFill>
              <a:ea typeface="Calibri"/>
              <a:cs typeface="Calibri"/>
            </a:endParaRPr>
          </a:p>
          <a:p>
            <a:pPr algn="ctr"/>
            <a:r>
              <a:rPr lang="en-US" sz="1300">
                <a:solidFill>
                  <a:srgbClr val="374151"/>
                </a:solidFill>
                <a:ea typeface="Calibri"/>
                <a:cs typeface="Calibri"/>
              </a:rPr>
              <a:t>Submitted  blood request </a:t>
            </a:r>
          </a:p>
          <a:p>
            <a:pPr marL="0" indent="0" algn="ctr">
              <a:buNone/>
            </a:pPr>
            <a:endParaRPr lang="en-US" sz="1300">
              <a:solidFill>
                <a:srgbClr val="374151"/>
              </a:solidFill>
              <a:ea typeface="Calibri"/>
              <a:cs typeface="Calibri"/>
            </a:endParaRPr>
          </a:p>
          <a:p>
            <a:pPr algn="ctr"/>
            <a:r>
              <a:rPr lang="en-US" sz="1300">
                <a:solidFill>
                  <a:srgbClr val="374151"/>
                </a:solidFill>
                <a:ea typeface="Calibri"/>
                <a:cs typeface="Calibri"/>
              </a:rPr>
              <a:t>Click fulfilled </a:t>
            </a:r>
          </a:p>
          <a:p>
            <a:pPr algn="ctr"/>
            <a:endParaRPr lang="en-US" sz="1300">
              <a:solidFill>
                <a:srgbClr val="000000"/>
              </a:solidFill>
              <a:ea typeface="Calibri"/>
              <a:cs typeface="Calibri"/>
            </a:endParaRPr>
          </a:p>
          <a:p>
            <a:pPr algn="ctr"/>
            <a:endParaRPr lang="en-US" sz="1300">
              <a:solidFill>
                <a:srgbClr val="374151"/>
              </a:solidFill>
              <a:ea typeface="Calibri"/>
              <a:cs typeface="Calibri"/>
            </a:endParaRPr>
          </a:p>
        </p:txBody>
      </p:sp>
      <p:sp>
        <p:nvSpPr>
          <p:cNvPr id="11" name="Shape 9"/>
          <p:cNvSpPr/>
          <p:nvPr/>
        </p:nvSpPr>
        <p:spPr>
          <a:xfrm>
            <a:off x="640080" y="2423160"/>
            <a:ext cx="3108960" cy="384048"/>
          </a:xfrm>
          <a:prstGeom prst="rect">
            <a:avLst/>
          </a:prstGeom>
          <a:solidFill>
            <a:srgbClr val="111111"/>
          </a:solidFill>
          <a:ln w="12700">
            <a:solidFill>
              <a:srgbClr val="111111"/>
            </a:solidFill>
            <a:prstDash val="solid"/>
          </a:ln>
        </p:spPr>
        <p:txBody>
          <a:bodyPr/>
          <a:lstStyle/>
          <a:p>
            <a:endParaRPr lang="en-IN"/>
          </a:p>
        </p:txBody>
      </p:sp>
      <p:sp>
        <p:nvSpPr>
          <p:cNvPr id="12" name="Text 10"/>
          <p:cNvSpPr/>
          <p:nvPr/>
        </p:nvSpPr>
        <p:spPr>
          <a:xfrm>
            <a:off x="640080" y="2423160"/>
            <a:ext cx="3108960" cy="384048"/>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 Add Task</a:t>
            </a:r>
            <a:endParaRPr lang="en-US" sz="1200"/>
          </a:p>
        </p:txBody>
      </p:sp>
      <p:sp>
        <p:nvSpPr>
          <p:cNvPr id="13" name="Text 11"/>
          <p:cNvSpPr/>
          <p:nvPr/>
        </p:nvSpPr>
        <p:spPr>
          <a:xfrm>
            <a:off x="457200" y="3063240"/>
            <a:ext cx="3474720" cy="256032"/>
          </a:xfrm>
          <a:prstGeom prst="rect">
            <a:avLst/>
          </a:prstGeom>
          <a:noFill/>
          <a:ln/>
        </p:spPr>
        <p:txBody>
          <a:bodyPr wrap="square" rtlCol="0" anchor="ctr"/>
          <a:lstStyle/>
          <a:p>
            <a:pPr marL="0" indent="0" algn="ctr">
              <a:buNone/>
            </a:pPr>
            <a:r>
              <a:rPr lang="en-US" sz="1000">
                <a:solidFill>
                  <a:srgbClr val="6B7280"/>
                </a:solidFill>
                <a:latin typeface="Courier New" pitchFamily="34" charset="0"/>
                <a:ea typeface="Courier New" pitchFamily="34" charset="-122"/>
                <a:cs typeface="Courier New" pitchFamily="34" charset="-120"/>
              </a:rPr>
              <a:t>localhost:5173</a:t>
            </a:r>
            <a:endParaRPr lang="en-US" sz="1000"/>
          </a:p>
        </p:txBody>
      </p:sp>
      <p:sp>
        <p:nvSpPr>
          <p:cNvPr id="14" name="Shape 12"/>
          <p:cNvSpPr/>
          <p:nvPr/>
        </p:nvSpPr>
        <p:spPr>
          <a:xfrm>
            <a:off x="4251960" y="2194560"/>
            <a:ext cx="640080" cy="54864"/>
          </a:xfrm>
          <a:prstGeom prst="rect">
            <a:avLst/>
          </a:prstGeom>
          <a:solidFill>
            <a:srgbClr val="065F46"/>
          </a:solidFill>
          <a:ln w="12700">
            <a:solidFill>
              <a:srgbClr val="065F46"/>
            </a:solidFill>
            <a:prstDash val="solid"/>
          </a:ln>
        </p:spPr>
        <p:txBody>
          <a:bodyPr/>
          <a:lstStyle/>
          <a:p>
            <a:endParaRPr lang="en-IN"/>
          </a:p>
        </p:txBody>
      </p:sp>
      <p:sp>
        <p:nvSpPr>
          <p:cNvPr id="15" name="Text 13"/>
          <p:cNvSpPr/>
          <p:nvPr/>
        </p:nvSpPr>
        <p:spPr>
          <a:xfrm>
            <a:off x="4206240" y="1920240"/>
            <a:ext cx="731520" cy="256032"/>
          </a:xfrm>
          <a:prstGeom prst="rect">
            <a:avLst/>
          </a:prstGeom>
          <a:noFill/>
          <a:ln/>
        </p:spPr>
        <p:txBody>
          <a:bodyPr wrap="square" rtlCol="0" anchor="ctr"/>
          <a:lstStyle/>
          <a:p>
            <a:pPr marL="0" indent="0" algn="ctr">
              <a:buNone/>
            </a:pPr>
            <a:r>
              <a:rPr lang="en-US" sz="900" b="1">
                <a:solidFill>
                  <a:srgbClr val="065F46"/>
                </a:solidFill>
                <a:latin typeface="Calibri" pitchFamily="34" charset="0"/>
                <a:ea typeface="Calibri" pitchFamily="34" charset="-122"/>
                <a:cs typeface="Calibri" pitchFamily="34" charset="-120"/>
              </a:rPr>
              <a:t>instant</a:t>
            </a:r>
            <a:endParaRPr lang="en-US" sz="900"/>
          </a:p>
        </p:txBody>
      </p:sp>
      <p:sp>
        <p:nvSpPr>
          <p:cNvPr id="16" name="Shape 14"/>
          <p:cNvSpPr/>
          <p:nvPr/>
        </p:nvSpPr>
        <p:spPr>
          <a:xfrm>
            <a:off x="5029200" y="804672"/>
            <a:ext cx="3840480" cy="3474720"/>
          </a:xfrm>
          <a:prstGeom prst="rect">
            <a:avLst/>
          </a:prstGeom>
          <a:solidFill>
            <a:srgbClr val="FFFFFF"/>
          </a:solidFill>
          <a:ln w="6350">
            <a:solidFill>
              <a:srgbClr val="E5E7EB"/>
            </a:solidFill>
            <a:prstDash val="solid"/>
          </a:ln>
          <a:effectLst>
            <a:outerShdw blurRad="50800" dist="25400" dir="8100000" algn="bl" rotWithShape="0">
              <a:srgbClr val="000000">
                <a:alpha val="6000"/>
              </a:srgbClr>
            </a:outerShdw>
          </a:effectLst>
        </p:spPr>
        <p:txBody>
          <a:bodyPr/>
          <a:lstStyle/>
          <a:p>
            <a:endParaRPr lang="en-IN"/>
          </a:p>
        </p:txBody>
      </p:sp>
      <p:sp>
        <p:nvSpPr>
          <p:cNvPr id="17" name="Shape 15"/>
          <p:cNvSpPr/>
          <p:nvPr/>
        </p:nvSpPr>
        <p:spPr>
          <a:xfrm>
            <a:off x="5029200" y="804672"/>
            <a:ext cx="54864" cy="3474720"/>
          </a:xfrm>
          <a:prstGeom prst="rect">
            <a:avLst/>
          </a:prstGeom>
          <a:solidFill>
            <a:srgbClr val="065F46"/>
          </a:solidFill>
          <a:ln w="12700">
            <a:solidFill>
              <a:srgbClr val="065F46"/>
            </a:solidFill>
            <a:prstDash val="solid"/>
          </a:ln>
        </p:spPr>
        <p:txBody>
          <a:bodyPr/>
          <a:lstStyle/>
          <a:p>
            <a:endParaRPr lang="en-IN"/>
          </a:p>
        </p:txBody>
      </p:sp>
      <p:sp>
        <p:nvSpPr>
          <p:cNvPr id="18" name="Shape 16"/>
          <p:cNvSpPr/>
          <p:nvPr/>
        </p:nvSpPr>
        <p:spPr>
          <a:xfrm>
            <a:off x="5029200" y="804672"/>
            <a:ext cx="3840480" cy="411480"/>
          </a:xfrm>
          <a:prstGeom prst="rect">
            <a:avLst/>
          </a:prstGeom>
          <a:solidFill>
            <a:srgbClr val="065F46"/>
          </a:solidFill>
          <a:ln w="12700">
            <a:solidFill>
              <a:srgbClr val="065F46"/>
            </a:solidFill>
            <a:prstDash val="solid"/>
          </a:ln>
        </p:spPr>
        <p:txBody>
          <a:bodyPr/>
          <a:lstStyle/>
          <a:p>
            <a:endParaRPr lang="en-IN"/>
          </a:p>
        </p:txBody>
      </p:sp>
      <p:sp>
        <p:nvSpPr>
          <p:cNvPr id="19" name="Text 17"/>
          <p:cNvSpPr/>
          <p:nvPr/>
        </p:nvSpPr>
        <p:spPr>
          <a:xfrm>
            <a:off x="5029200" y="804672"/>
            <a:ext cx="3840480" cy="411480"/>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Tab 2</a:t>
            </a:r>
            <a:endParaRPr lang="en-US" sz="1200"/>
          </a:p>
        </p:txBody>
      </p:sp>
      <p:sp>
        <p:nvSpPr>
          <p:cNvPr id="20" name="Text 18"/>
          <p:cNvSpPr/>
          <p:nvPr/>
        </p:nvSpPr>
        <p:spPr>
          <a:xfrm>
            <a:off x="5212080" y="1325880"/>
            <a:ext cx="3474720" cy="1371600"/>
          </a:xfrm>
          <a:prstGeom prst="rect">
            <a:avLst/>
          </a:prstGeom>
          <a:noFill/>
          <a:ln/>
        </p:spPr>
        <p:txBody>
          <a:bodyPr wrap="square" lIns="91440" tIns="45720" rIns="91440" bIns="45720" rtlCol="0" anchor="ctr"/>
          <a:lstStyle/>
          <a:p>
            <a:pPr algn="ctr"/>
            <a:r>
              <a:rPr lang="en-US" sz="1300">
                <a:solidFill>
                  <a:srgbClr val="374151"/>
                </a:solidFill>
                <a:latin typeface="Calibri"/>
                <a:ea typeface="Calibri"/>
                <a:cs typeface="Calibri"/>
              </a:rPr>
              <a:t>The request is fulfilled automatically </a:t>
            </a:r>
            <a:endParaRPr lang="en-US" sz="1300"/>
          </a:p>
          <a:p>
            <a:pPr marL="0" indent="0" algn="ctr">
              <a:buNone/>
            </a:pPr>
            <a:endParaRPr lang="en-US" sz="1300"/>
          </a:p>
          <a:p>
            <a:pPr marL="0" indent="0" algn="ctr">
              <a:buNone/>
            </a:pPr>
            <a:r>
              <a:rPr lang="en-US" sz="1300">
                <a:solidFill>
                  <a:srgbClr val="374151"/>
                </a:solidFill>
                <a:latin typeface="Calibri"/>
                <a:ea typeface="Calibri"/>
                <a:cs typeface="Calibri"/>
              </a:rPr>
              <a:t>No refresh required.</a:t>
            </a:r>
            <a:endParaRPr lang="en-US" sz="1300">
              <a:latin typeface="Calibri"/>
              <a:ea typeface="Calibri"/>
              <a:cs typeface="Calibri"/>
            </a:endParaRPr>
          </a:p>
        </p:txBody>
      </p:sp>
      <p:sp>
        <p:nvSpPr>
          <p:cNvPr id="21" name="Text 19"/>
          <p:cNvSpPr/>
          <p:nvPr/>
        </p:nvSpPr>
        <p:spPr>
          <a:xfrm>
            <a:off x="5212080" y="3063240"/>
            <a:ext cx="3474720" cy="256032"/>
          </a:xfrm>
          <a:prstGeom prst="rect">
            <a:avLst/>
          </a:prstGeom>
          <a:noFill/>
          <a:ln/>
        </p:spPr>
        <p:txBody>
          <a:bodyPr wrap="square" rtlCol="0" anchor="ctr"/>
          <a:lstStyle/>
          <a:p>
            <a:pPr marL="0" indent="0" algn="ctr">
              <a:buNone/>
            </a:pPr>
            <a:r>
              <a:rPr lang="en-US" sz="1000">
                <a:solidFill>
                  <a:srgbClr val="6B7280"/>
                </a:solidFill>
                <a:latin typeface="Courier New" pitchFamily="34" charset="0"/>
                <a:ea typeface="Courier New" pitchFamily="34" charset="-122"/>
                <a:cs typeface="Courier New" pitchFamily="34" charset="-120"/>
              </a:rPr>
              <a:t>localhost:5173</a:t>
            </a:r>
            <a:endParaRPr lang="en-US" sz="1000"/>
          </a:p>
        </p:txBody>
      </p:sp>
      <p:sp>
        <p:nvSpPr>
          <p:cNvPr id="22" name="Shape 20"/>
          <p:cNvSpPr/>
          <p:nvPr/>
        </p:nvSpPr>
        <p:spPr>
          <a:xfrm>
            <a:off x="274320" y="4407408"/>
            <a:ext cx="8595360" cy="457200"/>
          </a:xfrm>
          <a:prstGeom prst="rect">
            <a:avLst/>
          </a:prstGeom>
          <a:solidFill>
            <a:srgbClr val="F9FAFB"/>
          </a:solidFill>
          <a:ln w="6350">
            <a:solidFill>
              <a:srgbClr val="E5E7EB"/>
            </a:solidFill>
            <a:prstDash val="solid"/>
          </a:ln>
        </p:spPr>
        <p:txBody>
          <a:bodyPr/>
          <a:lstStyle/>
          <a:p>
            <a:endParaRPr lang="en-IN"/>
          </a:p>
        </p:txBody>
      </p:sp>
      <p:sp>
        <p:nvSpPr>
          <p:cNvPr id="23" name="Text 21"/>
          <p:cNvSpPr/>
          <p:nvPr/>
        </p:nvSpPr>
        <p:spPr>
          <a:xfrm>
            <a:off x="457200" y="4407408"/>
            <a:ext cx="8229600" cy="457200"/>
          </a:xfrm>
          <a:prstGeom prst="rect">
            <a:avLst/>
          </a:prstGeom>
          <a:noFill/>
          <a:ln/>
        </p:spPr>
        <p:txBody>
          <a:bodyPr wrap="square" rtlCol="0" anchor="ctr"/>
          <a:lstStyle/>
          <a:p>
            <a:pPr marL="0" indent="0">
              <a:buNone/>
            </a:pPr>
            <a:r>
              <a:rPr lang="en-US" sz="1200">
                <a:solidFill>
                  <a:srgbClr val="374151"/>
                </a:solidFill>
                <a:latin typeface="Calibri" pitchFamily="34" charset="0"/>
                <a:ea typeface="Calibri" pitchFamily="34" charset="-122"/>
                <a:cs typeface="Calibri" pitchFamily="34" charset="-120"/>
              </a:rPr>
              <a:t>This is how WhatsApp messages, Swiggy order tracking, and Google Docs live editing all work.</a:t>
            </a:r>
            <a:endParaRPr lang="en-US" sz="12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
            <a:extLst>
              <a:ext uri="{FF2B5EF4-FFF2-40B4-BE49-F238E27FC236}">
                <a16:creationId xmlns:a16="http://schemas.microsoft.com/office/drawing/2014/main" id="{1AF63C89-4815-F97B-B66D-8A09C15F9255}"/>
              </a:ext>
            </a:extLst>
          </p:cNvPr>
          <p:cNvPicPr>
            <a:picLocks noChangeAspect="1"/>
          </p:cNvPicPr>
          <p:nvPr/>
        </p:nvPicPr>
        <p:blipFill>
          <a:blip r:embed="rId2"/>
          <a:stretch>
            <a:fillRect/>
          </a:stretch>
        </p:blipFill>
        <p:spPr>
          <a:xfrm>
            <a:off x="0" y="1219"/>
            <a:ext cx="9144000" cy="4791164"/>
          </a:xfrm>
          <a:prstGeom prst="rect">
            <a:avLst/>
          </a:prstGeom>
        </p:spPr>
      </p:pic>
    </p:spTree>
    <p:extLst>
      <p:ext uri="{BB962C8B-B14F-4D97-AF65-F5344CB8AC3E}">
        <p14:creationId xmlns:p14="http://schemas.microsoft.com/office/powerpoint/2010/main" val="3678077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11111"/>
          </a:solidFill>
          <a:ln w="12700">
            <a:solidFill>
              <a:srgbClr val="111111"/>
            </a:solidFill>
            <a:prstDash val="solid"/>
          </a:ln>
        </p:spPr>
        <p:txBody>
          <a:bodyPr/>
          <a:lstStyle/>
          <a:p>
            <a:endParaRPr lang="en-IN"/>
          </a:p>
        </p:txBody>
      </p:sp>
      <p:sp>
        <p:nvSpPr>
          <p:cNvPr id="3" name="Text 1"/>
          <p:cNvSpPr/>
          <p:nvPr/>
        </p:nvSpPr>
        <p:spPr>
          <a:xfrm>
            <a:off x="365760" y="164592"/>
            <a:ext cx="6858000" cy="457200"/>
          </a:xfrm>
          <a:prstGeom prst="rect">
            <a:avLst/>
          </a:prstGeom>
          <a:noFill/>
          <a:ln/>
        </p:spPr>
        <p:txBody>
          <a:bodyPr wrap="square" rtlCol="0" anchor="ctr"/>
          <a:lstStyle/>
          <a:p>
            <a:pPr marL="0" indent="0">
              <a:buNone/>
            </a:pPr>
            <a:r>
              <a:rPr lang="en-US" sz="1800" b="1">
                <a:solidFill>
                  <a:srgbClr val="111111"/>
                </a:solidFill>
                <a:latin typeface="Calibri" pitchFamily="34" charset="0"/>
                <a:ea typeface="Calibri" pitchFamily="34" charset="-122"/>
                <a:cs typeface="Calibri" pitchFamily="34" charset="-120"/>
              </a:rPr>
              <a:t>Key Takeaways</a:t>
            </a:r>
            <a:endParaRPr lang="en-US" sz="1800"/>
          </a:p>
        </p:txBody>
      </p:sp>
      <p:sp>
        <p:nvSpPr>
          <p:cNvPr id="4" name="Text 2"/>
          <p:cNvSpPr/>
          <p:nvPr/>
        </p:nvSpPr>
        <p:spPr>
          <a:xfrm>
            <a:off x="7223760" y="164592"/>
            <a:ext cx="1645920" cy="457200"/>
          </a:xfrm>
          <a:prstGeom prst="rect">
            <a:avLst/>
          </a:prstGeom>
          <a:noFill/>
          <a:ln/>
        </p:spPr>
        <p:txBody>
          <a:bodyPr wrap="square" lIns="91440" tIns="45720" rIns="91440" bIns="45720" rtlCol="0" anchor="ctr"/>
          <a:lstStyle/>
          <a:p>
            <a:pPr marL="0" indent="0" algn="r">
              <a:buNone/>
            </a:pPr>
            <a:endParaRPr lang="en-US" sz="1100">
              <a:solidFill>
                <a:srgbClr val="6B7280"/>
              </a:solidFill>
              <a:ea typeface="Calibri"/>
              <a:cs typeface="Calibri"/>
            </a:endParaRPr>
          </a:p>
        </p:txBody>
      </p:sp>
      <p:sp>
        <p:nvSpPr>
          <p:cNvPr id="5" name="Shape 3"/>
          <p:cNvSpPr/>
          <p:nvPr/>
        </p:nvSpPr>
        <p:spPr>
          <a:xfrm>
            <a:off x="365760" y="658368"/>
            <a:ext cx="8412480" cy="0"/>
          </a:xfrm>
          <a:prstGeom prst="line">
            <a:avLst/>
          </a:prstGeom>
          <a:noFill/>
          <a:ln w="6350">
            <a:solidFill>
              <a:srgbClr val="E5E7EB"/>
            </a:solidFill>
            <a:prstDash val="solid"/>
          </a:ln>
        </p:spPr>
        <p:txBody>
          <a:bodyPr/>
          <a:lstStyle/>
          <a:p>
            <a:endParaRPr lang="en-IN"/>
          </a:p>
        </p:txBody>
      </p:sp>
      <p:sp>
        <p:nvSpPr>
          <p:cNvPr id="6" name="Shape 4"/>
          <p:cNvSpPr/>
          <p:nvPr/>
        </p:nvSpPr>
        <p:spPr>
          <a:xfrm>
            <a:off x="274320" y="822960"/>
            <a:ext cx="8595360" cy="1207008"/>
          </a:xfrm>
          <a:prstGeom prst="rect">
            <a:avLst/>
          </a:prstGeom>
          <a:solidFill>
            <a:srgbClr val="F9FAFB"/>
          </a:solidFill>
          <a:ln w="6350">
            <a:solidFill>
              <a:srgbClr val="E5E7EB"/>
            </a:solidFill>
            <a:prstDash val="solid"/>
          </a:ln>
        </p:spPr>
        <p:txBody>
          <a:bodyPr/>
          <a:lstStyle/>
          <a:p>
            <a:endParaRPr lang="en-IN"/>
          </a:p>
        </p:txBody>
      </p:sp>
      <p:sp>
        <p:nvSpPr>
          <p:cNvPr id="7" name="Shape 5"/>
          <p:cNvSpPr/>
          <p:nvPr/>
        </p:nvSpPr>
        <p:spPr>
          <a:xfrm>
            <a:off x="274320" y="822960"/>
            <a:ext cx="54864" cy="1207008"/>
          </a:xfrm>
          <a:prstGeom prst="rect">
            <a:avLst/>
          </a:prstGeom>
          <a:solidFill>
            <a:srgbClr val="6D28D9"/>
          </a:solidFill>
          <a:ln w="12700">
            <a:solidFill>
              <a:srgbClr val="6D28D9"/>
            </a:solidFill>
            <a:prstDash val="solid"/>
          </a:ln>
        </p:spPr>
        <p:txBody>
          <a:bodyPr/>
          <a:lstStyle/>
          <a:p>
            <a:endParaRPr lang="en-IN"/>
          </a:p>
        </p:txBody>
      </p:sp>
      <p:sp>
        <p:nvSpPr>
          <p:cNvPr id="8" name="Text 6"/>
          <p:cNvSpPr/>
          <p:nvPr/>
        </p:nvSpPr>
        <p:spPr>
          <a:xfrm>
            <a:off x="457200" y="822960"/>
            <a:ext cx="640080" cy="1207008"/>
          </a:xfrm>
          <a:prstGeom prst="rect">
            <a:avLst/>
          </a:prstGeom>
          <a:noFill/>
          <a:ln/>
        </p:spPr>
        <p:txBody>
          <a:bodyPr wrap="square" rtlCol="0" anchor="ctr"/>
          <a:lstStyle/>
          <a:p>
            <a:pPr marL="0" indent="0">
              <a:buNone/>
            </a:pPr>
            <a:r>
              <a:rPr lang="en-US" sz="2800" b="1">
                <a:solidFill>
                  <a:srgbClr val="6D28D9"/>
                </a:solidFill>
                <a:latin typeface="Calibri" pitchFamily="34" charset="0"/>
                <a:ea typeface="Calibri" pitchFamily="34" charset="-122"/>
                <a:cs typeface="Calibri" pitchFamily="34" charset="-120"/>
              </a:rPr>
              <a:t>01</a:t>
            </a:r>
            <a:endParaRPr lang="en-US" sz="2800"/>
          </a:p>
        </p:txBody>
      </p:sp>
      <p:sp>
        <p:nvSpPr>
          <p:cNvPr id="9" name="Text 7"/>
          <p:cNvSpPr/>
          <p:nvPr/>
        </p:nvSpPr>
        <p:spPr>
          <a:xfrm>
            <a:off x="1170432" y="1024128"/>
            <a:ext cx="7498080" cy="804672"/>
          </a:xfrm>
          <a:prstGeom prst="rect">
            <a:avLst/>
          </a:prstGeom>
          <a:noFill/>
          <a:ln/>
        </p:spPr>
        <p:txBody>
          <a:bodyPr wrap="square" lIns="91440" tIns="45720" rIns="91440" bIns="45720" rtlCol="0" anchor="ctr"/>
          <a:lstStyle/>
          <a:p>
            <a:pPr marL="0" indent="0">
              <a:buNone/>
            </a:pPr>
            <a:r>
              <a:rPr lang="en-US" sz="1300">
                <a:solidFill>
                  <a:srgbClr val="374151"/>
                </a:solidFill>
                <a:latin typeface="Calibri"/>
                <a:ea typeface="Calibri"/>
                <a:cs typeface="Calibri"/>
              </a:rPr>
              <a:t>Prompt quality is everything. Describe what you want like you are briefing a junior developer — include the UI, the behavior, and the data.</a:t>
            </a:r>
            <a:endParaRPr lang="en-US" sz="1300">
              <a:latin typeface="Calibri"/>
              <a:ea typeface="Calibri"/>
              <a:cs typeface="Calibri"/>
            </a:endParaRPr>
          </a:p>
        </p:txBody>
      </p:sp>
      <p:sp>
        <p:nvSpPr>
          <p:cNvPr id="10" name="Shape 8"/>
          <p:cNvSpPr/>
          <p:nvPr/>
        </p:nvSpPr>
        <p:spPr>
          <a:xfrm>
            <a:off x="274320" y="2176272"/>
            <a:ext cx="8595360" cy="1207008"/>
          </a:xfrm>
          <a:prstGeom prst="rect">
            <a:avLst/>
          </a:prstGeom>
          <a:solidFill>
            <a:srgbClr val="F9FAFB"/>
          </a:solidFill>
          <a:ln w="6350">
            <a:solidFill>
              <a:srgbClr val="E5E7EB"/>
            </a:solidFill>
            <a:prstDash val="solid"/>
          </a:ln>
        </p:spPr>
        <p:txBody>
          <a:bodyPr/>
          <a:lstStyle/>
          <a:p>
            <a:endParaRPr lang="en-IN"/>
          </a:p>
        </p:txBody>
      </p:sp>
      <p:sp>
        <p:nvSpPr>
          <p:cNvPr id="11" name="Shape 9"/>
          <p:cNvSpPr/>
          <p:nvPr/>
        </p:nvSpPr>
        <p:spPr>
          <a:xfrm>
            <a:off x="274320" y="2176272"/>
            <a:ext cx="54864" cy="1207008"/>
          </a:xfrm>
          <a:prstGeom prst="rect">
            <a:avLst/>
          </a:prstGeom>
          <a:solidFill>
            <a:srgbClr val="0D9488"/>
          </a:solidFill>
          <a:ln w="12700">
            <a:solidFill>
              <a:srgbClr val="0D9488"/>
            </a:solidFill>
            <a:prstDash val="solid"/>
          </a:ln>
        </p:spPr>
        <p:txBody>
          <a:bodyPr/>
          <a:lstStyle/>
          <a:p>
            <a:endParaRPr lang="en-IN"/>
          </a:p>
        </p:txBody>
      </p:sp>
      <p:sp>
        <p:nvSpPr>
          <p:cNvPr id="12" name="Text 10"/>
          <p:cNvSpPr/>
          <p:nvPr/>
        </p:nvSpPr>
        <p:spPr>
          <a:xfrm>
            <a:off x="457200" y="2176272"/>
            <a:ext cx="640080" cy="1207008"/>
          </a:xfrm>
          <a:prstGeom prst="rect">
            <a:avLst/>
          </a:prstGeom>
          <a:noFill/>
          <a:ln/>
        </p:spPr>
        <p:txBody>
          <a:bodyPr wrap="square" rtlCol="0" anchor="ctr"/>
          <a:lstStyle/>
          <a:p>
            <a:pPr marL="0" indent="0">
              <a:buNone/>
            </a:pPr>
            <a:r>
              <a:rPr lang="en-US" sz="2800" b="1">
                <a:solidFill>
                  <a:srgbClr val="0D9488"/>
                </a:solidFill>
                <a:latin typeface="Calibri" pitchFamily="34" charset="0"/>
                <a:ea typeface="Calibri" pitchFamily="34" charset="-122"/>
                <a:cs typeface="Calibri" pitchFamily="34" charset="-120"/>
              </a:rPr>
              <a:t>02</a:t>
            </a:r>
            <a:endParaRPr lang="en-US" sz="2800"/>
          </a:p>
        </p:txBody>
      </p:sp>
      <p:sp>
        <p:nvSpPr>
          <p:cNvPr id="13" name="Text 11"/>
          <p:cNvSpPr/>
          <p:nvPr/>
        </p:nvSpPr>
        <p:spPr>
          <a:xfrm>
            <a:off x="1170432" y="2377440"/>
            <a:ext cx="7498080" cy="804672"/>
          </a:xfrm>
          <a:prstGeom prst="rect">
            <a:avLst/>
          </a:prstGeom>
          <a:noFill/>
          <a:ln/>
        </p:spPr>
        <p:txBody>
          <a:bodyPr wrap="square" rtlCol="0" anchor="ctr"/>
          <a:lstStyle/>
          <a:p>
            <a:pPr marL="0" indent="0">
              <a:buNone/>
            </a:pPr>
            <a:r>
              <a:rPr lang="en-US" sz="1300">
                <a:solidFill>
                  <a:srgbClr val="374151"/>
                </a:solidFill>
                <a:latin typeface="Calibri" pitchFamily="34" charset="0"/>
                <a:ea typeface="Calibri" pitchFamily="34" charset="-122"/>
                <a:cs typeface="Calibri" pitchFamily="34" charset="-120"/>
              </a:rPr>
              <a:t>Give AI full context. In Windsurf, always reference existing files before asking it to write new code. The more context, the better the output.</a:t>
            </a:r>
            <a:endParaRPr lang="en-US" sz="1300"/>
          </a:p>
        </p:txBody>
      </p:sp>
      <p:sp>
        <p:nvSpPr>
          <p:cNvPr id="14" name="Shape 12"/>
          <p:cNvSpPr/>
          <p:nvPr/>
        </p:nvSpPr>
        <p:spPr>
          <a:xfrm>
            <a:off x="274320" y="3529584"/>
            <a:ext cx="8595360" cy="1207008"/>
          </a:xfrm>
          <a:prstGeom prst="rect">
            <a:avLst/>
          </a:prstGeom>
          <a:solidFill>
            <a:srgbClr val="F9FAFB"/>
          </a:solidFill>
          <a:ln w="6350">
            <a:solidFill>
              <a:srgbClr val="E5E7EB"/>
            </a:solidFill>
            <a:prstDash val="solid"/>
          </a:ln>
        </p:spPr>
        <p:txBody>
          <a:bodyPr/>
          <a:lstStyle/>
          <a:p>
            <a:endParaRPr lang="en-IN"/>
          </a:p>
        </p:txBody>
      </p:sp>
      <p:sp>
        <p:nvSpPr>
          <p:cNvPr id="15" name="Shape 13"/>
          <p:cNvSpPr/>
          <p:nvPr/>
        </p:nvSpPr>
        <p:spPr>
          <a:xfrm>
            <a:off x="274320" y="3529584"/>
            <a:ext cx="54864" cy="1207008"/>
          </a:xfrm>
          <a:prstGeom prst="rect">
            <a:avLst/>
          </a:prstGeom>
          <a:solidFill>
            <a:srgbClr val="B45309"/>
          </a:solidFill>
          <a:ln w="12700">
            <a:solidFill>
              <a:srgbClr val="B45309"/>
            </a:solidFill>
            <a:prstDash val="solid"/>
          </a:ln>
        </p:spPr>
        <p:txBody>
          <a:bodyPr/>
          <a:lstStyle/>
          <a:p>
            <a:endParaRPr lang="en-IN"/>
          </a:p>
        </p:txBody>
      </p:sp>
      <p:sp>
        <p:nvSpPr>
          <p:cNvPr id="16" name="Text 14"/>
          <p:cNvSpPr/>
          <p:nvPr/>
        </p:nvSpPr>
        <p:spPr>
          <a:xfrm>
            <a:off x="457200" y="3529584"/>
            <a:ext cx="640080" cy="1207008"/>
          </a:xfrm>
          <a:prstGeom prst="rect">
            <a:avLst/>
          </a:prstGeom>
          <a:noFill/>
          <a:ln/>
        </p:spPr>
        <p:txBody>
          <a:bodyPr wrap="square" rtlCol="0" anchor="ctr"/>
          <a:lstStyle/>
          <a:p>
            <a:pPr marL="0" indent="0">
              <a:buNone/>
            </a:pPr>
            <a:r>
              <a:rPr lang="en-US" sz="2800" b="1">
                <a:solidFill>
                  <a:srgbClr val="B45309"/>
                </a:solidFill>
                <a:latin typeface="Calibri" pitchFamily="34" charset="0"/>
                <a:ea typeface="Calibri" pitchFamily="34" charset="-122"/>
                <a:cs typeface="Calibri" pitchFamily="34" charset="-120"/>
              </a:rPr>
              <a:t>03</a:t>
            </a:r>
            <a:endParaRPr lang="en-US" sz="2800"/>
          </a:p>
        </p:txBody>
      </p:sp>
      <p:sp>
        <p:nvSpPr>
          <p:cNvPr id="17" name="Text 15"/>
          <p:cNvSpPr/>
          <p:nvPr/>
        </p:nvSpPr>
        <p:spPr>
          <a:xfrm>
            <a:off x="1170432" y="3730752"/>
            <a:ext cx="7498080" cy="804672"/>
          </a:xfrm>
          <a:prstGeom prst="rect">
            <a:avLst/>
          </a:prstGeom>
          <a:noFill/>
          <a:ln/>
        </p:spPr>
        <p:txBody>
          <a:bodyPr wrap="square" rtlCol="0" anchor="ctr"/>
          <a:lstStyle/>
          <a:p>
            <a:pPr marL="0" indent="0">
              <a:buNone/>
            </a:pPr>
            <a:r>
              <a:rPr lang="en-US" sz="1300">
                <a:solidFill>
                  <a:srgbClr val="374151"/>
                </a:solidFill>
                <a:latin typeface="Calibri" pitchFamily="34" charset="0"/>
                <a:ea typeface="Calibri" pitchFamily="34" charset="-122"/>
                <a:cs typeface="Calibri" pitchFamily="34" charset="-120"/>
              </a:rPr>
              <a:t>Supabase removes the biggest barrier. No server setup, no DevOps, no auth from scratch. Your entire backend is a dashboard.</a:t>
            </a:r>
            <a:endParaRPr lang="en-US" sz="1300"/>
          </a:p>
        </p:txBody>
      </p:sp>
      <p:sp>
        <p:nvSpPr>
          <p:cNvPr id="18" name="Shape 16"/>
          <p:cNvSpPr/>
          <p:nvPr/>
        </p:nvSpPr>
        <p:spPr>
          <a:xfrm>
            <a:off x="274320" y="4800600"/>
            <a:ext cx="8595360" cy="0"/>
          </a:xfrm>
          <a:prstGeom prst="line">
            <a:avLst/>
          </a:prstGeom>
          <a:noFill/>
          <a:ln w="6350">
            <a:solidFill>
              <a:srgbClr val="E5E7EB"/>
            </a:solidFill>
            <a:prstDash val="solid"/>
          </a:ln>
        </p:spPr>
        <p:txBody>
          <a:bodyPr/>
          <a:lstStyle/>
          <a:p>
            <a:endParaRPr lang="en-IN"/>
          </a:p>
        </p:txBody>
      </p:sp>
      <p:sp>
        <p:nvSpPr>
          <p:cNvPr id="19" name="Text 17"/>
          <p:cNvSpPr/>
          <p:nvPr/>
        </p:nvSpPr>
        <p:spPr>
          <a:xfrm>
            <a:off x="274320" y="4846320"/>
            <a:ext cx="8595360" cy="256032"/>
          </a:xfrm>
          <a:prstGeom prst="rect">
            <a:avLst/>
          </a:prstGeom>
          <a:noFill/>
          <a:ln/>
        </p:spPr>
        <p:txBody>
          <a:bodyPr wrap="square" rtlCol="0" anchor="ctr"/>
          <a:lstStyle/>
          <a:p>
            <a:pPr marL="0" indent="0" algn="ctr">
              <a:buNone/>
            </a:pPr>
            <a:r>
              <a:rPr lang="en-US" sz="1100">
                <a:solidFill>
                  <a:srgbClr val="6B7280"/>
                </a:solidFill>
                <a:latin typeface="Calibri" pitchFamily="34" charset="0"/>
                <a:ea typeface="Calibri" pitchFamily="34" charset="-122"/>
                <a:cs typeface="Calibri" pitchFamily="34" charset="-120"/>
              </a:rPr>
              <a:t>Bolt.new — quick prototypes     |     Windsurf — intelligent editing     |     Supabase — backend infrastructure</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11111"/>
          </a:solidFill>
          <a:ln w="12700">
            <a:solidFill>
              <a:srgbClr val="111111"/>
            </a:solidFill>
            <a:prstDash val="solid"/>
          </a:ln>
        </p:spPr>
        <p:txBody>
          <a:bodyPr/>
          <a:lstStyle/>
          <a:p>
            <a:endParaRPr lang="en-IN"/>
          </a:p>
        </p:txBody>
      </p:sp>
      <p:sp>
        <p:nvSpPr>
          <p:cNvPr id="3" name="Shape 1"/>
          <p:cNvSpPr/>
          <p:nvPr/>
        </p:nvSpPr>
        <p:spPr>
          <a:xfrm>
            <a:off x="0" y="4846320"/>
            <a:ext cx="9144000" cy="297180"/>
          </a:xfrm>
          <a:prstGeom prst="rect">
            <a:avLst/>
          </a:prstGeom>
          <a:solidFill>
            <a:srgbClr val="111111"/>
          </a:solidFill>
          <a:ln w="12700">
            <a:solidFill>
              <a:srgbClr val="111111"/>
            </a:solidFill>
            <a:prstDash val="solid"/>
          </a:ln>
        </p:spPr>
        <p:txBody>
          <a:bodyPr/>
          <a:lstStyle/>
          <a:p>
            <a:endParaRPr lang="en-IN"/>
          </a:p>
        </p:txBody>
      </p:sp>
      <p:sp>
        <p:nvSpPr>
          <p:cNvPr id="4" name="Text 2"/>
          <p:cNvSpPr/>
          <p:nvPr/>
        </p:nvSpPr>
        <p:spPr>
          <a:xfrm>
            <a:off x="457200" y="731520"/>
            <a:ext cx="8229600" cy="777240"/>
          </a:xfrm>
          <a:prstGeom prst="rect">
            <a:avLst/>
          </a:prstGeom>
          <a:noFill/>
          <a:ln/>
        </p:spPr>
        <p:txBody>
          <a:bodyPr wrap="square" rtlCol="0" anchor="ctr"/>
          <a:lstStyle/>
          <a:p>
            <a:pPr marL="0" indent="0" algn="ctr">
              <a:buNone/>
            </a:pPr>
            <a:r>
              <a:rPr lang="en-US" sz="4000" b="1">
                <a:solidFill>
                  <a:srgbClr val="111111"/>
                </a:solidFill>
                <a:latin typeface="Calibri" pitchFamily="34" charset="0"/>
                <a:ea typeface="Calibri" pitchFamily="34" charset="-122"/>
                <a:cs typeface="Calibri" pitchFamily="34" charset="-120"/>
              </a:rPr>
              <a:t>You built a full-stack app.</a:t>
            </a:r>
            <a:endParaRPr lang="en-US" sz="4000"/>
          </a:p>
        </p:txBody>
      </p:sp>
      <p:sp>
        <p:nvSpPr>
          <p:cNvPr id="5" name="Shape 3"/>
          <p:cNvSpPr/>
          <p:nvPr/>
        </p:nvSpPr>
        <p:spPr>
          <a:xfrm>
            <a:off x="2286000" y="1600200"/>
            <a:ext cx="4572000" cy="0"/>
          </a:xfrm>
          <a:prstGeom prst="line">
            <a:avLst/>
          </a:prstGeom>
          <a:noFill/>
          <a:ln w="6350">
            <a:solidFill>
              <a:srgbClr val="E5E7EB"/>
            </a:solidFill>
            <a:prstDash val="solid"/>
          </a:ln>
        </p:spPr>
        <p:txBody>
          <a:bodyPr/>
          <a:lstStyle/>
          <a:p>
            <a:endParaRPr lang="en-IN"/>
          </a:p>
        </p:txBody>
      </p:sp>
      <p:sp>
        <p:nvSpPr>
          <p:cNvPr id="6" name="Shape 4"/>
          <p:cNvSpPr/>
          <p:nvPr/>
        </p:nvSpPr>
        <p:spPr>
          <a:xfrm>
            <a:off x="548640" y="1828800"/>
            <a:ext cx="1463040" cy="457200"/>
          </a:xfrm>
          <a:prstGeom prst="rect">
            <a:avLst/>
          </a:prstGeom>
          <a:solidFill>
            <a:srgbClr val="F9FAFB"/>
          </a:solidFill>
          <a:ln w="6350">
            <a:solidFill>
              <a:srgbClr val="6D28D9"/>
            </a:solidFill>
            <a:prstDash val="solid"/>
          </a:ln>
        </p:spPr>
        <p:txBody>
          <a:bodyPr/>
          <a:lstStyle/>
          <a:p>
            <a:endParaRPr lang="en-IN"/>
          </a:p>
        </p:txBody>
      </p:sp>
      <p:sp>
        <p:nvSpPr>
          <p:cNvPr id="7" name="Shape 5"/>
          <p:cNvSpPr/>
          <p:nvPr/>
        </p:nvSpPr>
        <p:spPr>
          <a:xfrm>
            <a:off x="548640" y="1828800"/>
            <a:ext cx="45720" cy="457200"/>
          </a:xfrm>
          <a:prstGeom prst="rect">
            <a:avLst/>
          </a:prstGeom>
          <a:solidFill>
            <a:srgbClr val="6D28D9"/>
          </a:solidFill>
          <a:ln w="12700">
            <a:solidFill>
              <a:srgbClr val="6D28D9"/>
            </a:solidFill>
            <a:prstDash val="solid"/>
          </a:ln>
        </p:spPr>
        <p:txBody>
          <a:bodyPr/>
          <a:lstStyle/>
          <a:p>
            <a:endParaRPr lang="en-IN"/>
          </a:p>
        </p:txBody>
      </p:sp>
      <p:sp>
        <p:nvSpPr>
          <p:cNvPr id="8" name="Text 6"/>
          <p:cNvSpPr/>
          <p:nvPr/>
        </p:nvSpPr>
        <p:spPr>
          <a:xfrm>
            <a:off x="658368" y="1828800"/>
            <a:ext cx="1298448" cy="457200"/>
          </a:xfrm>
          <a:prstGeom prst="rect">
            <a:avLst/>
          </a:prstGeom>
          <a:noFill/>
          <a:ln/>
        </p:spPr>
        <p:txBody>
          <a:bodyPr wrap="square" rtlCol="0" anchor="ctr"/>
          <a:lstStyle/>
          <a:p>
            <a:pPr marL="0" indent="0">
              <a:buNone/>
            </a:pPr>
            <a:r>
              <a:rPr lang="en-US" sz="1100" b="1">
                <a:solidFill>
                  <a:srgbClr val="6D28D9"/>
                </a:solidFill>
                <a:latin typeface="Calibri" pitchFamily="34" charset="0"/>
                <a:ea typeface="Calibri" pitchFamily="34" charset="-122"/>
                <a:cs typeface="Calibri" pitchFamily="34" charset="-120"/>
              </a:rPr>
              <a:t>Bolt.new app</a:t>
            </a:r>
            <a:endParaRPr lang="en-US" sz="1100"/>
          </a:p>
        </p:txBody>
      </p:sp>
      <p:sp>
        <p:nvSpPr>
          <p:cNvPr id="9" name="Shape 7"/>
          <p:cNvSpPr/>
          <p:nvPr/>
        </p:nvSpPr>
        <p:spPr>
          <a:xfrm>
            <a:off x="2176272" y="1828800"/>
            <a:ext cx="1463040" cy="457200"/>
          </a:xfrm>
          <a:prstGeom prst="rect">
            <a:avLst/>
          </a:prstGeom>
          <a:solidFill>
            <a:srgbClr val="F9FAFB"/>
          </a:solidFill>
          <a:ln w="6350">
            <a:solidFill>
              <a:srgbClr val="0D9488"/>
            </a:solidFill>
            <a:prstDash val="solid"/>
          </a:ln>
        </p:spPr>
        <p:txBody>
          <a:bodyPr/>
          <a:lstStyle/>
          <a:p>
            <a:endParaRPr lang="en-IN"/>
          </a:p>
        </p:txBody>
      </p:sp>
      <p:sp>
        <p:nvSpPr>
          <p:cNvPr id="10" name="Shape 8"/>
          <p:cNvSpPr/>
          <p:nvPr/>
        </p:nvSpPr>
        <p:spPr>
          <a:xfrm>
            <a:off x="2176272" y="1828800"/>
            <a:ext cx="45720" cy="457200"/>
          </a:xfrm>
          <a:prstGeom prst="rect">
            <a:avLst/>
          </a:prstGeom>
          <a:solidFill>
            <a:srgbClr val="0D9488"/>
          </a:solidFill>
          <a:ln w="12700">
            <a:solidFill>
              <a:srgbClr val="0D9488"/>
            </a:solidFill>
            <a:prstDash val="solid"/>
          </a:ln>
        </p:spPr>
        <p:txBody>
          <a:bodyPr/>
          <a:lstStyle/>
          <a:p>
            <a:endParaRPr lang="en-IN"/>
          </a:p>
        </p:txBody>
      </p:sp>
      <p:sp>
        <p:nvSpPr>
          <p:cNvPr id="11" name="Text 9"/>
          <p:cNvSpPr/>
          <p:nvPr/>
        </p:nvSpPr>
        <p:spPr>
          <a:xfrm>
            <a:off x="2286000" y="1828800"/>
            <a:ext cx="1298448" cy="457200"/>
          </a:xfrm>
          <a:prstGeom prst="rect">
            <a:avLst/>
          </a:prstGeom>
          <a:noFill/>
          <a:ln/>
        </p:spPr>
        <p:txBody>
          <a:bodyPr wrap="square" rtlCol="0" anchor="ctr"/>
          <a:lstStyle/>
          <a:p>
            <a:pPr marL="0" indent="0">
              <a:buNone/>
            </a:pPr>
            <a:r>
              <a:rPr lang="en-US" sz="1100" b="1">
                <a:solidFill>
                  <a:srgbClr val="0D9488"/>
                </a:solidFill>
                <a:latin typeface="Calibri" pitchFamily="34" charset="0"/>
                <a:ea typeface="Calibri" pitchFamily="34" charset="-122"/>
                <a:cs typeface="Calibri" pitchFamily="34" charset="-120"/>
              </a:rPr>
              <a:t>REST API</a:t>
            </a:r>
            <a:endParaRPr lang="en-US" sz="1100"/>
          </a:p>
        </p:txBody>
      </p:sp>
      <p:sp>
        <p:nvSpPr>
          <p:cNvPr id="12" name="Shape 10"/>
          <p:cNvSpPr/>
          <p:nvPr/>
        </p:nvSpPr>
        <p:spPr>
          <a:xfrm>
            <a:off x="3803904" y="1828800"/>
            <a:ext cx="1463040" cy="457200"/>
          </a:xfrm>
          <a:prstGeom prst="rect">
            <a:avLst/>
          </a:prstGeom>
          <a:solidFill>
            <a:srgbClr val="F9FAFB"/>
          </a:solidFill>
          <a:ln w="6350">
            <a:solidFill>
              <a:srgbClr val="B45309"/>
            </a:solidFill>
            <a:prstDash val="solid"/>
          </a:ln>
        </p:spPr>
        <p:txBody>
          <a:bodyPr/>
          <a:lstStyle/>
          <a:p>
            <a:endParaRPr lang="en-IN"/>
          </a:p>
        </p:txBody>
      </p:sp>
      <p:sp>
        <p:nvSpPr>
          <p:cNvPr id="13" name="Shape 11"/>
          <p:cNvSpPr/>
          <p:nvPr/>
        </p:nvSpPr>
        <p:spPr>
          <a:xfrm>
            <a:off x="3803904" y="1828800"/>
            <a:ext cx="45720" cy="457200"/>
          </a:xfrm>
          <a:prstGeom prst="rect">
            <a:avLst/>
          </a:prstGeom>
          <a:solidFill>
            <a:srgbClr val="B45309"/>
          </a:solidFill>
          <a:ln w="12700">
            <a:solidFill>
              <a:srgbClr val="B45309"/>
            </a:solidFill>
            <a:prstDash val="solid"/>
          </a:ln>
        </p:spPr>
        <p:txBody>
          <a:bodyPr/>
          <a:lstStyle/>
          <a:p>
            <a:endParaRPr lang="en-IN"/>
          </a:p>
        </p:txBody>
      </p:sp>
      <p:sp>
        <p:nvSpPr>
          <p:cNvPr id="14" name="Text 12"/>
          <p:cNvSpPr/>
          <p:nvPr/>
        </p:nvSpPr>
        <p:spPr>
          <a:xfrm>
            <a:off x="3913632" y="1828800"/>
            <a:ext cx="1298448" cy="457200"/>
          </a:xfrm>
          <a:prstGeom prst="rect">
            <a:avLst/>
          </a:prstGeom>
          <a:noFill/>
          <a:ln/>
        </p:spPr>
        <p:txBody>
          <a:bodyPr wrap="square" rtlCol="0" anchor="ctr"/>
          <a:lstStyle/>
          <a:p>
            <a:pPr marL="0" indent="0">
              <a:buNone/>
            </a:pPr>
            <a:r>
              <a:rPr lang="en-US" sz="1100" b="1">
                <a:solidFill>
                  <a:srgbClr val="B45309"/>
                </a:solidFill>
                <a:latin typeface="Calibri" pitchFamily="34" charset="0"/>
                <a:ea typeface="Calibri" pitchFamily="34" charset="-122"/>
                <a:cs typeface="Calibri" pitchFamily="34" charset="-120"/>
              </a:rPr>
              <a:t>PostgreSQL DB</a:t>
            </a:r>
            <a:endParaRPr lang="en-US" sz="1100"/>
          </a:p>
        </p:txBody>
      </p:sp>
      <p:sp>
        <p:nvSpPr>
          <p:cNvPr id="15" name="Shape 13"/>
          <p:cNvSpPr/>
          <p:nvPr/>
        </p:nvSpPr>
        <p:spPr>
          <a:xfrm>
            <a:off x="5431536" y="1828800"/>
            <a:ext cx="1463040" cy="457200"/>
          </a:xfrm>
          <a:prstGeom prst="rect">
            <a:avLst/>
          </a:prstGeom>
          <a:solidFill>
            <a:srgbClr val="F9FAFB"/>
          </a:solidFill>
          <a:ln w="6350">
            <a:solidFill>
              <a:srgbClr val="991B1B"/>
            </a:solidFill>
            <a:prstDash val="solid"/>
          </a:ln>
        </p:spPr>
        <p:txBody>
          <a:bodyPr/>
          <a:lstStyle/>
          <a:p>
            <a:endParaRPr lang="en-IN"/>
          </a:p>
        </p:txBody>
      </p:sp>
      <p:sp>
        <p:nvSpPr>
          <p:cNvPr id="16" name="Shape 14"/>
          <p:cNvSpPr/>
          <p:nvPr/>
        </p:nvSpPr>
        <p:spPr>
          <a:xfrm>
            <a:off x="5431536" y="1828800"/>
            <a:ext cx="45720" cy="457200"/>
          </a:xfrm>
          <a:prstGeom prst="rect">
            <a:avLst/>
          </a:prstGeom>
          <a:solidFill>
            <a:srgbClr val="991B1B"/>
          </a:solidFill>
          <a:ln w="12700">
            <a:solidFill>
              <a:srgbClr val="991B1B"/>
            </a:solidFill>
            <a:prstDash val="solid"/>
          </a:ln>
        </p:spPr>
        <p:txBody>
          <a:bodyPr/>
          <a:lstStyle/>
          <a:p>
            <a:endParaRPr lang="en-IN"/>
          </a:p>
        </p:txBody>
      </p:sp>
      <p:sp>
        <p:nvSpPr>
          <p:cNvPr id="17" name="Text 15"/>
          <p:cNvSpPr/>
          <p:nvPr/>
        </p:nvSpPr>
        <p:spPr>
          <a:xfrm>
            <a:off x="5541264" y="1828800"/>
            <a:ext cx="1298448" cy="457200"/>
          </a:xfrm>
          <a:prstGeom prst="rect">
            <a:avLst/>
          </a:prstGeom>
          <a:noFill/>
          <a:ln/>
        </p:spPr>
        <p:txBody>
          <a:bodyPr wrap="square" rtlCol="0" anchor="ctr"/>
          <a:lstStyle/>
          <a:p>
            <a:pPr marL="0" indent="0">
              <a:buNone/>
            </a:pPr>
            <a:r>
              <a:rPr lang="en-US" sz="1100" b="1">
                <a:solidFill>
                  <a:srgbClr val="991B1B"/>
                </a:solidFill>
                <a:latin typeface="Calibri" pitchFamily="34" charset="0"/>
                <a:ea typeface="Calibri" pitchFamily="34" charset="-122"/>
                <a:cs typeface="Calibri" pitchFamily="34" charset="-120"/>
              </a:rPr>
              <a:t>Auth &amp; RLS</a:t>
            </a:r>
            <a:endParaRPr lang="en-US" sz="1100"/>
          </a:p>
        </p:txBody>
      </p:sp>
      <p:sp>
        <p:nvSpPr>
          <p:cNvPr id="18" name="Shape 16"/>
          <p:cNvSpPr/>
          <p:nvPr/>
        </p:nvSpPr>
        <p:spPr>
          <a:xfrm>
            <a:off x="7059168" y="1828800"/>
            <a:ext cx="1463040" cy="457200"/>
          </a:xfrm>
          <a:prstGeom prst="rect">
            <a:avLst/>
          </a:prstGeom>
          <a:solidFill>
            <a:srgbClr val="F9FAFB"/>
          </a:solidFill>
          <a:ln w="6350">
            <a:solidFill>
              <a:srgbClr val="065F46"/>
            </a:solidFill>
            <a:prstDash val="solid"/>
          </a:ln>
        </p:spPr>
        <p:txBody>
          <a:bodyPr/>
          <a:lstStyle/>
          <a:p>
            <a:endParaRPr lang="en-IN"/>
          </a:p>
        </p:txBody>
      </p:sp>
      <p:sp>
        <p:nvSpPr>
          <p:cNvPr id="19" name="Shape 17"/>
          <p:cNvSpPr/>
          <p:nvPr/>
        </p:nvSpPr>
        <p:spPr>
          <a:xfrm>
            <a:off x="7059168" y="1828800"/>
            <a:ext cx="45720" cy="457200"/>
          </a:xfrm>
          <a:prstGeom prst="rect">
            <a:avLst/>
          </a:prstGeom>
          <a:solidFill>
            <a:srgbClr val="065F46"/>
          </a:solidFill>
          <a:ln w="12700">
            <a:solidFill>
              <a:srgbClr val="065F46"/>
            </a:solidFill>
            <a:prstDash val="solid"/>
          </a:ln>
        </p:spPr>
        <p:txBody>
          <a:bodyPr/>
          <a:lstStyle/>
          <a:p>
            <a:endParaRPr lang="en-IN"/>
          </a:p>
        </p:txBody>
      </p:sp>
      <p:sp>
        <p:nvSpPr>
          <p:cNvPr id="20" name="Text 18"/>
          <p:cNvSpPr/>
          <p:nvPr/>
        </p:nvSpPr>
        <p:spPr>
          <a:xfrm>
            <a:off x="7168896" y="1828800"/>
            <a:ext cx="1298448" cy="457200"/>
          </a:xfrm>
          <a:prstGeom prst="rect">
            <a:avLst/>
          </a:prstGeom>
          <a:noFill/>
          <a:ln/>
        </p:spPr>
        <p:txBody>
          <a:bodyPr wrap="square" rtlCol="0" anchor="ctr"/>
          <a:lstStyle/>
          <a:p>
            <a:pPr marL="0" indent="0">
              <a:buNone/>
            </a:pPr>
            <a:r>
              <a:rPr lang="en-US" sz="1100" b="1">
                <a:solidFill>
                  <a:srgbClr val="065F46"/>
                </a:solidFill>
                <a:latin typeface="Calibri" pitchFamily="34" charset="0"/>
                <a:ea typeface="Calibri" pitchFamily="34" charset="-122"/>
                <a:cs typeface="Calibri" pitchFamily="34" charset="-120"/>
              </a:rPr>
              <a:t>Real-time</a:t>
            </a:r>
            <a:endParaRPr lang="en-US" sz="1100"/>
          </a:p>
        </p:txBody>
      </p:sp>
      <p:sp>
        <p:nvSpPr>
          <p:cNvPr id="21" name="Shape 19"/>
          <p:cNvSpPr/>
          <p:nvPr/>
        </p:nvSpPr>
        <p:spPr>
          <a:xfrm>
            <a:off x="2282444" y="2761488"/>
            <a:ext cx="4572000" cy="685800"/>
          </a:xfrm>
          <a:prstGeom prst="rect">
            <a:avLst/>
          </a:prstGeom>
          <a:solidFill>
            <a:srgbClr val="111111"/>
          </a:solidFill>
          <a:ln w="12700">
            <a:solidFill>
              <a:srgbClr val="111111"/>
            </a:solidFill>
            <a:prstDash val="solid"/>
          </a:ln>
        </p:spPr>
        <p:txBody>
          <a:bodyPr/>
          <a:lstStyle/>
          <a:p>
            <a:endParaRPr lang="en-IN"/>
          </a:p>
        </p:txBody>
      </p:sp>
      <p:sp>
        <p:nvSpPr>
          <p:cNvPr id="22" name="Text 20"/>
          <p:cNvSpPr/>
          <p:nvPr/>
        </p:nvSpPr>
        <p:spPr>
          <a:xfrm>
            <a:off x="2176272" y="2790190"/>
            <a:ext cx="4572000" cy="685800"/>
          </a:xfrm>
          <a:prstGeom prst="rect">
            <a:avLst/>
          </a:prstGeom>
          <a:noFill/>
          <a:ln/>
        </p:spPr>
        <p:txBody>
          <a:bodyPr wrap="square" rtlCol="0" anchor="ctr"/>
          <a:lstStyle/>
          <a:p>
            <a:pPr marL="0" indent="0" algn="ctr">
              <a:buNone/>
            </a:pPr>
            <a:r>
              <a:rPr lang="en-US" sz="2000" b="1">
                <a:solidFill>
                  <a:srgbClr val="FFFFFF"/>
                </a:solidFill>
                <a:latin typeface="Calibri" pitchFamily="34" charset="0"/>
                <a:ea typeface="Calibri" pitchFamily="34" charset="-122"/>
                <a:cs typeface="Calibri" pitchFamily="34" charset="-120"/>
              </a:rPr>
              <a:t>Q&amp;A — Ask anything</a:t>
            </a:r>
            <a:endParaRPr lang="en-US" sz="2000"/>
          </a:p>
        </p:txBody>
      </p:sp>
      <p:sp>
        <p:nvSpPr>
          <p:cNvPr id="23" name="Text 21"/>
          <p:cNvSpPr/>
          <p:nvPr/>
        </p:nvSpPr>
        <p:spPr>
          <a:xfrm>
            <a:off x="457200" y="3337560"/>
            <a:ext cx="8229600" cy="347472"/>
          </a:xfrm>
          <a:prstGeom prst="rect">
            <a:avLst/>
          </a:prstGeom>
          <a:noFill/>
          <a:ln/>
        </p:spPr>
        <p:txBody>
          <a:bodyPr wrap="square" rtlCol="0" anchor="ctr"/>
          <a:lstStyle/>
          <a:p>
            <a:pPr marL="0" indent="0" algn="ctr">
              <a:buNone/>
            </a:pPr>
            <a:endParaRPr lang="en-US" sz="1200"/>
          </a:p>
        </p:txBody>
      </p:sp>
      <p:sp>
        <p:nvSpPr>
          <p:cNvPr id="24" name="Shape 22"/>
          <p:cNvSpPr/>
          <p:nvPr/>
        </p:nvSpPr>
        <p:spPr>
          <a:xfrm>
            <a:off x="2286000" y="3822192"/>
            <a:ext cx="4572000" cy="0"/>
          </a:xfrm>
          <a:prstGeom prst="line">
            <a:avLst/>
          </a:prstGeom>
          <a:noFill/>
          <a:ln w="6350">
            <a:solidFill>
              <a:srgbClr val="E5E7EB"/>
            </a:solidFill>
            <a:prstDash val="solid"/>
          </a:ln>
        </p:spPr>
        <p:txBody>
          <a:bodyPr/>
          <a:lstStyle/>
          <a:p>
            <a:endParaRPr lang="en-IN"/>
          </a:p>
        </p:txBody>
      </p:sp>
      <p:sp>
        <p:nvSpPr>
          <p:cNvPr id="25" name="Text 23"/>
          <p:cNvSpPr/>
          <p:nvPr/>
        </p:nvSpPr>
        <p:spPr>
          <a:xfrm>
            <a:off x="448056" y="3840481"/>
            <a:ext cx="8229600" cy="457200"/>
          </a:xfrm>
          <a:prstGeom prst="rect">
            <a:avLst/>
          </a:prstGeom>
          <a:noFill/>
          <a:ln/>
        </p:spPr>
        <p:txBody>
          <a:bodyPr wrap="square" rtlCol="0" anchor="ctr"/>
          <a:lstStyle/>
          <a:p>
            <a:pPr marL="0" indent="0" algn="ctr">
              <a:buNone/>
            </a:pPr>
            <a:r>
              <a:rPr lang="en-US" sz="1400" i="1">
                <a:solidFill>
                  <a:srgbClr val="111111"/>
                </a:solidFill>
                <a:latin typeface="Calibri" pitchFamily="34" charset="0"/>
                <a:ea typeface="Calibri" pitchFamily="34" charset="-122"/>
                <a:cs typeface="Calibri" pitchFamily="34" charset="-120"/>
              </a:rPr>
              <a:t>Start building your ideas today. The barrier to entry has never been lower.</a:t>
            </a:r>
            <a:endParaRPr lang="en-US" sz="1400"/>
          </a:p>
        </p:txBody>
      </p:sp>
      <p:sp>
        <p:nvSpPr>
          <p:cNvPr id="26" name="Text 24"/>
          <p:cNvSpPr/>
          <p:nvPr/>
        </p:nvSpPr>
        <p:spPr>
          <a:xfrm>
            <a:off x="274320" y="4828032"/>
            <a:ext cx="8595360" cy="256032"/>
          </a:xfrm>
          <a:prstGeom prst="rect">
            <a:avLst/>
          </a:prstGeom>
          <a:noFill/>
          <a:ln/>
        </p:spPr>
        <p:txBody>
          <a:bodyPr wrap="square" rtlCol="0" anchor="ctr"/>
          <a:lstStyle/>
          <a:p>
            <a:pPr marL="0" indent="0" algn="ctr">
              <a:buNone/>
            </a:pPr>
            <a:r>
              <a:rPr lang="en-US" sz="1000">
                <a:solidFill>
                  <a:srgbClr val="FFFFFF"/>
                </a:solidFill>
                <a:latin typeface="Calibri" pitchFamily="34" charset="0"/>
                <a:ea typeface="Calibri" pitchFamily="34" charset="-122"/>
                <a:cs typeface="Calibri" pitchFamily="34" charset="-120"/>
              </a:rPr>
              <a:t>Genesis Workshop  |  Amrita School of Engineering, Bengaluru</a:t>
            </a:r>
            <a:endParaRPr lang="en-US" sz="1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20</Slides>
  <Notes>17</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Workshop</dc:title>
  <dc:subject>PptxGenJS Presentation</dc:subject>
  <dc:creator>PptxGenJS</dc:creator>
  <cp:revision>3</cp:revision>
  <dcterms:created xsi:type="dcterms:W3CDTF">2026-03-22T14:12:53Z</dcterms:created>
  <dcterms:modified xsi:type="dcterms:W3CDTF">2026-03-31T14:42:50Z</dcterms:modified>
</cp:coreProperties>
</file>